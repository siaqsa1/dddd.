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Play"/>
      <p:regular r:id="rId17"/>
      <p:bold r:id="rId18"/>
    </p:embeddedFont>
    <p:embeddedFont>
      <p:font typeface="Tajawal"/>
      <p:regular r:id="rId19"/>
      <p:bold r:id="rId20"/>
    </p:embeddedFont>
    <p:embeddedFont>
      <p:font typeface="Readex Pro SemiBo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Tj4eWGFoC1tv1uefOXlVoQ1ri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98DA62-9057-4D8C-BA5C-EEBBFE029288}">
  <a:tblStyle styleId="{E498DA62-9057-4D8C-BA5C-EEBBFE02928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Tajawal-bold.fntdata"/><Relationship Id="rId11" Type="http://schemas.openxmlformats.org/officeDocument/2006/relationships/slide" Target="slides/slide5.xml"/><Relationship Id="rId22" Type="http://schemas.openxmlformats.org/officeDocument/2006/relationships/font" Target="fonts/ReadexProSemiBold-bold.fntdata"/><Relationship Id="rId10" Type="http://schemas.openxmlformats.org/officeDocument/2006/relationships/slide" Target="slides/slide4.xml"/><Relationship Id="rId21" Type="http://schemas.openxmlformats.org/officeDocument/2006/relationships/font" Target="fonts/ReadexProSemiBold-regular.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Tajawal-regular.fntdata"/><Relationship Id="rId6" Type="http://schemas.openxmlformats.org/officeDocument/2006/relationships/notesMaster" Target="notesMasters/notesMaster1.xml"/><Relationship Id="rId18" Type="http://schemas.openxmlformats.org/officeDocument/2006/relationships/font" Target="fonts/Pl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8788"/>
          </a:xfrm>
          <a:prstGeom prst="rect">
            <a:avLst/>
          </a:prstGeom>
          <a:noFill/>
          <a:ln>
            <a:noFill/>
          </a:ln>
        </p:spPr>
        <p:txBody>
          <a:bodyPr anchorCtr="0" anchor="t" bIns="45700" lIns="91425" spcFirstLastPara="1" rIns="91425" wrap="square" tIns="45700">
            <a:noAutofit/>
          </a:bodyPr>
          <a:lstStyle>
            <a:lvl1pPr lvl="0" marR="0" rtl="1"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1588" y="0"/>
            <a:ext cx="2971800" cy="458788"/>
          </a:xfrm>
          <a:prstGeom prst="rect">
            <a:avLst/>
          </a:prstGeom>
          <a:noFill/>
          <a:ln>
            <a:noFill/>
          </a:ln>
        </p:spPr>
        <p:txBody>
          <a:bodyPr anchorCtr="0" anchor="t" bIns="45700" lIns="91425" spcFirstLastPara="1" rIns="91425" wrap="square" tIns="45700">
            <a:noAutofit/>
          </a:bodyPr>
          <a:lstStyle>
            <a:lvl1pPr lvl="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886200" y="8685213"/>
            <a:ext cx="2971800" cy="458787"/>
          </a:xfrm>
          <a:prstGeom prst="rect">
            <a:avLst/>
          </a:prstGeom>
          <a:noFill/>
          <a:ln>
            <a:noFill/>
          </a:ln>
        </p:spPr>
        <p:txBody>
          <a:bodyPr anchorCtr="0" anchor="b" bIns="45700" lIns="91425" spcFirstLastPara="1" rIns="91425" wrap="square" tIns="45700">
            <a:noAutofit/>
          </a:bodyPr>
          <a:lstStyle>
            <a:lvl1pPr lvl="0" marR="0" rtl="1"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1" algn="r">
              <a:spcBef>
                <a:spcPts val="0"/>
              </a:spcBef>
              <a:spcAft>
                <a:spcPts val="0"/>
              </a:spcAft>
              <a:buNone/>
            </a:pPr>
            <a:fld id="{00000000-1234-1234-1234-123412341234}" type="slidenum">
              <a:rPr b="0" i="0" lang="ar-S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156" name="Google Shape;156;p6: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r">
              <a:spcBef>
                <a:spcPts val="0"/>
              </a:spcBef>
              <a:spcAft>
                <a:spcPts val="0"/>
              </a:spcAft>
              <a:buNone/>
            </a:pPr>
            <a:fld id="{00000000-1234-1234-1234-123412341234}" type="slidenum">
              <a:rPr lang="ar-S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163" name="Google Shape;163;p7: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r">
              <a:spcBef>
                <a:spcPts val="0"/>
              </a:spcBef>
              <a:spcAft>
                <a:spcPts val="0"/>
              </a:spcAft>
              <a:buNone/>
            </a:pPr>
            <a:fld id="{00000000-1234-1234-1234-123412341234}" type="slidenum">
              <a:rPr lang="ar-S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177" name="Google Shape;177;p10: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1" algn="l">
              <a:lnSpc>
                <a:spcPct val="100000"/>
              </a:lnSpc>
              <a:spcBef>
                <a:spcPts val="0"/>
              </a:spcBef>
              <a:spcAft>
                <a:spcPts val="0"/>
              </a:spcAft>
              <a:buClr>
                <a:srgbClr val="000000"/>
              </a:buClr>
              <a:buSzPts val="1200"/>
              <a:buFont typeface="Calibri"/>
              <a:buNone/>
            </a:pPr>
            <a:fld id="{00000000-1234-1234-1234-123412341234}" type="slidenum">
              <a:rPr b="0" i="0" lang="ar-S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187" name="Google Shape;187;p11: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1" algn="l">
              <a:lnSpc>
                <a:spcPct val="100000"/>
              </a:lnSpc>
              <a:spcBef>
                <a:spcPts val="0"/>
              </a:spcBef>
              <a:spcAft>
                <a:spcPts val="0"/>
              </a:spcAft>
              <a:buClr>
                <a:srgbClr val="000000"/>
              </a:buClr>
              <a:buSzPts val="1200"/>
              <a:buFont typeface="Calibri"/>
              <a:buNone/>
            </a:pPr>
            <a:fld id="{00000000-1234-1234-1234-123412341234}" type="slidenum">
              <a:rPr b="0" i="0" lang="ar-SA"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عنوان ومحتوى"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8" name="Google Shape;18;p1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 name="Google Shape;20;p13"/>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شريحة عنوان" type="title">
  <p:cSld name="TITLE">
    <p:spTree>
      <p:nvGrpSpPr>
        <p:cNvPr id="21" name="Shape 21"/>
        <p:cNvGrpSpPr/>
        <p:nvPr/>
      </p:nvGrpSpPr>
      <p:grpSpPr>
        <a:xfrm>
          <a:off x="0" y="0"/>
          <a:ext cx="0" cy="0"/>
          <a:chOff x="0" y="0"/>
          <a:chExt cx="0" cy="0"/>
        </a:xfrm>
      </p:grpSpPr>
      <p:sp>
        <p:nvSpPr>
          <p:cNvPr id="22" name="Google Shape;2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1000"/>
              </a:spcBef>
              <a:spcAft>
                <a:spcPts val="0"/>
              </a:spcAft>
              <a:buClr>
                <a:schemeClr val="dk1"/>
              </a:buClr>
              <a:buSzPts val="2400"/>
              <a:buNone/>
              <a:defRPr sz="2400"/>
            </a:lvl1pPr>
            <a:lvl2pPr lvl="1" rtl="1" algn="ctr">
              <a:lnSpc>
                <a:spcPct val="90000"/>
              </a:lnSpc>
              <a:spcBef>
                <a:spcPts val="500"/>
              </a:spcBef>
              <a:spcAft>
                <a:spcPts val="0"/>
              </a:spcAft>
              <a:buClr>
                <a:schemeClr val="dk1"/>
              </a:buClr>
              <a:buSzPts val="2000"/>
              <a:buNone/>
              <a:defRPr sz="2000"/>
            </a:lvl2pPr>
            <a:lvl3pPr lvl="2" rtl="1" algn="ctr">
              <a:lnSpc>
                <a:spcPct val="90000"/>
              </a:lnSpc>
              <a:spcBef>
                <a:spcPts val="500"/>
              </a:spcBef>
              <a:spcAft>
                <a:spcPts val="0"/>
              </a:spcAft>
              <a:buClr>
                <a:schemeClr val="dk1"/>
              </a:buClr>
              <a:buSzPts val="1800"/>
              <a:buNone/>
              <a:defRPr sz="1800"/>
            </a:lvl3pPr>
            <a:lvl4pPr lvl="3" rtl="1" algn="ctr">
              <a:lnSpc>
                <a:spcPct val="90000"/>
              </a:lnSpc>
              <a:spcBef>
                <a:spcPts val="500"/>
              </a:spcBef>
              <a:spcAft>
                <a:spcPts val="0"/>
              </a:spcAft>
              <a:buClr>
                <a:schemeClr val="dk1"/>
              </a:buClr>
              <a:buSzPts val="1600"/>
              <a:buNone/>
              <a:defRPr sz="1600"/>
            </a:lvl4pPr>
            <a:lvl5pPr lvl="4" rtl="1"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
        <p:nvSpPr>
          <p:cNvPr id="24" name="Google Shape;24;p1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6" name="Google Shape;26;p16"/>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عنوان المقطع"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757575"/>
              </a:buClr>
              <a:buSzPts val="2400"/>
              <a:buNone/>
              <a:defRPr sz="2400">
                <a:solidFill>
                  <a:srgbClr val="757575"/>
                </a:solidFill>
              </a:defRPr>
            </a:lvl1pPr>
            <a:lvl2pPr indent="-228600" lvl="1" marL="914400" rtl="1" algn="r">
              <a:lnSpc>
                <a:spcPct val="90000"/>
              </a:lnSpc>
              <a:spcBef>
                <a:spcPts val="500"/>
              </a:spcBef>
              <a:spcAft>
                <a:spcPts val="0"/>
              </a:spcAft>
              <a:buClr>
                <a:srgbClr val="757575"/>
              </a:buClr>
              <a:buSzPts val="2000"/>
              <a:buNone/>
              <a:defRPr sz="2000">
                <a:solidFill>
                  <a:srgbClr val="757575"/>
                </a:solidFill>
              </a:defRPr>
            </a:lvl2pPr>
            <a:lvl3pPr indent="-228600" lvl="2" marL="1371600" rtl="1" algn="r">
              <a:lnSpc>
                <a:spcPct val="90000"/>
              </a:lnSpc>
              <a:spcBef>
                <a:spcPts val="500"/>
              </a:spcBef>
              <a:spcAft>
                <a:spcPts val="0"/>
              </a:spcAft>
              <a:buClr>
                <a:srgbClr val="757575"/>
              </a:buClr>
              <a:buSzPts val="1800"/>
              <a:buNone/>
              <a:defRPr sz="1800">
                <a:solidFill>
                  <a:srgbClr val="757575"/>
                </a:solidFill>
              </a:defRPr>
            </a:lvl3pPr>
            <a:lvl4pPr indent="-228600" lvl="3" marL="1828800" rtl="1" algn="r">
              <a:lnSpc>
                <a:spcPct val="90000"/>
              </a:lnSpc>
              <a:spcBef>
                <a:spcPts val="500"/>
              </a:spcBef>
              <a:spcAft>
                <a:spcPts val="0"/>
              </a:spcAft>
              <a:buClr>
                <a:srgbClr val="757575"/>
              </a:buClr>
              <a:buSzPts val="1600"/>
              <a:buNone/>
              <a:defRPr sz="1600">
                <a:solidFill>
                  <a:srgbClr val="757575"/>
                </a:solidFill>
              </a:defRPr>
            </a:lvl4pPr>
            <a:lvl5pPr indent="-228600" lvl="4" marL="2286000" rtl="1" algn="r">
              <a:lnSpc>
                <a:spcPct val="90000"/>
              </a:lnSpc>
              <a:spcBef>
                <a:spcPts val="500"/>
              </a:spcBef>
              <a:spcAft>
                <a:spcPts val="0"/>
              </a:spcAft>
              <a:buClr>
                <a:srgbClr val="757575"/>
              </a:buClr>
              <a:buSzPts val="1600"/>
              <a:buNone/>
              <a:defRPr sz="1600">
                <a:solidFill>
                  <a:srgbClr val="757575"/>
                </a:solidFill>
              </a:defRPr>
            </a:lvl5pPr>
            <a:lvl6pPr indent="-228600" lvl="5" marL="2743200" rtl="1" algn="r">
              <a:lnSpc>
                <a:spcPct val="90000"/>
              </a:lnSpc>
              <a:spcBef>
                <a:spcPts val="500"/>
              </a:spcBef>
              <a:spcAft>
                <a:spcPts val="0"/>
              </a:spcAft>
              <a:buClr>
                <a:srgbClr val="757575"/>
              </a:buClr>
              <a:buSzPts val="1600"/>
              <a:buNone/>
              <a:defRPr sz="1600">
                <a:solidFill>
                  <a:srgbClr val="757575"/>
                </a:solidFill>
              </a:defRPr>
            </a:lvl6pPr>
            <a:lvl7pPr indent="-228600" lvl="6" marL="3200400" rtl="1" algn="r">
              <a:lnSpc>
                <a:spcPct val="90000"/>
              </a:lnSpc>
              <a:spcBef>
                <a:spcPts val="500"/>
              </a:spcBef>
              <a:spcAft>
                <a:spcPts val="0"/>
              </a:spcAft>
              <a:buClr>
                <a:srgbClr val="757575"/>
              </a:buClr>
              <a:buSzPts val="1600"/>
              <a:buNone/>
              <a:defRPr sz="1600">
                <a:solidFill>
                  <a:srgbClr val="757575"/>
                </a:solidFill>
              </a:defRPr>
            </a:lvl7pPr>
            <a:lvl8pPr indent="-228600" lvl="7" marL="3657600" rtl="1" algn="r">
              <a:lnSpc>
                <a:spcPct val="90000"/>
              </a:lnSpc>
              <a:spcBef>
                <a:spcPts val="500"/>
              </a:spcBef>
              <a:spcAft>
                <a:spcPts val="0"/>
              </a:spcAft>
              <a:buClr>
                <a:srgbClr val="757575"/>
              </a:buClr>
              <a:buSzPts val="1600"/>
              <a:buNone/>
              <a:defRPr sz="1600">
                <a:solidFill>
                  <a:srgbClr val="757575"/>
                </a:solidFill>
              </a:defRPr>
            </a:lvl8pPr>
            <a:lvl9pPr indent="-228600" lvl="8" marL="4114800" rtl="1" algn="r">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7"/>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1" name="Google Shape;3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2" name="Google Shape;32;p17"/>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ن"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6" name="Google Shape;36;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7" name="Google Shape;37;p18"/>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8" name="Google Shape;3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9" name="Google Shape;39;p18"/>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3" name="Google Shape;43;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4" name="Google Shape;44;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5" name="Google Shape;45;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6" name="Google Shape;46;p19"/>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7" name="Google Shape;4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8" name="Google Shape;48;p19"/>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عنوان فقط"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3" name="Google Shape;53;p20"/>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 type="blank">
  <p:cSld name="BLANK">
    <p:spTree>
      <p:nvGrpSpPr>
        <p:cNvPr id="54" name="Shape 54"/>
        <p:cNvGrpSpPr/>
        <p:nvPr/>
      </p:nvGrpSpPr>
      <p:grpSpPr>
        <a:xfrm>
          <a:off x="0" y="0"/>
          <a:ext cx="0" cy="0"/>
          <a:chOff x="0" y="0"/>
          <a:chExt cx="0" cy="0"/>
        </a:xfrm>
      </p:grpSpPr>
      <p:sp>
        <p:nvSpPr>
          <p:cNvPr id="55" name="Google Shape;55;p2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7" name="Google Shape;57;p2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ى مع تسمية توضيحية"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rtl="1" algn="r">
              <a:lnSpc>
                <a:spcPct val="90000"/>
              </a:lnSpc>
              <a:spcBef>
                <a:spcPts val="1000"/>
              </a:spcBef>
              <a:spcAft>
                <a:spcPts val="0"/>
              </a:spcAft>
              <a:buClr>
                <a:schemeClr val="dk1"/>
              </a:buClr>
              <a:buSzPts val="3200"/>
              <a:buChar char="•"/>
              <a:defRPr sz="3200"/>
            </a:lvl1pPr>
            <a:lvl2pPr indent="-406400" lvl="1" marL="914400" rtl="1" algn="r">
              <a:lnSpc>
                <a:spcPct val="90000"/>
              </a:lnSpc>
              <a:spcBef>
                <a:spcPts val="500"/>
              </a:spcBef>
              <a:spcAft>
                <a:spcPts val="0"/>
              </a:spcAft>
              <a:buClr>
                <a:schemeClr val="dk1"/>
              </a:buClr>
              <a:buSzPts val="2800"/>
              <a:buChar char="•"/>
              <a:defRPr sz="2800"/>
            </a:lvl2pPr>
            <a:lvl3pPr indent="-381000" lvl="2" marL="1371600" rtl="1" algn="r">
              <a:lnSpc>
                <a:spcPct val="90000"/>
              </a:lnSpc>
              <a:spcBef>
                <a:spcPts val="500"/>
              </a:spcBef>
              <a:spcAft>
                <a:spcPts val="0"/>
              </a:spcAft>
              <a:buClr>
                <a:schemeClr val="dk1"/>
              </a:buClr>
              <a:buSzPts val="2400"/>
              <a:buChar char="•"/>
              <a:defRPr sz="2400"/>
            </a:lvl3pPr>
            <a:lvl4pPr indent="-355600" lvl="3" marL="1828800" rtl="1" algn="r">
              <a:lnSpc>
                <a:spcPct val="90000"/>
              </a:lnSpc>
              <a:spcBef>
                <a:spcPts val="500"/>
              </a:spcBef>
              <a:spcAft>
                <a:spcPts val="0"/>
              </a:spcAft>
              <a:buClr>
                <a:schemeClr val="dk1"/>
              </a:buClr>
              <a:buSzPts val="2000"/>
              <a:buChar char="•"/>
              <a:defRPr sz="2000"/>
            </a:lvl4pPr>
            <a:lvl5pPr indent="-355600" lvl="4" marL="2286000" rtl="1" algn="r">
              <a:lnSpc>
                <a:spcPct val="90000"/>
              </a:lnSpc>
              <a:spcBef>
                <a:spcPts val="500"/>
              </a:spcBef>
              <a:spcAft>
                <a:spcPts val="0"/>
              </a:spcAft>
              <a:buClr>
                <a:schemeClr val="dk1"/>
              </a:buClr>
              <a:buSzPts val="2000"/>
              <a:buChar char="•"/>
              <a:defRPr sz="2000"/>
            </a:lvl5pPr>
            <a:lvl6pPr indent="-355600" lvl="5" marL="2743200" rtl="1" algn="r">
              <a:lnSpc>
                <a:spcPct val="90000"/>
              </a:lnSpc>
              <a:spcBef>
                <a:spcPts val="500"/>
              </a:spcBef>
              <a:spcAft>
                <a:spcPts val="0"/>
              </a:spcAft>
              <a:buClr>
                <a:schemeClr val="dk1"/>
              </a:buClr>
              <a:buSzPts val="2000"/>
              <a:buChar char="•"/>
              <a:defRPr sz="2000"/>
            </a:lvl6pPr>
            <a:lvl7pPr indent="-355600" lvl="6" marL="3200400" rtl="1" algn="r">
              <a:lnSpc>
                <a:spcPct val="90000"/>
              </a:lnSpc>
              <a:spcBef>
                <a:spcPts val="500"/>
              </a:spcBef>
              <a:spcAft>
                <a:spcPts val="0"/>
              </a:spcAft>
              <a:buClr>
                <a:schemeClr val="dk1"/>
              </a:buClr>
              <a:buSzPts val="2000"/>
              <a:buChar char="•"/>
              <a:defRPr sz="2000"/>
            </a:lvl7pPr>
            <a:lvl8pPr indent="-355600" lvl="7" marL="3657600" rtl="1" algn="r">
              <a:lnSpc>
                <a:spcPct val="90000"/>
              </a:lnSpc>
              <a:spcBef>
                <a:spcPts val="500"/>
              </a:spcBef>
              <a:spcAft>
                <a:spcPts val="0"/>
              </a:spcAft>
              <a:buClr>
                <a:schemeClr val="dk1"/>
              </a:buClr>
              <a:buSzPts val="2000"/>
              <a:buChar char="•"/>
              <a:defRPr sz="2000"/>
            </a:lvl8pPr>
            <a:lvl9pPr indent="-355600" lvl="8" marL="4114800" rtl="1" algn="r">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4" name="Google Shape;64;p2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مع تسمية توضيحية"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1" name="Google Shape;71;p23"/>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عنوان ونص عمودي"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7" name="Google Shape;77;p24"/>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عنوان ونص عموديان"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83" name="Google Shape;83;p2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ar-S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شريحة عنوان">
  <p:cSld name="3_شريحة عنوان">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15"/>
          <p:cNvSpPr txBox="1"/>
          <p:nvPr>
            <p:ph type="ctrTitle"/>
          </p:nvPr>
        </p:nvSpPr>
        <p:spPr>
          <a:xfrm>
            <a:off x="4251540" y="185418"/>
            <a:ext cx="7205133" cy="521230"/>
          </a:xfrm>
          <a:prstGeom prst="rect">
            <a:avLst/>
          </a:prstGeom>
          <a:noFill/>
          <a:ln>
            <a:noFill/>
          </a:ln>
        </p:spPr>
        <p:txBody>
          <a:bodyPr anchorCtr="0" anchor="ctr" bIns="45700" lIns="91425" spcFirstLastPara="1" rIns="91425" wrap="square" tIns="45700">
            <a:noAutofit/>
          </a:bodyPr>
          <a:lstStyle>
            <a:lvl1pPr lvl="0" marR="0" rtl="1" algn="r">
              <a:lnSpc>
                <a:spcPct val="90000"/>
              </a:lnSpc>
              <a:spcBef>
                <a:spcPts val="0"/>
              </a:spcBef>
              <a:spcAft>
                <a:spcPts val="0"/>
              </a:spcAft>
              <a:buClr>
                <a:srgbClr val="3A3838"/>
              </a:buClr>
              <a:buSzPts val="2000"/>
              <a:buFont typeface="Tajawal"/>
              <a:buNone/>
              <a:defRPr b="1" i="0" sz="2000" u="none" cap="none" strike="noStrike">
                <a:solidFill>
                  <a:srgbClr val="3A3838"/>
                </a:solidFill>
                <a:latin typeface="Tajawal"/>
                <a:ea typeface="Tajawal"/>
                <a:cs typeface="Tajawal"/>
                <a:sym typeface="Tajaw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 name="Google Shape;87;p15"/>
          <p:cNvSpPr txBox="1"/>
          <p:nvPr>
            <p:ph idx="12" type="sldNum"/>
          </p:nvPr>
        </p:nvSpPr>
        <p:spPr>
          <a:xfrm>
            <a:off x="746455" y="6385463"/>
            <a:ext cx="685799" cy="365125"/>
          </a:xfrm>
          <a:prstGeom prst="rect">
            <a:avLst/>
          </a:prstGeom>
          <a:noFill/>
          <a:ln>
            <a:noFill/>
          </a:ln>
        </p:spPr>
        <p:txBody>
          <a:bodyPr anchorCtr="0" anchor="t" bIns="45700" lIns="91425" spcFirstLastPara="1" rIns="91425" wrap="square" tIns="45700">
            <a:noAutofit/>
          </a:bodyPr>
          <a:lstStyle>
            <a:lvl1pPr indent="0" lvl="0" marL="0" marR="0" rtl="1" algn="ctr">
              <a:spcBef>
                <a:spcPts val="0"/>
              </a:spcBef>
              <a:buNone/>
              <a:defRPr b="0" i="0" sz="1800" u="none" cap="none" strike="noStrike">
                <a:solidFill>
                  <a:srgbClr val="A99F96"/>
                </a:solidFill>
                <a:latin typeface="Tajawal"/>
                <a:ea typeface="Tajawal"/>
                <a:cs typeface="Tajawal"/>
                <a:sym typeface="Tajawal"/>
              </a:defRPr>
            </a:lvl1pPr>
            <a:lvl2pPr indent="0" lvl="1" marL="0" marR="0" rtl="1" algn="ctr">
              <a:spcBef>
                <a:spcPts val="0"/>
              </a:spcBef>
              <a:buNone/>
              <a:defRPr b="0" i="0" sz="1800" u="none" cap="none" strike="noStrike">
                <a:solidFill>
                  <a:srgbClr val="A99F96"/>
                </a:solidFill>
                <a:latin typeface="Tajawal"/>
                <a:ea typeface="Tajawal"/>
                <a:cs typeface="Tajawal"/>
                <a:sym typeface="Tajawal"/>
              </a:defRPr>
            </a:lvl2pPr>
            <a:lvl3pPr indent="0" lvl="2" marL="0" marR="0" rtl="1" algn="ctr">
              <a:spcBef>
                <a:spcPts val="0"/>
              </a:spcBef>
              <a:buNone/>
              <a:defRPr b="0" i="0" sz="1800" u="none" cap="none" strike="noStrike">
                <a:solidFill>
                  <a:srgbClr val="A99F96"/>
                </a:solidFill>
                <a:latin typeface="Tajawal"/>
                <a:ea typeface="Tajawal"/>
                <a:cs typeface="Tajawal"/>
                <a:sym typeface="Tajawal"/>
              </a:defRPr>
            </a:lvl3pPr>
            <a:lvl4pPr indent="0" lvl="3" marL="0" marR="0" rtl="1" algn="ctr">
              <a:spcBef>
                <a:spcPts val="0"/>
              </a:spcBef>
              <a:buNone/>
              <a:defRPr b="0" i="0" sz="1800" u="none" cap="none" strike="noStrike">
                <a:solidFill>
                  <a:srgbClr val="A99F96"/>
                </a:solidFill>
                <a:latin typeface="Tajawal"/>
                <a:ea typeface="Tajawal"/>
                <a:cs typeface="Tajawal"/>
                <a:sym typeface="Tajawal"/>
              </a:defRPr>
            </a:lvl4pPr>
            <a:lvl5pPr indent="0" lvl="4" marL="0" marR="0" rtl="1" algn="ctr">
              <a:spcBef>
                <a:spcPts val="0"/>
              </a:spcBef>
              <a:buNone/>
              <a:defRPr b="0" i="0" sz="1800" u="none" cap="none" strike="noStrike">
                <a:solidFill>
                  <a:srgbClr val="A99F96"/>
                </a:solidFill>
                <a:latin typeface="Tajawal"/>
                <a:ea typeface="Tajawal"/>
                <a:cs typeface="Tajawal"/>
                <a:sym typeface="Tajawal"/>
              </a:defRPr>
            </a:lvl5pPr>
            <a:lvl6pPr indent="0" lvl="5" marL="0" marR="0" rtl="1" algn="ctr">
              <a:spcBef>
                <a:spcPts val="0"/>
              </a:spcBef>
              <a:buNone/>
              <a:defRPr b="0" i="0" sz="1800" u="none" cap="none" strike="noStrike">
                <a:solidFill>
                  <a:srgbClr val="A99F96"/>
                </a:solidFill>
                <a:latin typeface="Tajawal"/>
                <a:ea typeface="Tajawal"/>
                <a:cs typeface="Tajawal"/>
                <a:sym typeface="Tajawal"/>
              </a:defRPr>
            </a:lvl6pPr>
            <a:lvl7pPr indent="0" lvl="6" marL="0" marR="0" rtl="1" algn="ctr">
              <a:spcBef>
                <a:spcPts val="0"/>
              </a:spcBef>
              <a:buNone/>
              <a:defRPr b="0" i="0" sz="1800" u="none" cap="none" strike="noStrike">
                <a:solidFill>
                  <a:srgbClr val="A99F96"/>
                </a:solidFill>
                <a:latin typeface="Tajawal"/>
                <a:ea typeface="Tajawal"/>
                <a:cs typeface="Tajawal"/>
                <a:sym typeface="Tajawal"/>
              </a:defRPr>
            </a:lvl7pPr>
            <a:lvl8pPr indent="0" lvl="7" marL="0" marR="0" rtl="1" algn="ctr">
              <a:spcBef>
                <a:spcPts val="0"/>
              </a:spcBef>
              <a:buNone/>
              <a:defRPr b="0" i="0" sz="1800" u="none" cap="none" strike="noStrike">
                <a:solidFill>
                  <a:srgbClr val="A99F96"/>
                </a:solidFill>
                <a:latin typeface="Tajawal"/>
                <a:ea typeface="Tajawal"/>
                <a:cs typeface="Tajawal"/>
                <a:sym typeface="Tajawal"/>
              </a:defRPr>
            </a:lvl8pPr>
            <a:lvl9pPr indent="0" lvl="8" marL="0" marR="0" rtl="1" algn="ctr">
              <a:spcBef>
                <a:spcPts val="0"/>
              </a:spcBef>
              <a:buNone/>
              <a:defRPr b="0" i="0" sz="1800" u="none" cap="none" strike="noStrike">
                <a:solidFill>
                  <a:srgbClr val="A99F96"/>
                </a:solidFill>
                <a:latin typeface="Tajawal"/>
                <a:ea typeface="Tajawal"/>
                <a:cs typeface="Tajawal"/>
                <a:sym typeface="Tajawal"/>
              </a:defRPr>
            </a:lvl9pPr>
          </a:lstStyle>
          <a:p>
            <a:pPr indent="0" lvl="0" marL="0" rtl="1" algn="ctr">
              <a:spcBef>
                <a:spcPts val="0"/>
              </a:spcBef>
              <a:spcAft>
                <a:spcPts val="0"/>
              </a:spcAft>
              <a:buNone/>
            </a:pPr>
            <a:fld id="{00000000-1234-1234-1234-123412341234}" type="slidenum">
              <a:rPr lang="ar-SA"/>
              <a:t>‹#›</a:t>
            </a:fld>
            <a:endParaRPr/>
          </a:p>
        </p:txBody>
      </p:sp>
      <p:sp>
        <p:nvSpPr>
          <p:cNvPr id="88" name="Google Shape;88;p15"/>
          <p:cNvSpPr/>
          <p:nvPr/>
        </p:nvSpPr>
        <p:spPr>
          <a:xfrm>
            <a:off x="8690610" y="751473"/>
            <a:ext cx="2769873" cy="45719"/>
          </a:xfrm>
          <a:prstGeom prst="rect">
            <a:avLst/>
          </a:prstGeom>
          <a:solidFill>
            <a:srgbClr val="713C66"/>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b="0" i="0" sz="1800" u="none" cap="none" strike="noStrike">
              <a:solidFill>
                <a:schemeClr val="lt1"/>
              </a:solidFill>
              <a:latin typeface="Tajawal"/>
              <a:ea typeface="Tajawal"/>
              <a:cs typeface="Tajawal"/>
              <a:sym typeface="Tajawal"/>
            </a:endParaRPr>
          </a:p>
        </p:txBody>
      </p:sp>
      <p:grpSp>
        <p:nvGrpSpPr>
          <p:cNvPr id="89" name="Google Shape;89;p15"/>
          <p:cNvGrpSpPr/>
          <p:nvPr/>
        </p:nvGrpSpPr>
        <p:grpSpPr>
          <a:xfrm flipH="1" rot="10800000">
            <a:off x="8668056" y="772554"/>
            <a:ext cx="45720" cy="45720"/>
            <a:chOff x="774062" y="1131349"/>
            <a:chExt cx="484105" cy="487048"/>
          </a:xfrm>
        </p:grpSpPr>
        <p:sp>
          <p:nvSpPr>
            <p:cNvPr id="90" name="Google Shape;90;p15"/>
            <p:cNvSpPr/>
            <p:nvPr/>
          </p:nvSpPr>
          <p:spPr>
            <a:xfrm>
              <a:off x="774062" y="1131349"/>
              <a:ext cx="484105" cy="484105"/>
            </a:xfrm>
            <a:prstGeom prst="rect">
              <a:avLst/>
            </a:prstGeom>
            <a:solidFill>
              <a:srgbClr val="FF7200"/>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b="0" i="0" sz="1800" u="none" cap="none" strike="noStrike">
                <a:solidFill>
                  <a:schemeClr val="lt1"/>
                </a:solidFill>
                <a:latin typeface="Tajawal"/>
                <a:ea typeface="Tajawal"/>
                <a:cs typeface="Tajawal"/>
                <a:sym typeface="Tajawal"/>
              </a:endParaRPr>
            </a:p>
          </p:txBody>
        </p:sp>
        <p:sp>
          <p:nvSpPr>
            <p:cNvPr id="91" name="Google Shape;91;p15"/>
            <p:cNvSpPr/>
            <p:nvPr/>
          </p:nvSpPr>
          <p:spPr>
            <a:xfrm>
              <a:off x="1013171" y="1373401"/>
              <a:ext cx="244996" cy="244996"/>
            </a:xfrm>
            <a:prstGeom prst="rect">
              <a:avLst/>
            </a:prstGeom>
            <a:solidFill>
              <a:schemeClr val="lt1"/>
            </a:solidFill>
            <a:ln>
              <a:noFill/>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b="0" i="0" sz="1800" u="none" cap="none" strike="noStrike">
                <a:solidFill>
                  <a:schemeClr val="lt1"/>
                </a:solidFill>
                <a:latin typeface="Tajawal"/>
                <a:ea typeface="Tajawal"/>
                <a:cs typeface="Tajawal"/>
                <a:sym typeface="Tajawal"/>
              </a:endParaRPr>
            </a:p>
          </p:txBody>
        </p: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1" algn="r">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1" algn="r">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1" algn="r">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1" algn="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marR="0" rtl="1" algn="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1"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1" algn="l">
              <a:spcBef>
                <a:spcPts val="0"/>
              </a:spcBef>
              <a:buNone/>
              <a:defRPr b="0" i="0" sz="1200" u="none" cap="none" strike="noStrike">
                <a:solidFill>
                  <a:srgbClr val="757575"/>
                </a:solidFill>
                <a:latin typeface="Arial"/>
                <a:ea typeface="Arial"/>
                <a:cs typeface="Arial"/>
                <a:sym typeface="Arial"/>
              </a:defRPr>
            </a:lvl1pPr>
            <a:lvl2pPr indent="0" lvl="1" marL="0" marR="0" rtl="1" algn="l">
              <a:spcBef>
                <a:spcPts val="0"/>
              </a:spcBef>
              <a:buNone/>
              <a:defRPr b="0" i="0" sz="1200" u="none" cap="none" strike="noStrike">
                <a:solidFill>
                  <a:srgbClr val="757575"/>
                </a:solidFill>
                <a:latin typeface="Arial"/>
                <a:ea typeface="Arial"/>
                <a:cs typeface="Arial"/>
                <a:sym typeface="Arial"/>
              </a:defRPr>
            </a:lvl2pPr>
            <a:lvl3pPr indent="0" lvl="2" marL="0" marR="0" rtl="1" algn="l">
              <a:spcBef>
                <a:spcPts val="0"/>
              </a:spcBef>
              <a:buNone/>
              <a:defRPr b="0" i="0" sz="1200" u="none" cap="none" strike="noStrike">
                <a:solidFill>
                  <a:srgbClr val="757575"/>
                </a:solidFill>
                <a:latin typeface="Arial"/>
                <a:ea typeface="Arial"/>
                <a:cs typeface="Arial"/>
                <a:sym typeface="Arial"/>
              </a:defRPr>
            </a:lvl3pPr>
            <a:lvl4pPr indent="0" lvl="3" marL="0" marR="0" rtl="1" algn="l">
              <a:spcBef>
                <a:spcPts val="0"/>
              </a:spcBef>
              <a:buNone/>
              <a:defRPr b="0" i="0" sz="1200" u="none" cap="none" strike="noStrike">
                <a:solidFill>
                  <a:srgbClr val="757575"/>
                </a:solidFill>
                <a:latin typeface="Arial"/>
                <a:ea typeface="Arial"/>
                <a:cs typeface="Arial"/>
                <a:sym typeface="Arial"/>
              </a:defRPr>
            </a:lvl4pPr>
            <a:lvl5pPr indent="0" lvl="4" marL="0" marR="0" rtl="1" algn="l">
              <a:spcBef>
                <a:spcPts val="0"/>
              </a:spcBef>
              <a:buNone/>
              <a:defRPr b="0" i="0" sz="1200" u="none" cap="none" strike="noStrike">
                <a:solidFill>
                  <a:srgbClr val="757575"/>
                </a:solidFill>
                <a:latin typeface="Arial"/>
                <a:ea typeface="Arial"/>
                <a:cs typeface="Arial"/>
                <a:sym typeface="Arial"/>
              </a:defRPr>
            </a:lvl5pPr>
            <a:lvl6pPr indent="0" lvl="5" marL="0" marR="0" rtl="1" algn="l">
              <a:spcBef>
                <a:spcPts val="0"/>
              </a:spcBef>
              <a:buNone/>
              <a:defRPr b="0" i="0" sz="1200" u="none" cap="none" strike="noStrike">
                <a:solidFill>
                  <a:srgbClr val="757575"/>
                </a:solidFill>
                <a:latin typeface="Arial"/>
                <a:ea typeface="Arial"/>
                <a:cs typeface="Arial"/>
                <a:sym typeface="Arial"/>
              </a:defRPr>
            </a:lvl6pPr>
            <a:lvl7pPr indent="0" lvl="6" marL="0" marR="0" rtl="1" algn="l">
              <a:spcBef>
                <a:spcPts val="0"/>
              </a:spcBef>
              <a:buNone/>
              <a:defRPr b="0" i="0" sz="1200" u="none" cap="none" strike="noStrike">
                <a:solidFill>
                  <a:srgbClr val="757575"/>
                </a:solidFill>
                <a:latin typeface="Arial"/>
                <a:ea typeface="Arial"/>
                <a:cs typeface="Arial"/>
                <a:sym typeface="Arial"/>
              </a:defRPr>
            </a:lvl7pPr>
            <a:lvl8pPr indent="0" lvl="7" marL="0" marR="0" rtl="1" algn="l">
              <a:spcBef>
                <a:spcPts val="0"/>
              </a:spcBef>
              <a:buNone/>
              <a:defRPr b="0" i="0" sz="1200" u="none" cap="none" strike="noStrike">
                <a:solidFill>
                  <a:srgbClr val="757575"/>
                </a:solidFill>
                <a:latin typeface="Arial"/>
                <a:ea typeface="Arial"/>
                <a:cs typeface="Arial"/>
                <a:sym typeface="Arial"/>
              </a:defRPr>
            </a:lvl8pPr>
            <a:lvl9pPr indent="0" lvl="8" marL="0" marR="0" rtl="1" algn="l">
              <a:spcBef>
                <a:spcPts val="0"/>
              </a:spcBef>
              <a:buNone/>
              <a:defRPr b="0" i="0" sz="1200" u="none" cap="none" strike="noStrike">
                <a:solidFill>
                  <a:srgbClr val="757575"/>
                </a:solidFill>
                <a:latin typeface="Arial"/>
                <a:ea typeface="Arial"/>
                <a:cs typeface="Arial"/>
                <a:sym typeface="Arial"/>
              </a:defRPr>
            </a:lvl9pPr>
          </a:lstStyle>
          <a:p>
            <a:pPr indent="0" lvl="0" marL="0" rtl="1" algn="l">
              <a:spcBef>
                <a:spcPts val="0"/>
              </a:spcBef>
              <a:spcAft>
                <a:spcPts val="0"/>
              </a:spcAft>
              <a:buNone/>
            </a:pPr>
            <a:fld id="{00000000-1234-1234-1234-123412341234}" type="slidenum">
              <a:rPr lang="ar-S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4" name="Shape 8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
          <p:cNvSpPr txBox="1"/>
          <p:nvPr/>
        </p:nvSpPr>
        <p:spPr>
          <a:xfrm>
            <a:off x="4522343" y="390338"/>
            <a:ext cx="7180032" cy="73379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نموذج تصنيف أصحاب المصلحة </a:t>
            </a:r>
            <a:endParaRPr b="0" i="0" sz="3200" u="none" cap="none" strike="noStrike">
              <a:solidFill>
                <a:srgbClr val="FFFFFF"/>
              </a:solidFill>
              <a:latin typeface="Arial"/>
              <a:ea typeface="Arial"/>
              <a:cs typeface="Arial"/>
              <a:sym typeface="Arial"/>
            </a:endParaRPr>
          </a:p>
        </p:txBody>
      </p:sp>
      <p:grpSp>
        <p:nvGrpSpPr>
          <p:cNvPr id="97" name="Google Shape;97;p1"/>
          <p:cNvGrpSpPr/>
          <p:nvPr/>
        </p:nvGrpSpPr>
        <p:grpSpPr>
          <a:xfrm>
            <a:off x="1568256" y="1081993"/>
            <a:ext cx="9189050" cy="4365245"/>
            <a:chOff x="2012350" y="1371601"/>
            <a:chExt cx="9189050" cy="4365245"/>
          </a:xfrm>
        </p:grpSpPr>
        <p:grpSp>
          <p:nvGrpSpPr>
            <p:cNvPr id="98" name="Google Shape;98;p1"/>
            <p:cNvGrpSpPr/>
            <p:nvPr/>
          </p:nvGrpSpPr>
          <p:grpSpPr>
            <a:xfrm>
              <a:off x="2012350" y="1371601"/>
              <a:ext cx="9189050" cy="4365245"/>
              <a:chOff x="1545982" y="1628400"/>
              <a:chExt cx="4846672" cy="1786331"/>
            </a:xfrm>
          </p:grpSpPr>
          <p:sp>
            <p:nvSpPr>
              <p:cNvPr id="99" name="Google Shape;99;p1"/>
              <p:cNvSpPr/>
              <p:nvPr/>
            </p:nvSpPr>
            <p:spPr>
              <a:xfrm>
                <a:off x="4050882" y="1871255"/>
                <a:ext cx="1998130" cy="592738"/>
              </a:xfrm>
              <a:prstGeom prst="rect">
                <a:avLst/>
              </a:prstGeom>
              <a:solidFill>
                <a:srgbClr val="2FBFC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lang="ar-SA" sz="1800">
                    <a:solidFill>
                      <a:srgbClr val="FFFFFF"/>
                    </a:solidFill>
                  </a:rPr>
                  <a:t>مجلس الادارة - الادارة التنفيذية - </a:t>
                </a:r>
                <a:r>
                  <a:rPr lang="ar-SA" sz="1800">
                    <a:solidFill>
                      <a:schemeClr val="lt1"/>
                    </a:solidFill>
                  </a:rPr>
                  <a:t>المتطوعون - الفرق التطوعية</a:t>
                </a:r>
                <a:endParaRPr b="0" i="0" sz="1800" u="none" cap="none" strike="noStrike">
                  <a:solidFill>
                    <a:srgbClr val="FFFFFF"/>
                  </a:solidFill>
                  <a:latin typeface="Arial"/>
                  <a:ea typeface="Arial"/>
                  <a:cs typeface="Arial"/>
                  <a:sym typeface="Arial"/>
                </a:endParaRPr>
              </a:p>
            </p:txBody>
          </p:sp>
          <p:sp>
            <p:nvSpPr>
              <p:cNvPr id="100" name="Google Shape;100;p1"/>
              <p:cNvSpPr/>
              <p:nvPr/>
            </p:nvSpPr>
            <p:spPr>
              <a:xfrm>
                <a:off x="1948965" y="1871255"/>
                <a:ext cx="1998130" cy="592738"/>
              </a:xfrm>
              <a:prstGeom prst="rect">
                <a:avLst/>
              </a:prstGeom>
              <a:solidFill>
                <a:srgbClr val="96CC4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lang="ar-SA" sz="1800">
                    <a:solidFill>
                      <a:srgbClr val="FFFFFF"/>
                    </a:solidFill>
                  </a:rPr>
                  <a:t>الجهات المانحة - الشركاء في القطاع الحكومي و الخاص</a:t>
                </a:r>
                <a:endParaRPr b="0" i="0" sz="1800" u="none" cap="none" strike="noStrike">
                  <a:solidFill>
                    <a:srgbClr val="FFFFFF"/>
                  </a:solidFill>
                  <a:latin typeface="Arial"/>
                  <a:ea typeface="Arial"/>
                  <a:cs typeface="Arial"/>
                  <a:sym typeface="Arial"/>
                </a:endParaRPr>
              </a:p>
            </p:txBody>
          </p:sp>
          <p:sp>
            <p:nvSpPr>
              <p:cNvPr id="101" name="Google Shape;101;p1"/>
              <p:cNvSpPr/>
              <p:nvPr/>
            </p:nvSpPr>
            <p:spPr>
              <a:xfrm>
                <a:off x="4050882" y="2522235"/>
                <a:ext cx="1998130" cy="592738"/>
              </a:xfrm>
              <a:prstGeom prst="rect">
                <a:avLst/>
              </a:prstGeom>
              <a:solidFill>
                <a:srgbClr val="2FBFC0"/>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lang="ar-SA" sz="1800">
                    <a:solidFill>
                      <a:srgbClr val="FFFFFF"/>
                    </a:solidFill>
                  </a:rPr>
                  <a:t>المستفيدين من فئة الشباب والفتيات</a:t>
                </a:r>
                <a:endParaRPr b="0" i="0" sz="1800" u="none" cap="none" strike="noStrike">
                  <a:solidFill>
                    <a:srgbClr val="FFFFFF"/>
                  </a:solidFill>
                  <a:latin typeface="Arial"/>
                  <a:ea typeface="Arial"/>
                  <a:cs typeface="Arial"/>
                  <a:sym typeface="Arial"/>
                </a:endParaRPr>
              </a:p>
            </p:txBody>
          </p:sp>
          <p:sp>
            <p:nvSpPr>
              <p:cNvPr id="102" name="Google Shape;102;p1"/>
              <p:cNvSpPr/>
              <p:nvPr/>
            </p:nvSpPr>
            <p:spPr>
              <a:xfrm>
                <a:off x="1948965" y="2522235"/>
                <a:ext cx="1998130" cy="592738"/>
              </a:xfrm>
              <a:prstGeom prst="rect">
                <a:avLst/>
              </a:prstGeom>
              <a:solidFill>
                <a:srgbClr val="96CC42"/>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lang="ar-SA" sz="1800">
                    <a:solidFill>
                      <a:srgbClr val="FFFFFF"/>
                    </a:solidFill>
                  </a:rPr>
                  <a:t>المجتمع</a:t>
                </a:r>
                <a:endParaRPr b="0" i="0" sz="1800" u="none" cap="none" strike="noStrike">
                  <a:solidFill>
                    <a:srgbClr val="FFFFFF"/>
                  </a:solidFill>
                  <a:latin typeface="Arial"/>
                  <a:ea typeface="Arial"/>
                  <a:cs typeface="Arial"/>
                  <a:sym typeface="Arial"/>
                </a:endParaRPr>
              </a:p>
            </p:txBody>
          </p:sp>
          <p:sp>
            <p:nvSpPr>
              <p:cNvPr id="103" name="Google Shape;103;p1"/>
              <p:cNvSpPr/>
              <p:nvPr/>
            </p:nvSpPr>
            <p:spPr>
              <a:xfrm rot="-5400000">
                <a:off x="949854" y="2224527"/>
                <a:ext cx="1601669" cy="409414"/>
              </a:xfrm>
              <a:prstGeom prst="rightArrow">
                <a:avLst>
                  <a:gd fmla="val 66821" name="adj1"/>
                  <a:gd fmla="val 68222" name="adj2"/>
                </a:avLst>
              </a:prstGeom>
              <a:solidFill>
                <a:srgbClr val="104C5A"/>
              </a:solidFill>
              <a:ln>
                <a:noFill/>
              </a:ln>
            </p:spPr>
            <p:txBody>
              <a:bodyPr anchorCtr="0" anchor="ctr" bIns="45700" lIns="91425" spcFirstLastPara="1" rIns="91425" wrap="square" tIns="45700">
                <a:spAutoFit/>
              </a:bodyPr>
              <a:lstStyle/>
              <a:p>
                <a:pPr indent="0" lvl="0" marL="0" marR="0" rtl="1" algn="ctr">
                  <a:lnSpc>
                    <a:spcPct val="100000"/>
                  </a:lnSpc>
                  <a:spcBef>
                    <a:spcPts val="0"/>
                  </a:spcBef>
                  <a:spcAft>
                    <a:spcPts val="0"/>
                  </a:spcAft>
                  <a:buClr>
                    <a:srgbClr val="FFFFFF"/>
                  </a:buClr>
                  <a:buSzPts val="2800"/>
                  <a:buFont typeface="Arial"/>
                  <a:buNone/>
                </a:pPr>
                <a:r>
                  <a:rPr b="1" i="0" lang="ar-SA" sz="2800" u="none" cap="none" strike="noStrike">
                    <a:solidFill>
                      <a:srgbClr val="FFFFFF"/>
                    </a:solidFill>
                    <a:latin typeface="Arial"/>
                    <a:ea typeface="Arial"/>
                    <a:cs typeface="Arial"/>
                    <a:sym typeface="Arial"/>
                  </a:rPr>
                  <a:t>التأثير</a:t>
                </a:r>
                <a:endParaRPr b="1" i="0" sz="3600" u="none" cap="none" strike="noStrike">
                  <a:solidFill>
                    <a:srgbClr val="FFFFFF"/>
                  </a:solidFill>
                  <a:latin typeface="Arial"/>
                  <a:ea typeface="Arial"/>
                  <a:cs typeface="Arial"/>
                  <a:sym typeface="Arial"/>
                </a:endParaRPr>
              </a:p>
            </p:txBody>
          </p:sp>
          <p:sp>
            <p:nvSpPr>
              <p:cNvPr id="104" name="Google Shape;104;p1"/>
              <p:cNvSpPr/>
              <p:nvPr/>
            </p:nvSpPr>
            <p:spPr>
              <a:xfrm>
                <a:off x="1618964" y="3134456"/>
                <a:ext cx="4773689" cy="280275"/>
              </a:xfrm>
              <a:prstGeom prst="rightArrow">
                <a:avLst>
                  <a:gd fmla="val 66821" name="adj1"/>
                  <a:gd fmla="val 89248" name="adj2"/>
                </a:avLst>
              </a:prstGeom>
              <a:solidFill>
                <a:srgbClr val="104C5A"/>
              </a:solidFill>
              <a:ln>
                <a:noFill/>
              </a:ln>
            </p:spPr>
            <p:txBody>
              <a:bodyPr anchorCtr="0" anchor="ctr" bIns="45700" lIns="91425" spcFirstLastPara="1" rIns="91425" wrap="square" tIns="45700">
                <a:spAutoFit/>
              </a:bodyPr>
              <a:lstStyle/>
              <a:p>
                <a:pPr indent="0" lvl="0" marL="0" marR="0" rtl="1" algn="ctr">
                  <a:lnSpc>
                    <a:spcPct val="100000"/>
                  </a:lnSpc>
                  <a:spcBef>
                    <a:spcPts val="0"/>
                  </a:spcBef>
                  <a:spcAft>
                    <a:spcPts val="0"/>
                  </a:spcAft>
                  <a:buClr>
                    <a:srgbClr val="FFFFFF"/>
                  </a:buClr>
                  <a:buSzPts val="2400"/>
                  <a:buFont typeface="Arial"/>
                  <a:buNone/>
                </a:pPr>
                <a:r>
                  <a:rPr b="1" i="0" lang="ar-SA" sz="2400" u="none" cap="none" strike="noStrike">
                    <a:solidFill>
                      <a:srgbClr val="FFFFFF"/>
                    </a:solidFill>
                    <a:latin typeface="Arial"/>
                    <a:ea typeface="Arial"/>
                    <a:cs typeface="Arial"/>
                    <a:sym typeface="Arial"/>
                  </a:rPr>
                  <a:t>الاهتمام</a:t>
                </a:r>
                <a:r>
                  <a:rPr b="1" i="0" lang="ar-SA" sz="1050" u="none" cap="none" strike="noStrike">
                    <a:solidFill>
                      <a:srgbClr val="FFFFFF"/>
                    </a:solidFill>
                    <a:latin typeface="Arial"/>
                    <a:ea typeface="Arial"/>
                    <a:cs typeface="Arial"/>
                    <a:sym typeface="Arial"/>
                  </a:rPr>
                  <a:t> </a:t>
                </a:r>
                <a:endParaRPr b="1" i="0" sz="1050" u="none" cap="none" strike="noStrike">
                  <a:solidFill>
                    <a:srgbClr val="FFFFFF"/>
                  </a:solidFill>
                  <a:latin typeface="Arial"/>
                  <a:ea typeface="Arial"/>
                  <a:cs typeface="Arial"/>
                  <a:sym typeface="Arial"/>
                </a:endParaRPr>
              </a:p>
            </p:txBody>
          </p:sp>
        </p:grpSp>
        <p:sp>
          <p:nvSpPr>
            <p:cNvPr id="105" name="Google Shape;105;p1"/>
            <p:cNvSpPr/>
            <p:nvPr/>
          </p:nvSpPr>
          <p:spPr>
            <a:xfrm>
              <a:off x="10203687" y="3172807"/>
              <a:ext cx="304800" cy="234422"/>
            </a:xfrm>
            <a:prstGeom prst="rect">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b="0" i="0" lang="ar-SA" sz="18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106" name="Google Shape;106;p1"/>
            <p:cNvSpPr/>
            <p:nvPr/>
          </p:nvSpPr>
          <p:spPr>
            <a:xfrm>
              <a:off x="10203687" y="4769907"/>
              <a:ext cx="304800" cy="234422"/>
            </a:xfrm>
            <a:prstGeom prst="rect">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b="0" i="0" lang="ar-SA" sz="1800" u="none" cap="none" strike="noStrike">
                  <a:solidFill>
                    <a:schemeClr val="dk1"/>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p:txBody>
        </p:sp>
        <p:sp>
          <p:nvSpPr>
            <p:cNvPr id="107" name="Google Shape;107;p1"/>
            <p:cNvSpPr/>
            <p:nvPr/>
          </p:nvSpPr>
          <p:spPr>
            <a:xfrm>
              <a:off x="6165087" y="3165336"/>
              <a:ext cx="304800" cy="234422"/>
            </a:xfrm>
            <a:prstGeom prst="rect">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b="0" i="0" lang="ar-SA"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08" name="Google Shape;108;p1"/>
            <p:cNvSpPr/>
            <p:nvPr/>
          </p:nvSpPr>
          <p:spPr>
            <a:xfrm>
              <a:off x="6165087" y="4759021"/>
              <a:ext cx="304800" cy="234422"/>
            </a:xfrm>
            <a:prstGeom prst="rect">
              <a:avLst/>
            </a:prstGeom>
            <a:solidFill>
              <a:schemeClr val="lt1"/>
            </a:solidFill>
            <a:ln>
              <a:noFill/>
            </a:ln>
          </p:spPr>
          <p:txBody>
            <a:bodyPr anchorCtr="0" anchor="ctr" bIns="45700" lIns="91425" spcFirstLastPara="1" rIns="91425" wrap="square" tIns="45700">
              <a:noAutofit/>
            </a:bodyPr>
            <a:lstStyle/>
            <a:p>
              <a:pPr indent="0" lvl="0" marL="0" marR="0" rtl="1" algn="ctr">
                <a:lnSpc>
                  <a:spcPct val="100000"/>
                </a:lnSpc>
                <a:spcBef>
                  <a:spcPts val="0"/>
                </a:spcBef>
                <a:spcAft>
                  <a:spcPts val="0"/>
                </a:spcAft>
                <a:buClr>
                  <a:schemeClr val="dk1"/>
                </a:buClr>
                <a:buSzPts val="1800"/>
                <a:buFont typeface="Arial"/>
                <a:buNone/>
              </a:pPr>
              <a:r>
                <a:rPr b="0" i="0" lang="ar-SA" sz="1800" u="none" cap="none" strike="noStrike">
                  <a:solidFill>
                    <a:schemeClr val="dk1"/>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p:txBody>
        </p:sp>
      </p:grpSp>
      <p:graphicFrame>
        <p:nvGraphicFramePr>
          <p:cNvPr id="109" name="Google Shape;109;p1"/>
          <p:cNvGraphicFramePr/>
          <p:nvPr/>
        </p:nvGraphicFramePr>
        <p:xfrm>
          <a:off x="1693300" y="5494849"/>
          <a:ext cx="3000000" cy="3000000"/>
        </p:xfrm>
        <a:graphic>
          <a:graphicData uri="http://schemas.openxmlformats.org/drawingml/2006/table">
            <a:tbl>
              <a:tblPr>
                <a:noFill/>
                <a:tableStyleId>{E498DA62-9057-4D8C-BA5C-EEBBFE029288}</a:tableStyleId>
              </a:tblPr>
              <a:tblGrid>
                <a:gridCol w="1828800"/>
                <a:gridCol w="274325"/>
                <a:gridCol w="1828800"/>
                <a:gridCol w="274325"/>
                <a:gridCol w="1828800"/>
                <a:gridCol w="274325"/>
                <a:gridCol w="1828800"/>
                <a:gridCol w="274325"/>
              </a:tblGrid>
              <a:tr h="365750">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مراقبتهم</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6CC42"/>
                    </a:solidFill>
                  </a:tcPr>
                </a:tc>
                <a:tc>
                  <a:txBody>
                    <a:bodyPr/>
                    <a:lstStyle/>
                    <a:p>
                      <a:pPr indent="0" lvl="0" marL="0" marR="0" rtl="1" algn="ctr">
                        <a:spcBef>
                          <a:spcPts val="0"/>
                        </a:spcBef>
                        <a:spcAft>
                          <a:spcPts val="0"/>
                        </a:spcAft>
                        <a:buNone/>
                      </a:pPr>
                      <a:r>
                        <a:rPr lang="ar-SA" sz="1800" u="none" cap="none" strike="noStrike">
                          <a:latin typeface="Arial"/>
                          <a:ea typeface="Arial"/>
                          <a:cs typeface="Arial"/>
                          <a:sym typeface="Arial"/>
                        </a:rPr>
                        <a:t>4</a:t>
                      </a:r>
                      <a:endParaRPr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إبقائهم دوماً راضين</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lang="ar-SA" sz="1800" u="none" cap="none" strike="noStrike">
                          <a:latin typeface="Arial"/>
                          <a:ea typeface="Arial"/>
                          <a:cs typeface="Arial"/>
                          <a:sym typeface="Arial"/>
                        </a:rPr>
                        <a:t>3</a:t>
                      </a:r>
                      <a:endParaRPr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إشراكهم بشكل كاف والحفاظ على اهتمامهم</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6CC42"/>
                    </a:solidFill>
                  </a:tcPr>
                </a:tc>
                <a:tc>
                  <a:txBody>
                    <a:bodyPr/>
                    <a:lstStyle/>
                    <a:p>
                      <a:pPr indent="0" lvl="0" marL="0" marR="0" rtl="1" algn="ctr">
                        <a:spcBef>
                          <a:spcPts val="0"/>
                        </a:spcBef>
                        <a:spcAft>
                          <a:spcPts val="0"/>
                        </a:spcAft>
                        <a:buNone/>
                      </a:pPr>
                      <a:r>
                        <a:rPr lang="ar-SA"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04C5A"/>
                    </a:solidFill>
                  </a:tcPr>
                </a:tc>
                <a:tc>
                  <a:txBody>
                    <a:bodyPr/>
                    <a:lstStyle/>
                    <a:p>
                      <a:pPr indent="0" lvl="0" marL="0" marR="0" rtl="1" algn="just">
                        <a:spcBef>
                          <a:spcPts val="0"/>
                        </a:spcBef>
                        <a:spcAft>
                          <a:spcPts val="0"/>
                        </a:spcAft>
                        <a:buNone/>
                      </a:pPr>
                      <a:r>
                        <a:rPr b="0" lang="ar-SA" sz="1200" u="none" cap="none" strike="noStrike">
                          <a:solidFill>
                            <a:schemeClr val="dk1"/>
                          </a:solidFill>
                          <a:latin typeface="Arial"/>
                          <a:ea typeface="Arial"/>
                          <a:cs typeface="Arial"/>
                          <a:sym typeface="Arial"/>
                        </a:rPr>
                        <a:t>يجب إعطائهم أولوية قصوى في الإدارة والتواصل</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lang="ar-SA" sz="1800" u="none" cap="none" strike="noStrike">
                          <a:latin typeface="Arial"/>
                          <a:ea typeface="Arial"/>
                          <a:cs typeface="Arial"/>
                          <a:sym typeface="Arial"/>
                        </a:rPr>
                        <a:t>1</a:t>
                      </a:r>
                      <a:endParaRPr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104C5A"/>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2"/>
          <p:cNvSpPr txBox="1"/>
          <p:nvPr/>
        </p:nvSpPr>
        <p:spPr>
          <a:xfrm>
            <a:off x="4522343" y="504638"/>
            <a:ext cx="7180032" cy="573427"/>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2400"/>
              <a:buFont typeface="Arial"/>
              <a:buNone/>
            </a:pPr>
            <a:r>
              <a:rPr b="0" i="0" lang="ar-SA" sz="2400" u="none" cap="none" strike="noStrike">
                <a:solidFill>
                  <a:srgbClr val="FFFFFF"/>
                </a:solidFill>
                <a:latin typeface="Arial"/>
                <a:ea typeface="Arial"/>
                <a:cs typeface="Arial"/>
                <a:sym typeface="Arial"/>
              </a:rPr>
              <a:t>نموذج استهداف المعنيين وفق بُعدي الأثر والسهولة</a:t>
            </a:r>
            <a:endParaRPr b="0" i="0" sz="2400" u="none" cap="none" strike="noStrike">
              <a:solidFill>
                <a:srgbClr val="FFFFFF"/>
              </a:solidFill>
              <a:latin typeface="Arial"/>
              <a:ea typeface="Arial"/>
              <a:cs typeface="Arial"/>
              <a:sym typeface="Arial"/>
            </a:endParaRPr>
          </a:p>
        </p:txBody>
      </p:sp>
      <p:grpSp>
        <p:nvGrpSpPr>
          <p:cNvPr id="115" name="Google Shape;115;p2"/>
          <p:cNvGrpSpPr/>
          <p:nvPr/>
        </p:nvGrpSpPr>
        <p:grpSpPr>
          <a:xfrm>
            <a:off x="935342" y="1255336"/>
            <a:ext cx="10320958" cy="4713552"/>
            <a:chOff x="745164" y="1484821"/>
            <a:chExt cx="10718619" cy="4713552"/>
          </a:xfrm>
        </p:grpSpPr>
        <p:cxnSp>
          <p:nvCxnSpPr>
            <p:cNvPr id="116" name="Google Shape;116;p2"/>
            <p:cNvCxnSpPr/>
            <p:nvPr/>
          </p:nvCxnSpPr>
          <p:spPr>
            <a:xfrm flipH="1" rot="10800000">
              <a:off x="867350" y="6089356"/>
              <a:ext cx="10097700" cy="3000"/>
            </a:xfrm>
            <a:prstGeom prst="straightConnector1">
              <a:avLst/>
            </a:prstGeom>
            <a:noFill/>
            <a:ln cap="flat" cmpd="sng" w="19050">
              <a:solidFill>
                <a:srgbClr val="345271"/>
              </a:solidFill>
              <a:prstDash val="solid"/>
              <a:round/>
              <a:headEnd len="med" w="med" type="stealth"/>
              <a:tailEnd len="med" w="med" type="stealth"/>
            </a:ln>
          </p:spPr>
        </p:cxnSp>
        <p:sp>
          <p:nvSpPr>
            <p:cNvPr id="117" name="Google Shape;117;p2"/>
            <p:cNvSpPr/>
            <p:nvPr/>
          </p:nvSpPr>
          <p:spPr>
            <a:xfrm flipH="1">
              <a:off x="745164" y="1694101"/>
              <a:ext cx="5053200" cy="2060700"/>
            </a:xfrm>
            <a:prstGeom prst="rect">
              <a:avLst/>
            </a:prstGeom>
            <a:noFill/>
            <a:ln cap="flat" cmpd="sng" w="25400">
              <a:solidFill>
                <a:srgbClr val="095463"/>
              </a:solidFill>
              <a:prstDash val="solid"/>
              <a:miter lim="800000"/>
              <a:headEnd len="sm" w="sm" type="none"/>
              <a:tailEnd len="sm" w="sm" type="none"/>
            </a:ln>
          </p:spPr>
          <p:txBody>
            <a:bodyPr anchorCtr="0" anchor="ctr" bIns="45675" lIns="91375" spcFirstLastPara="1" rIns="91375" wrap="square" tIns="45675">
              <a:noAutofit/>
            </a:bodyPr>
            <a:lstStyle/>
            <a:p>
              <a:pPr indent="0" lvl="0" marL="0" marR="0" rtl="1" algn="ctr">
                <a:lnSpc>
                  <a:spcPct val="100000"/>
                </a:lnSpc>
                <a:spcBef>
                  <a:spcPts val="0"/>
                </a:spcBef>
                <a:spcAft>
                  <a:spcPts val="0"/>
                </a:spcAft>
                <a:buClr>
                  <a:srgbClr val="000000"/>
                </a:buClr>
                <a:buSzPts val="1400"/>
                <a:buFont typeface="Arial"/>
                <a:buNone/>
              </a:pPr>
              <a:r>
                <a:rPr lang="ar-SA"/>
                <a:t>المتطوعون</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flipH="1">
              <a:off x="745164" y="3754745"/>
              <a:ext cx="5053200" cy="2062500"/>
            </a:xfrm>
            <a:prstGeom prst="rect">
              <a:avLst/>
            </a:prstGeom>
            <a:noFill/>
            <a:ln cap="flat" cmpd="sng" w="25400">
              <a:solidFill>
                <a:srgbClr val="095463"/>
              </a:solidFill>
              <a:prstDash val="solid"/>
              <a:miter lim="800000"/>
              <a:headEnd len="sm" w="sm" type="none"/>
              <a:tailEnd len="sm" w="sm" type="none"/>
            </a:ln>
          </p:spPr>
          <p:txBody>
            <a:bodyPr anchorCtr="0" anchor="ctr" bIns="45675" lIns="91375" spcFirstLastPara="1" rIns="91375" wrap="square" tIns="45675">
              <a:noAutofit/>
            </a:bodyPr>
            <a:lstStyle/>
            <a:p>
              <a:pPr indent="0" lvl="0" marL="0" marR="0" rtl="1" algn="ctr">
                <a:lnSpc>
                  <a:spcPct val="100000"/>
                </a:lnSpc>
                <a:spcBef>
                  <a:spcPts val="0"/>
                </a:spcBef>
                <a:spcAft>
                  <a:spcPts val="0"/>
                </a:spcAft>
                <a:buClr>
                  <a:srgbClr val="000000"/>
                </a:buClr>
                <a:buSzPts val="1400"/>
                <a:buFont typeface="Arial"/>
                <a:buNone/>
              </a:pPr>
              <a:r>
                <a:rPr lang="ar-SA"/>
                <a:t>المستفيدون، الفرق التطوعية</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flipH="1">
              <a:off x="5800557" y="3754745"/>
              <a:ext cx="5053200" cy="2062500"/>
            </a:xfrm>
            <a:prstGeom prst="rect">
              <a:avLst/>
            </a:prstGeom>
            <a:solidFill>
              <a:srgbClr val="FFFFFF"/>
            </a:solidFill>
            <a:ln cap="flat" cmpd="sng" w="25400">
              <a:solidFill>
                <a:srgbClr val="095463"/>
              </a:solidFill>
              <a:prstDash val="solid"/>
              <a:miter lim="800000"/>
              <a:headEnd len="sm" w="sm" type="none"/>
              <a:tailEnd len="sm" w="sm" type="none"/>
            </a:ln>
          </p:spPr>
          <p:txBody>
            <a:bodyPr anchorCtr="0" anchor="ctr" bIns="45675" lIns="91375" spcFirstLastPara="1" rIns="91375" wrap="square" tIns="45675">
              <a:noAutofit/>
            </a:bodyPr>
            <a:lstStyle/>
            <a:p>
              <a:pPr indent="0" lvl="0" marL="0" marR="0" rtl="1" algn="ctr">
                <a:lnSpc>
                  <a:spcPct val="100000"/>
                </a:lnSpc>
                <a:spcBef>
                  <a:spcPts val="0"/>
                </a:spcBef>
                <a:spcAft>
                  <a:spcPts val="0"/>
                </a:spcAft>
                <a:buClr>
                  <a:srgbClr val="000000"/>
                </a:buClr>
                <a:buSzPts val="1400"/>
                <a:buFont typeface="Arial"/>
                <a:buNone/>
              </a:pPr>
              <a:r>
                <a:rPr lang="ar-SA"/>
                <a:t>المجتمع، الشركاء</a:t>
              </a:r>
              <a:endParaRPr b="0" i="0" sz="1400" u="none" cap="none" strike="noStrike">
                <a:solidFill>
                  <a:srgbClr val="000000"/>
                </a:solidFill>
                <a:latin typeface="Arial"/>
                <a:ea typeface="Arial"/>
                <a:cs typeface="Arial"/>
                <a:sym typeface="Arial"/>
              </a:endParaRPr>
            </a:p>
          </p:txBody>
        </p:sp>
        <p:cxnSp>
          <p:nvCxnSpPr>
            <p:cNvPr id="120" name="Google Shape;120;p2"/>
            <p:cNvCxnSpPr/>
            <p:nvPr/>
          </p:nvCxnSpPr>
          <p:spPr>
            <a:xfrm>
              <a:off x="11320689" y="1681481"/>
              <a:ext cx="0" cy="4122600"/>
            </a:xfrm>
            <a:prstGeom prst="straightConnector1">
              <a:avLst/>
            </a:prstGeom>
            <a:noFill/>
            <a:ln cap="flat" cmpd="sng" w="19050">
              <a:solidFill>
                <a:srgbClr val="345271"/>
              </a:solidFill>
              <a:prstDash val="solid"/>
              <a:round/>
              <a:headEnd len="med" w="med" type="stealth"/>
              <a:tailEnd len="med" w="med" type="stealth"/>
            </a:ln>
          </p:spPr>
        </p:cxnSp>
        <p:sp>
          <p:nvSpPr>
            <p:cNvPr id="121" name="Google Shape;121;p2"/>
            <p:cNvSpPr txBox="1"/>
            <p:nvPr/>
          </p:nvSpPr>
          <p:spPr>
            <a:xfrm flipH="1">
              <a:off x="4220298" y="5952072"/>
              <a:ext cx="3392700" cy="2463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600"/>
                <a:buFont typeface="Arial"/>
                <a:buNone/>
              </a:pPr>
              <a:r>
                <a:rPr b="1" i="0" lang="ar-SA" sz="1600" u="none" cap="none" strike="noStrike">
                  <a:solidFill>
                    <a:srgbClr val="000000"/>
                  </a:solidFill>
                  <a:latin typeface="Arial"/>
                  <a:ea typeface="Arial"/>
                  <a:cs typeface="Arial"/>
                  <a:sym typeface="Arial"/>
                </a:rPr>
                <a:t>سهولة التنفيذ</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flipH="1" rot="5400000">
              <a:off x="10761633" y="3568188"/>
              <a:ext cx="1148700" cy="2556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600"/>
                <a:buFont typeface="Arial"/>
                <a:buNone/>
              </a:pPr>
              <a:r>
                <a:rPr b="1" i="0" lang="ar-SA" sz="1600" u="none" cap="none" strike="noStrike">
                  <a:solidFill>
                    <a:srgbClr val="404040"/>
                  </a:solidFill>
                  <a:latin typeface="Arial"/>
                  <a:ea typeface="Arial"/>
                  <a:cs typeface="Arial"/>
                  <a:sym typeface="Arial"/>
                </a:rPr>
                <a:t>الأثر المتوقع</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flipH="1">
              <a:off x="9821449" y="5874213"/>
              <a:ext cx="974700" cy="1848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200"/>
                <a:buFont typeface="Arial"/>
                <a:buNone/>
              </a:pPr>
              <a:r>
                <a:rPr b="1" i="0" lang="ar-SA" sz="1200" u="none" cap="none" strike="noStrike">
                  <a:solidFill>
                    <a:srgbClr val="2FBFC0"/>
                  </a:solidFill>
                  <a:latin typeface="Arial"/>
                  <a:ea typeface="Arial"/>
                  <a:cs typeface="Arial"/>
                  <a:sym typeface="Arial"/>
                </a:rPr>
                <a:t>صعبة</a:t>
              </a:r>
              <a:endParaRPr b="0" i="0" sz="1400" u="none" cap="none" strike="noStrike">
                <a:solidFill>
                  <a:srgbClr val="2FBFC0"/>
                </a:solidFill>
                <a:latin typeface="Arial"/>
                <a:ea typeface="Arial"/>
                <a:cs typeface="Arial"/>
                <a:sym typeface="Arial"/>
              </a:endParaRPr>
            </a:p>
          </p:txBody>
        </p:sp>
        <p:sp>
          <p:nvSpPr>
            <p:cNvPr id="124" name="Google Shape;124;p2"/>
            <p:cNvSpPr txBox="1"/>
            <p:nvPr/>
          </p:nvSpPr>
          <p:spPr>
            <a:xfrm flipH="1" rot="5400000">
              <a:off x="10656164" y="1826671"/>
              <a:ext cx="875400" cy="1917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200"/>
                <a:buFont typeface="Arial"/>
                <a:buNone/>
              </a:pPr>
              <a:r>
                <a:rPr b="1" i="0" lang="ar-SA" sz="1200" u="none" cap="none" strike="noStrike">
                  <a:solidFill>
                    <a:srgbClr val="2FBFC0"/>
                  </a:solidFill>
                  <a:latin typeface="Arial"/>
                  <a:ea typeface="Arial"/>
                  <a:cs typeface="Arial"/>
                  <a:sym typeface="Arial"/>
                </a:rPr>
                <a:t>مرتفع</a:t>
              </a:r>
              <a:endParaRPr b="0" i="0" sz="1400" u="none" cap="none" strike="noStrike">
                <a:solidFill>
                  <a:srgbClr val="2FBFC0"/>
                </a:solidFill>
                <a:latin typeface="Arial"/>
                <a:ea typeface="Arial"/>
                <a:cs typeface="Arial"/>
                <a:sym typeface="Arial"/>
              </a:endParaRPr>
            </a:p>
          </p:txBody>
        </p:sp>
        <p:sp>
          <p:nvSpPr>
            <p:cNvPr id="125" name="Google Shape;125;p2"/>
            <p:cNvSpPr txBox="1"/>
            <p:nvPr/>
          </p:nvSpPr>
          <p:spPr>
            <a:xfrm flipH="1" rot="5400000">
              <a:off x="10656163" y="5278378"/>
              <a:ext cx="875400" cy="1917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200"/>
                <a:buFont typeface="Arial"/>
                <a:buNone/>
              </a:pPr>
              <a:r>
                <a:rPr b="1" i="0" lang="ar-SA" sz="1200" u="none" cap="none" strike="noStrike">
                  <a:solidFill>
                    <a:srgbClr val="2FBFC0"/>
                  </a:solidFill>
                  <a:latin typeface="Arial"/>
                  <a:ea typeface="Arial"/>
                  <a:cs typeface="Arial"/>
                  <a:sym typeface="Arial"/>
                </a:rPr>
                <a:t>منخفض</a:t>
              </a:r>
              <a:endParaRPr b="0" i="0" sz="1400" u="none" cap="none" strike="noStrike">
                <a:solidFill>
                  <a:srgbClr val="2FBFC0"/>
                </a:solidFill>
                <a:latin typeface="Arial"/>
                <a:ea typeface="Arial"/>
                <a:cs typeface="Arial"/>
                <a:sym typeface="Arial"/>
              </a:endParaRPr>
            </a:p>
          </p:txBody>
        </p:sp>
        <p:sp>
          <p:nvSpPr>
            <p:cNvPr id="126" name="Google Shape;126;p2"/>
            <p:cNvSpPr txBox="1"/>
            <p:nvPr/>
          </p:nvSpPr>
          <p:spPr>
            <a:xfrm flipH="1">
              <a:off x="1076898" y="5862102"/>
              <a:ext cx="746100" cy="184800"/>
            </a:xfrm>
            <a:prstGeom prst="rect">
              <a:avLst/>
            </a:prstGeom>
            <a:solidFill>
              <a:srgbClr val="FFFFFF"/>
            </a:solidFill>
            <a:ln>
              <a:noFill/>
            </a:ln>
          </p:spPr>
          <p:txBody>
            <a:bodyPr anchorCtr="0" anchor="t" bIns="0" lIns="0" spcFirstLastPara="1" rIns="0" wrap="square" tIns="0">
              <a:spAutoFit/>
            </a:bodyPr>
            <a:lstStyle/>
            <a:p>
              <a:pPr indent="0" lvl="0" marL="0" marR="0" rtl="1" algn="ctr">
                <a:lnSpc>
                  <a:spcPct val="100000"/>
                </a:lnSpc>
                <a:spcBef>
                  <a:spcPts val="0"/>
                </a:spcBef>
                <a:spcAft>
                  <a:spcPts val="0"/>
                </a:spcAft>
                <a:buClr>
                  <a:srgbClr val="000000"/>
                </a:buClr>
                <a:buSzPts val="1200"/>
                <a:buFont typeface="Arial"/>
                <a:buNone/>
              </a:pPr>
              <a:r>
                <a:rPr b="1" i="0" lang="ar-SA" sz="1200" u="none" cap="none" strike="noStrike">
                  <a:solidFill>
                    <a:srgbClr val="2FBFC0"/>
                  </a:solidFill>
                  <a:latin typeface="Arial"/>
                  <a:ea typeface="Arial"/>
                  <a:cs typeface="Arial"/>
                  <a:sym typeface="Arial"/>
                </a:rPr>
                <a:t>سهلة</a:t>
              </a:r>
              <a:endParaRPr b="0" i="0" sz="1400" u="none" cap="none" strike="noStrike">
                <a:solidFill>
                  <a:srgbClr val="2FBFC0"/>
                </a:solidFill>
                <a:latin typeface="Arial"/>
                <a:ea typeface="Arial"/>
                <a:cs typeface="Arial"/>
                <a:sym typeface="Arial"/>
              </a:endParaRPr>
            </a:p>
          </p:txBody>
        </p:sp>
        <p:sp>
          <p:nvSpPr>
            <p:cNvPr id="127" name="Google Shape;127;p2"/>
            <p:cNvSpPr txBox="1"/>
            <p:nvPr/>
          </p:nvSpPr>
          <p:spPr>
            <a:xfrm>
              <a:off x="9151298" y="1738131"/>
              <a:ext cx="1662600" cy="307800"/>
            </a:xfrm>
            <a:prstGeom prst="rect">
              <a:avLst/>
            </a:prstGeom>
            <a:solidFill>
              <a:srgbClr val="2FBFC0"/>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chemeClr val="lt1"/>
                </a:buClr>
                <a:buSzPts val="1400"/>
                <a:buFont typeface="Arial"/>
                <a:buNone/>
              </a:pPr>
              <a:r>
                <a:rPr b="1" i="0" lang="ar-SA" sz="1400" u="none" cap="none" strike="noStrike">
                  <a:solidFill>
                    <a:schemeClr val="lt1"/>
                  </a:solidFill>
                  <a:latin typeface="Arial"/>
                  <a:ea typeface="Arial"/>
                  <a:cs typeface="Arial"/>
                  <a:sym typeface="Arial"/>
                </a:rPr>
                <a:t>أولوية عليا</a:t>
              </a:r>
              <a:endParaRPr/>
            </a:p>
          </p:txBody>
        </p:sp>
        <p:sp>
          <p:nvSpPr>
            <p:cNvPr id="128" name="Google Shape;128;p2"/>
            <p:cNvSpPr txBox="1"/>
            <p:nvPr/>
          </p:nvSpPr>
          <p:spPr>
            <a:xfrm>
              <a:off x="9151298" y="5453487"/>
              <a:ext cx="1648800" cy="307800"/>
            </a:xfrm>
            <a:prstGeom prst="rect">
              <a:avLst/>
            </a:prstGeom>
            <a:solidFill>
              <a:srgbClr val="2FBFC0"/>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chemeClr val="lt1"/>
                </a:buClr>
                <a:buSzPts val="1400"/>
                <a:buFont typeface="Arial"/>
                <a:buNone/>
              </a:pPr>
              <a:r>
                <a:rPr b="1" i="0" lang="ar-SA" sz="1400" u="none" cap="none" strike="noStrike">
                  <a:solidFill>
                    <a:schemeClr val="lt1"/>
                  </a:solidFill>
                  <a:latin typeface="Arial"/>
                  <a:ea typeface="Arial"/>
                  <a:cs typeface="Arial"/>
                  <a:sym typeface="Arial"/>
                </a:rPr>
                <a:t>أولوية منخفضة</a:t>
              </a:r>
              <a:endParaRPr/>
            </a:p>
          </p:txBody>
        </p:sp>
        <p:sp>
          <p:nvSpPr>
            <p:cNvPr id="129" name="Google Shape;129;p2"/>
            <p:cNvSpPr txBox="1"/>
            <p:nvPr/>
          </p:nvSpPr>
          <p:spPr>
            <a:xfrm>
              <a:off x="4128821" y="1753611"/>
              <a:ext cx="1639500" cy="307800"/>
            </a:xfrm>
            <a:prstGeom prst="rect">
              <a:avLst/>
            </a:prstGeom>
            <a:solidFill>
              <a:srgbClr val="2FBFC0"/>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chemeClr val="lt1"/>
                </a:buClr>
                <a:buSzPts val="1400"/>
                <a:buFont typeface="Arial"/>
                <a:buNone/>
              </a:pPr>
              <a:r>
                <a:rPr b="1" i="0" lang="ar-SA" sz="1400" u="none" cap="none" strike="noStrike">
                  <a:solidFill>
                    <a:schemeClr val="lt1"/>
                  </a:solidFill>
                  <a:latin typeface="Arial"/>
                  <a:ea typeface="Arial"/>
                  <a:cs typeface="Arial"/>
                  <a:sym typeface="Arial"/>
                </a:rPr>
                <a:t>مكاسب سريعة</a:t>
              </a:r>
              <a:endParaRPr/>
            </a:p>
          </p:txBody>
        </p:sp>
        <p:sp>
          <p:nvSpPr>
            <p:cNvPr id="130" name="Google Shape;130;p2"/>
            <p:cNvSpPr txBox="1"/>
            <p:nvPr/>
          </p:nvSpPr>
          <p:spPr>
            <a:xfrm>
              <a:off x="4128821" y="5453487"/>
              <a:ext cx="1619400" cy="307500"/>
            </a:xfrm>
            <a:prstGeom prst="rect">
              <a:avLst/>
            </a:prstGeom>
            <a:solidFill>
              <a:srgbClr val="2FBFC0"/>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chemeClr val="lt1"/>
                </a:buClr>
                <a:buSzPts val="1400"/>
                <a:buFont typeface="Arial"/>
                <a:buNone/>
              </a:pPr>
              <a:r>
                <a:rPr b="1" i="0" lang="ar-SA" sz="1400" u="none" cap="none" strike="noStrike">
                  <a:solidFill>
                    <a:schemeClr val="lt1"/>
                  </a:solidFill>
                  <a:latin typeface="Arial"/>
                  <a:ea typeface="Arial"/>
                  <a:cs typeface="Arial"/>
                  <a:sym typeface="Arial"/>
                </a:rPr>
                <a:t>أولوية متوسطة</a:t>
              </a:r>
              <a:endParaRPr/>
            </a:p>
          </p:txBody>
        </p:sp>
        <p:sp>
          <p:nvSpPr>
            <p:cNvPr id="131" name="Google Shape;131;p2"/>
            <p:cNvSpPr/>
            <p:nvPr/>
          </p:nvSpPr>
          <p:spPr>
            <a:xfrm flipH="1">
              <a:off x="5800557" y="1694101"/>
              <a:ext cx="5053200" cy="2060700"/>
            </a:xfrm>
            <a:prstGeom prst="rect">
              <a:avLst/>
            </a:prstGeom>
            <a:solidFill>
              <a:srgbClr val="FFFFFF"/>
            </a:solidFill>
            <a:ln cap="flat" cmpd="sng" w="25400">
              <a:solidFill>
                <a:srgbClr val="345271"/>
              </a:solidFill>
              <a:prstDash val="solid"/>
              <a:miter lim="800000"/>
              <a:headEnd len="sm" w="sm" type="none"/>
              <a:tailEnd len="sm" w="sm" type="none"/>
            </a:ln>
          </p:spPr>
          <p:txBody>
            <a:bodyPr anchorCtr="0" anchor="ctr" bIns="45675" lIns="91375" spcFirstLastPara="1" rIns="91375" wrap="square" tIns="45675">
              <a:noAutofit/>
            </a:bodyPr>
            <a:lstStyle/>
            <a:p>
              <a:pPr indent="0" lvl="0" marL="0" marR="0" rtl="1" algn="ctr">
                <a:lnSpc>
                  <a:spcPct val="100000"/>
                </a:lnSpc>
                <a:spcBef>
                  <a:spcPts val="0"/>
                </a:spcBef>
                <a:spcAft>
                  <a:spcPts val="0"/>
                </a:spcAft>
                <a:buClr>
                  <a:srgbClr val="000000"/>
                </a:buClr>
                <a:buSzPts val="1400"/>
                <a:buFont typeface="Arial"/>
                <a:buNone/>
              </a:pPr>
              <a:r>
                <a:rPr b="1" lang="ar-SA">
                  <a:solidFill>
                    <a:schemeClr val="dk1"/>
                  </a:solidFill>
                </a:rPr>
                <a:t>مجلس الإدارة، </a:t>
              </a:r>
              <a:r>
                <a:rPr b="1" lang="ar-SA">
                  <a:solidFill>
                    <a:schemeClr val="dk1"/>
                  </a:solidFill>
                </a:rPr>
                <a:t>الإدارة التنفيذية،</a:t>
              </a:r>
              <a:r>
                <a:rPr lang="ar-SA">
                  <a:solidFill>
                    <a:schemeClr val="dk1"/>
                  </a:solidFill>
                </a:rPr>
                <a:t> </a:t>
              </a:r>
              <a:r>
                <a:rPr b="1" lang="ar-SA">
                  <a:solidFill>
                    <a:schemeClr val="dk1"/>
                  </a:solidFill>
                </a:rPr>
                <a:t>الجهات المانحة</a:t>
              </a:r>
              <a:r>
                <a:rPr b="1" i="0" lang="ar-SA"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132" name="Google Shape;132;p2"/>
          <p:cNvSpPr txBox="1"/>
          <p:nvPr/>
        </p:nvSpPr>
        <p:spPr>
          <a:xfrm>
            <a:off x="9034078" y="1539127"/>
            <a:ext cx="1578600" cy="307800"/>
          </a:xfrm>
          <a:prstGeom prst="rect">
            <a:avLst/>
          </a:prstGeom>
          <a:solidFill>
            <a:srgbClr val="2FBFC0"/>
          </a:solidFill>
          <a:ln>
            <a:noFill/>
          </a:ln>
        </p:spPr>
        <p:txBody>
          <a:bodyPr anchorCtr="0" anchor="t" bIns="45700" lIns="91425" spcFirstLastPara="1" rIns="91425" wrap="square" tIns="45700">
            <a:spAutoFit/>
          </a:bodyPr>
          <a:lstStyle/>
          <a:p>
            <a:pPr indent="0" lvl="0" marL="0" marR="0" rtl="1" algn="ctr">
              <a:lnSpc>
                <a:spcPct val="100000"/>
              </a:lnSpc>
              <a:spcBef>
                <a:spcPts val="0"/>
              </a:spcBef>
              <a:spcAft>
                <a:spcPts val="0"/>
              </a:spcAft>
              <a:buClr>
                <a:schemeClr val="lt1"/>
              </a:buClr>
              <a:buSzPts val="1400"/>
              <a:buFont typeface="Arial"/>
              <a:buNone/>
            </a:pPr>
            <a:r>
              <a:rPr b="1" lang="ar-SA">
                <a:solidFill>
                  <a:schemeClr val="lt1"/>
                </a:solidFill>
              </a:rPr>
              <a:t>أولوية عليا</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3"/>
          <p:cNvSpPr txBox="1"/>
          <p:nvPr/>
        </p:nvSpPr>
        <p:spPr>
          <a:xfrm>
            <a:off x="4522343" y="504638"/>
            <a:ext cx="7180032" cy="573427"/>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2400"/>
              <a:buFont typeface="Arial"/>
              <a:buNone/>
            </a:pPr>
            <a:r>
              <a:rPr b="0" i="0" lang="ar-SA" sz="2400" u="none" cap="none" strike="noStrike">
                <a:solidFill>
                  <a:srgbClr val="FFFFFF"/>
                </a:solidFill>
                <a:latin typeface="Arial"/>
                <a:ea typeface="Arial"/>
                <a:cs typeface="Arial"/>
                <a:sym typeface="Arial"/>
              </a:rPr>
              <a:t>تحليل صاحب المصلحة</a:t>
            </a:r>
            <a:endParaRPr b="0" i="0" sz="2400" u="none" cap="none" strike="noStrike">
              <a:solidFill>
                <a:srgbClr val="FFFFFF"/>
              </a:solidFill>
              <a:latin typeface="Arial"/>
              <a:ea typeface="Arial"/>
              <a:cs typeface="Arial"/>
              <a:sym typeface="Arial"/>
            </a:endParaRPr>
          </a:p>
        </p:txBody>
      </p:sp>
      <p:graphicFrame>
        <p:nvGraphicFramePr>
          <p:cNvPr id="138" name="Google Shape;138;p3"/>
          <p:cNvGraphicFramePr/>
          <p:nvPr/>
        </p:nvGraphicFramePr>
        <p:xfrm>
          <a:off x="554915" y="1268839"/>
          <a:ext cx="3000000" cy="3000000"/>
        </p:xfrm>
        <a:graphic>
          <a:graphicData uri="http://schemas.openxmlformats.org/drawingml/2006/table">
            <a:tbl>
              <a:tblPr>
                <a:noFill/>
                <a:tableStyleId>{E498DA62-9057-4D8C-BA5C-EEBBFE029288}</a:tableStyleId>
              </a:tblPr>
              <a:tblGrid>
                <a:gridCol w="3868550"/>
                <a:gridCol w="3695475"/>
                <a:gridCol w="3583425"/>
              </a:tblGrid>
              <a:tr h="409100">
                <a:tc rowSpan="2">
                  <a:txBody>
                    <a:bodyPr/>
                    <a:lstStyle/>
                    <a:p>
                      <a:pPr indent="0" lvl="0" marL="0" marR="0" rtl="1" algn="r">
                        <a:lnSpc>
                          <a:spcPct val="100000"/>
                        </a:lnSpc>
                        <a:spcBef>
                          <a:spcPts val="0"/>
                        </a:spcBef>
                        <a:spcAft>
                          <a:spcPts val="0"/>
                        </a:spcAft>
                        <a:buClr>
                          <a:schemeClr val="dk1"/>
                        </a:buClr>
                        <a:buSzPts val="1800"/>
                        <a:buFont typeface="Arial"/>
                        <a:buNone/>
                      </a:pPr>
                      <a:r>
                        <a:t/>
                      </a:r>
                      <a:endParaRPr sz="1800" u="none" cap="none" strike="noStrike">
                        <a:solidFill>
                          <a:srgbClr val="171717"/>
                        </a:solidFill>
                        <a:latin typeface="Arial"/>
                        <a:ea typeface="Arial"/>
                        <a:cs typeface="Arial"/>
                        <a:sym typeface="Arial"/>
                      </a:endParaRPr>
                    </a:p>
                    <a:p>
                      <a:pPr indent="0" lvl="0" marL="0" marR="0" rtl="1" algn="r">
                        <a:lnSpc>
                          <a:spcPct val="100000"/>
                        </a:lnSpc>
                        <a:spcBef>
                          <a:spcPts val="0"/>
                        </a:spcBef>
                        <a:spcAft>
                          <a:spcPts val="0"/>
                        </a:spcAft>
                        <a:buClr>
                          <a:srgbClr val="171717"/>
                        </a:buClr>
                        <a:buSzPts val="1800"/>
                        <a:buFont typeface="Arial"/>
                        <a:buNone/>
                      </a:pPr>
                      <a:r>
                        <a:rPr lang="ar-SA" sz="1800" u="none" cap="none" strike="noStrike">
                          <a:solidFill>
                            <a:srgbClr val="171717"/>
                          </a:solidFill>
                          <a:latin typeface="Arial"/>
                          <a:ea typeface="Arial"/>
                          <a:cs typeface="Arial"/>
                          <a:sym typeface="Arial"/>
                        </a:rPr>
                        <a:t>صاحب المصلحة</a:t>
                      </a:r>
                      <a:endParaRPr sz="1800" u="none" cap="none" strike="noStrike">
                        <a:solidFill>
                          <a:srgbClr val="171717"/>
                        </a:solidFill>
                        <a:latin typeface="Arial"/>
                        <a:ea typeface="Arial"/>
                        <a:cs typeface="Arial"/>
                        <a:sym typeface="Arial"/>
                      </a:endParaRPr>
                    </a:p>
                    <a:p>
                      <a:pPr indent="0" lvl="0" marL="0" marR="0" rtl="1" algn="r">
                        <a:lnSpc>
                          <a:spcPct val="100000"/>
                        </a:lnSpc>
                        <a:spcBef>
                          <a:spcPts val="0"/>
                        </a:spcBef>
                        <a:spcAft>
                          <a:spcPts val="0"/>
                        </a:spcAft>
                        <a:buClr>
                          <a:srgbClr val="171717"/>
                        </a:buClr>
                        <a:buSzPts val="1800"/>
                        <a:buFont typeface="Arial"/>
                        <a:buNone/>
                      </a:pPr>
                      <a:r>
                        <a:t/>
                      </a:r>
                      <a:endParaRPr sz="1800">
                        <a:solidFill>
                          <a:srgbClr val="171717"/>
                        </a:solidFill>
                      </a:endParaRPr>
                    </a:p>
                    <a:p>
                      <a:pPr indent="0" lvl="0" marL="0" marR="0" rtl="1" algn="ctr">
                        <a:lnSpc>
                          <a:spcPct val="100000"/>
                        </a:lnSpc>
                        <a:spcBef>
                          <a:spcPts val="0"/>
                        </a:spcBef>
                        <a:spcAft>
                          <a:spcPts val="0"/>
                        </a:spcAft>
                        <a:buClr>
                          <a:srgbClr val="171717"/>
                        </a:buClr>
                        <a:buSzPts val="1800"/>
                        <a:buFont typeface="Arial"/>
                        <a:buNone/>
                      </a:pPr>
                      <a:r>
                        <a:rPr lang="ar-SA" sz="1800">
                          <a:solidFill>
                            <a:srgbClr val="171717"/>
                          </a:solidFill>
                        </a:rPr>
                        <a:t>المتطوعون</a:t>
                      </a:r>
                      <a:endParaRPr sz="1800">
                        <a:solidFill>
                          <a:srgbClr val="171717"/>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0C2410"/>
                        </a:buClr>
                        <a:buSzPts val="1800"/>
                        <a:buFont typeface="Arial"/>
                        <a:buNone/>
                      </a:pPr>
                      <a:r>
                        <a:rPr b="0" i="0" lang="ar-SA" sz="1800" u="none" cap="none" strike="noStrike">
                          <a:solidFill>
                            <a:srgbClr val="0C2410"/>
                          </a:solidFill>
                          <a:highlight>
                            <a:srgbClr val="5ECDCB"/>
                          </a:highlight>
                          <a:latin typeface="Arial"/>
                          <a:ea typeface="Arial"/>
                          <a:cs typeface="Arial"/>
                          <a:sym typeface="Arial"/>
                        </a:rPr>
                        <a:t>نقاط القوة </a:t>
                      </a:r>
                      <a:r>
                        <a:rPr b="0" i="0" lang="ar-SA" sz="1600" u="none" cap="none" strike="noStrike">
                          <a:solidFill>
                            <a:srgbClr val="0C2410"/>
                          </a:solidFill>
                          <a:highlight>
                            <a:srgbClr val="5ECDCB"/>
                          </a:highlight>
                          <a:latin typeface="Arial"/>
                          <a:ea typeface="Arial"/>
                          <a:cs typeface="Arial"/>
                          <a:sym typeface="Arial"/>
                        </a:rPr>
                        <a:t>- S</a:t>
                      </a:r>
                      <a:endParaRPr b="0" i="0" sz="1600" u="none" cap="none" strike="noStrike">
                        <a:solidFill>
                          <a:srgbClr val="0C2410"/>
                        </a:solidFill>
                        <a:highlight>
                          <a:srgbClr val="5ECDCB"/>
                        </a:highlight>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spcBef>
                          <a:spcPts val="0"/>
                        </a:spcBef>
                        <a:spcAft>
                          <a:spcPts val="0"/>
                        </a:spcAft>
                        <a:buNone/>
                      </a:pPr>
                      <a:r>
                        <a:rPr b="0" lang="ar-SA" sz="1800" u="none" cap="none" strike="noStrike">
                          <a:solidFill>
                            <a:srgbClr val="171717"/>
                          </a:solidFill>
                          <a:highlight>
                            <a:srgbClr val="FFFF00"/>
                          </a:highlight>
                          <a:latin typeface="Arial"/>
                          <a:ea typeface="Arial"/>
                          <a:cs typeface="Arial"/>
                          <a:sym typeface="Arial"/>
                        </a:rPr>
                        <a:t>نقاط الضعف </a:t>
                      </a:r>
                      <a:r>
                        <a:rPr b="1" lang="ar-SA" sz="1600" u="none" cap="none" strike="noStrike">
                          <a:solidFill>
                            <a:srgbClr val="171717"/>
                          </a:solidFill>
                          <a:highlight>
                            <a:srgbClr val="FFFF00"/>
                          </a:highlight>
                          <a:latin typeface="Arial"/>
                          <a:ea typeface="Arial"/>
                          <a:cs typeface="Arial"/>
                          <a:sym typeface="Arial"/>
                        </a:rPr>
                        <a:t>- W</a:t>
                      </a:r>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tcPr>
                </a:tc>
              </a:tr>
              <a:tr h="1680450">
                <a:tc vMerge="1"/>
                <a:tc>
                  <a:txBody>
                    <a:bodyPr/>
                    <a:lstStyle/>
                    <a:p>
                      <a:pPr indent="-196850" lvl="0" marL="285750" marR="0" rtl="1" algn="just">
                        <a:lnSpc>
                          <a:spcPct val="100000"/>
                        </a:lnSpc>
                        <a:spcBef>
                          <a:spcPts val="0"/>
                        </a:spcBef>
                        <a:spcAft>
                          <a:spcPts val="0"/>
                        </a:spcAft>
                        <a:buClr>
                          <a:schemeClr val="dk1"/>
                        </a:buClr>
                        <a:buSzPts val="1400"/>
                        <a:buFont typeface="Courier New"/>
                        <a:buNone/>
                      </a:pPr>
                      <a:r>
                        <a:rPr lang="ar-SA">
                          <a:solidFill>
                            <a:srgbClr val="171717"/>
                          </a:solidFill>
                        </a:rPr>
                        <a:t>شغف عالي بقيمة العطاء, تنوع التخصصات</a:t>
                      </a:r>
                      <a:endParaRPr b="0" i="0" sz="1400" u="none" cap="none" strike="noStrike">
                        <a:solidFill>
                          <a:srgbClr val="171717"/>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254000" lvl="0" marL="342900" marR="0" rtl="1" algn="r">
                        <a:lnSpc>
                          <a:spcPct val="100000"/>
                        </a:lnSpc>
                        <a:spcBef>
                          <a:spcPts val="0"/>
                        </a:spcBef>
                        <a:spcAft>
                          <a:spcPts val="0"/>
                        </a:spcAft>
                        <a:buClr>
                          <a:schemeClr val="dk1"/>
                        </a:buClr>
                        <a:buSzPts val="1400"/>
                        <a:buFont typeface="Courier New"/>
                        <a:buNone/>
                      </a:pPr>
                      <a:r>
                        <a:rPr b="1" lang="ar-SA">
                          <a:solidFill>
                            <a:srgbClr val="171717"/>
                          </a:solidFill>
                        </a:rPr>
                        <a:t>احتمالية التسرب (عدم الاستمرار)</a:t>
                      </a:r>
                      <a:endParaRPr b="1" sz="1400" u="none" cap="none" strike="noStrike">
                        <a:solidFill>
                          <a:srgbClr val="171717"/>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1768900">
                <a:tc>
                  <a:txBody>
                    <a:bodyPr/>
                    <a:lstStyle/>
                    <a:p>
                      <a:pPr indent="0" lvl="0" marL="0" marR="0" rtl="1" algn="r">
                        <a:spcBef>
                          <a:spcPts val="0"/>
                        </a:spcBef>
                        <a:spcAft>
                          <a:spcPts val="0"/>
                        </a:spcAft>
                        <a:buNone/>
                      </a:pPr>
                      <a:r>
                        <a:rPr b="0" lang="ar-SA" sz="1600" u="none" cap="none" strike="noStrike">
                          <a:solidFill>
                            <a:srgbClr val="171717"/>
                          </a:solidFill>
                          <a:highlight>
                            <a:srgbClr val="FF00FF"/>
                          </a:highlight>
                          <a:latin typeface="Arial"/>
                          <a:ea typeface="Arial"/>
                          <a:cs typeface="Arial"/>
                          <a:sym typeface="Arial"/>
                        </a:rPr>
                        <a:t>الفرص - O</a:t>
                      </a:r>
                      <a:endParaRPr b="0" sz="1600" u="none" cap="none" strike="noStrike">
                        <a:solidFill>
                          <a:srgbClr val="171717"/>
                        </a:solidFill>
                        <a:highlight>
                          <a:srgbClr val="FF00FF"/>
                        </a:highlight>
                        <a:latin typeface="Arial"/>
                        <a:ea typeface="Arial"/>
                        <a:cs typeface="Arial"/>
                        <a:sym typeface="Arial"/>
                      </a:endParaRPr>
                    </a:p>
                    <a:p>
                      <a:pPr indent="0" lvl="0" marL="0" marR="0" rtl="1" algn="r">
                        <a:spcBef>
                          <a:spcPts val="0"/>
                        </a:spcBef>
                        <a:spcAft>
                          <a:spcPts val="0"/>
                        </a:spcAft>
                        <a:buNone/>
                      </a:pPr>
                      <a:r>
                        <a:rPr lang="ar-SA" sz="1600">
                          <a:solidFill>
                            <a:srgbClr val="171717"/>
                          </a:solidFill>
                        </a:rPr>
                        <a:t>الشراكة المجتمعية مع القطاع الخاص والخبراء في الجهات التعليمية لتنفيذ المبادرات</a:t>
                      </a:r>
                      <a:endParaRPr sz="1600">
                        <a:solidFill>
                          <a:srgbClr val="171717"/>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1" algn="just">
                        <a:lnSpc>
                          <a:spcPct val="100000"/>
                        </a:lnSpc>
                        <a:spcBef>
                          <a:spcPts val="0"/>
                        </a:spcBef>
                        <a:spcAft>
                          <a:spcPts val="0"/>
                        </a:spcAft>
                        <a:buClr>
                          <a:srgbClr val="171717"/>
                        </a:buClr>
                        <a:buSzPts val="1600"/>
                        <a:buFont typeface="Noto Sans Symbols"/>
                        <a:buNone/>
                      </a:pPr>
                      <a:r>
                        <a:rPr b="1" lang="ar-SA" sz="1600" u="none" cap="none" strike="noStrike">
                          <a:solidFill>
                            <a:srgbClr val="171717"/>
                          </a:solidFill>
                          <a:latin typeface="Arial"/>
                          <a:ea typeface="Arial"/>
                          <a:cs typeface="Arial"/>
                          <a:sym typeface="Arial"/>
                        </a:rPr>
                        <a:t>S-O Strategies</a:t>
                      </a:r>
                      <a:endParaRPr b="1" sz="1600" u="none" cap="none" strike="noStrike">
                        <a:solidFill>
                          <a:srgbClr val="171717"/>
                        </a:solidFill>
                        <a:latin typeface="Arial"/>
                        <a:ea typeface="Arial"/>
                        <a:cs typeface="Arial"/>
                        <a:sym typeface="Arial"/>
                      </a:endParaRPr>
                    </a:p>
                    <a:p>
                      <a:pPr indent="0" lvl="0" marL="0" marR="0" rtl="1" algn="just">
                        <a:lnSpc>
                          <a:spcPct val="100000"/>
                        </a:lnSpc>
                        <a:spcBef>
                          <a:spcPts val="0"/>
                        </a:spcBef>
                        <a:spcAft>
                          <a:spcPts val="0"/>
                        </a:spcAft>
                        <a:buClr>
                          <a:schemeClr val="dk1"/>
                        </a:buClr>
                        <a:buSzPts val="1400"/>
                        <a:buFont typeface="Noto Sans Symbols"/>
                        <a:buNone/>
                      </a:pPr>
                      <a:r>
                        <a:rPr b="1" lang="ar-SA">
                          <a:solidFill>
                            <a:srgbClr val="171717"/>
                          </a:solidFill>
                        </a:rPr>
                        <a:t>استثمار "شغف المتطوعين" في "صناعة مبادرات قيمية" نوعية ترفع من سمعة الجمعية</a:t>
                      </a:r>
                      <a:endParaRPr b="1" sz="1400" u="none" cap="none" strike="noStrike">
                        <a:solidFill>
                          <a:srgbClr val="171717"/>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1" algn="just">
                        <a:lnSpc>
                          <a:spcPct val="100000"/>
                        </a:lnSpc>
                        <a:spcBef>
                          <a:spcPts val="0"/>
                        </a:spcBef>
                        <a:spcAft>
                          <a:spcPts val="0"/>
                        </a:spcAft>
                        <a:buClr>
                          <a:srgbClr val="171717"/>
                        </a:buClr>
                        <a:buSzPts val="1600"/>
                        <a:buFont typeface="Courier New"/>
                        <a:buNone/>
                      </a:pPr>
                      <a:r>
                        <a:rPr b="0" lang="ar-SA" sz="1600" u="none" cap="none" strike="noStrike">
                          <a:solidFill>
                            <a:srgbClr val="171717"/>
                          </a:solidFill>
                          <a:latin typeface="Arial"/>
                          <a:ea typeface="Arial"/>
                          <a:cs typeface="Arial"/>
                          <a:sym typeface="Arial"/>
                        </a:rPr>
                        <a:t>W-O Strategies</a:t>
                      </a:r>
                      <a:endParaRPr b="0" sz="1600" u="none" cap="none" strike="noStrike">
                        <a:solidFill>
                          <a:srgbClr val="171717"/>
                        </a:solidFill>
                        <a:latin typeface="Arial"/>
                        <a:ea typeface="Arial"/>
                        <a:cs typeface="Arial"/>
                        <a:sym typeface="Arial"/>
                      </a:endParaRPr>
                    </a:p>
                    <a:p>
                      <a:pPr indent="-330200" lvl="0" marL="457200" marR="0" rtl="1" algn="just">
                        <a:lnSpc>
                          <a:spcPct val="100000"/>
                        </a:lnSpc>
                        <a:spcBef>
                          <a:spcPts val="0"/>
                        </a:spcBef>
                        <a:spcAft>
                          <a:spcPts val="0"/>
                        </a:spcAft>
                        <a:buClr>
                          <a:srgbClr val="171717"/>
                        </a:buClr>
                        <a:buSzPts val="1600"/>
                        <a:buChar char="-"/>
                      </a:pPr>
                      <a:r>
                        <a:rPr lang="ar-SA" sz="1600">
                          <a:solidFill>
                            <a:srgbClr val="171717"/>
                          </a:solidFill>
                        </a:rPr>
                        <a:t>تفعيل التطوع المهني الاحترافي</a:t>
                      </a:r>
                      <a:endParaRPr sz="1600">
                        <a:solidFill>
                          <a:srgbClr val="171717"/>
                        </a:solidFill>
                      </a:endParaRPr>
                    </a:p>
                    <a:p>
                      <a:pPr indent="-330200" lvl="0" marL="457200" marR="0" rtl="1" algn="just">
                        <a:lnSpc>
                          <a:spcPct val="100000"/>
                        </a:lnSpc>
                        <a:spcBef>
                          <a:spcPts val="0"/>
                        </a:spcBef>
                        <a:spcAft>
                          <a:spcPts val="0"/>
                        </a:spcAft>
                        <a:buClr>
                          <a:srgbClr val="171717"/>
                        </a:buClr>
                        <a:buSzPts val="1600"/>
                        <a:buChar char="-"/>
                      </a:pPr>
                      <a:r>
                        <a:rPr lang="ar-SA" sz="1600">
                          <a:solidFill>
                            <a:srgbClr val="171717"/>
                          </a:solidFill>
                        </a:rPr>
                        <a:t>استخدام "خطة تحفيز" من خلال توفير مكافاة للمتطوعين المتميزين بالشراكة مع القطاع الخاص</a:t>
                      </a:r>
                      <a:endParaRPr sz="1600">
                        <a:solidFill>
                          <a:srgbClr val="171717"/>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1592000">
                <a:tc>
                  <a:txBody>
                    <a:bodyPr/>
                    <a:lstStyle/>
                    <a:p>
                      <a:pPr indent="0" lvl="0" marL="0" marR="0" rtl="1" algn="r">
                        <a:spcBef>
                          <a:spcPts val="0"/>
                        </a:spcBef>
                        <a:spcAft>
                          <a:spcPts val="0"/>
                        </a:spcAft>
                        <a:buNone/>
                      </a:pPr>
                      <a:r>
                        <a:rPr b="0" lang="ar-SA" sz="1600" u="none" cap="none" strike="noStrike">
                          <a:solidFill>
                            <a:srgbClr val="171717"/>
                          </a:solidFill>
                          <a:highlight>
                            <a:srgbClr val="FF0000"/>
                          </a:highlight>
                          <a:latin typeface="Arial"/>
                          <a:ea typeface="Arial"/>
                          <a:cs typeface="Arial"/>
                          <a:sym typeface="Arial"/>
                        </a:rPr>
                        <a:t>التحديات</a:t>
                      </a:r>
                      <a:r>
                        <a:rPr b="1" lang="ar-SA" sz="1600" u="none" cap="none" strike="noStrike">
                          <a:solidFill>
                            <a:srgbClr val="171717"/>
                          </a:solidFill>
                          <a:highlight>
                            <a:srgbClr val="FF0000"/>
                          </a:highlight>
                          <a:latin typeface="Arial"/>
                          <a:ea typeface="Arial"/>
                          <a:cs typeface="Arial"/>
                          <a:sym typeface="Arial"/>
                        </a:rPr>
                        <a:t> - T</a:t>
                      </a:r>
                      <a:endParaRPr b="1" sz="1600" u="none" cap="none" strike="noStrike">
                        <a:solidFill>
                          <a:srgbClr val="171717"/>
                        </a:solidFill>
                        <a:highlight>
                          <a:srgbClr val="FF0000"/>
                        </a:highlight>
                        <a:latin typeface="Arial"/>
                        <a:ea typeface="Arial"/>
                        <a:cs typeface="Arial"/>
                        <a:sym typeface="Arial"/>
                      </a:endParaRPr>
                    </a:p>
                    <a:p>
                      <a:pPr indent="0" lvl="0" marL="0" marR="0" rtl="1" algn="r">
                        <a:spcBef>
                          <a:spcPts val="0"/>
                        </a:spcBef>
                        <a:spcAft>
                          <a:spcPts val="0"/>
                        </a:spcAft>
                        <a:buNone/>
                      </a:pPr>
                      <a:r>
                        <a:rPr b="1" lang="ar-SA" sz="1600">
                          <a:solidFill>
                            <a:srgbClr val="171717"/>
                          </a:solidFill>
                        </a:rPr>
                        <a:t>قلة الفرص التطوعية المعلنة</a:t>
                      </a:r>
                      <a:endParaRPr b="1" sz="1600">
                        <a:solidFill>
                          <a:srgbClr val="171717"/>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1" algn="just">
                        <a:lnSpc>
                          <a:spcPct val="100000"/>
                        </a:lnSpc>
                        <a:spcBef>
                          <a:spcPts val="0"/>
                        </a:spcBef>
                        <a:spcAft>
                          <a:spcPts val="0"/>
                        </a:spcAft>
                        <a:buClr>
                          <a:srgbClr val="171717"/>
                        </a:buClr>
                        <a:buSzPts val="1600"/>
                        <a:buFont typeface="Noto Sans Symbols"/>
                        <a:buNone/>
                      </a:pPr>
                      <a:r>
                        <a:rPr b="1" lang="ar-SA" sz="1600" u="none" cap="none" strike="noStrike">
                          <a:solidFill>
                            <a:srgbClr val="171717"/>
                          </a:solidFill>
                          <a:latin typeface="Arial"/>
                          <a:ea typeface="Arial"/>
                          <a:cs typeface="Arial"/>
                          <a:sym typeface="Arial"/>
                        </a:rPr>
                        <a:t>S-T Strategies</a:t>
                      </a:r>
                      <a:endParaRPr b="1" sz="1600" u="none" cap="none" strike="noStrike">
                        <a:solidFill>
                          <a:srgbClr val="171717"/>
                        </a:solidFill>
                        <a:latin typeface="Arial"/>
                        <a:ea typeface="Arial"/>
                        <a:cs typeface="Arial"/>
                        <a:sym typeface="Arial"/>
                      </a:endParaRPr>
                    </a:p>
                    <a:p>
                      <a:pPr indent="0" lvl="0" marL="0" rtl="1" algn="just">
                        <a:spcBef>
                          <a:spcPts val="0"/>
                        </a:spcBef>
                        <a:spcAft>
                          <a:spcPts val="0"/>
                        </a:spcAft>
                        <a:buClr>
                          <a:schemeClr val="dk1"/>
                        </a:buClr>
                        <a:buSzPts val="1100"/>
                        <a:buFont typeface="Arial"/>
                        <a:buNone/>
                      </a:pPr>
                      <a:r>
                        <a:rPr b="1" lang="ar-SA" sz="1600">
                          <a:solidFill>
                            <a:srgbClr val="171717"/>
                          </a:solidFill>
                        </a:rPr>
                        <a:t>توظيف تنوع تخصصات المتطوعين </a:t>
                      </a:r>
                      <a:r>
                        <a:rPr b="1" lang="ar-SA" sz="1600">
                          <a:solidFill>
                            <a:srgbClr val="171717"/>
                          </a:solidFill>
                        </a:rPr>
                        <a:t>للإعلان</a:t>
                      </a:r>
                      <a:r>
                        <a:rPr b="1" lang="ar-SA" sz="1600">
                          <a:solidFill>
                            <a:srgbClr val="171717"/>
                          </a:solidFill>
                        </a:rPr>
                        <a:t> عن المزيد من الفرص التطوعية</a:t>
                      </a:r>
                      <a:endParaRPr b="1" sz="1600">
                        <a:solidFill>
                          <a:srgbClr val="171717"/>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1" algn="just">
                        <a:lnSpc>
                          <a:spcPct val="100000"/>
                        </a:lnSpc>
                        <a:spcBef>
                          <a:spcPts val="0"/>
                        </a:spcBef>
                        <a:spcAft>
                          <a:spcPts val="0"/>
                        </a:spcAft>
                        <a:buClr>
                          <a:srgbClr val="171717"/>
                        </a:buClr>
                        <a:buSzPts val="1600"/>
                        <a:buFont typeface="Noto Sans Symbols"/>
                        <a:buNone/>
                      </a:pPr>
                      <a:r>
                        <a:rPr b="1" lang="ar-SA" sz="1600" u="none" cap="none" strike="noStrike">
                          <a:solidFill>
                            <a:srgbClr val="171717"/>
                          </a:solidFill>
                          <a:latin typeface="Arial"/>
                          <a:ea typeface="Arial"/>
                          <a:cs typeface="Arial"/>
                          <a:sym typeface="Arial"/>
                        </a:rPr>
                        <a:t>W-T Strategies</a:t>
                      </a:r>
                      <a:endParaRPr b="1" sz="1600" u="none" cap="none" strike="noStrike">
                        <a:solidFill>
                          <a:srgbClr val="171717"/>
                        </a:solidFill>
                        <a:latin typeface="Arial"/>
                        <a:ea typeface="Arial"/>
                        <a:cs typeface="Arial"/>
                        <a:sym typeface="Arial"/>
                      </a:endParaRPr>
                    </a:p>
                    <a:p>
                      <a:pPr indent="0" lvl="0" marL="0" rtl="1" algn="r">
                        <a:lnSpc>
                          <a:spcPct val="115000"/>
                        </a:lnSpc>
                        <a:spcBef>
                          <a:spcPts val="1200"/>
                        </a:spcBef>
                        <a:spcAft>
                          <a:spcPts val="0"/>
                        </a:spcAft>
                        <a:buNone/>
                      </a:pPr>
                      <a:r>
                        <a:rPr b="1" lang="ar-SA" sz="1500">
                          <a:solidFill>
                            <a:srgbClr val="171717"/>
                          </a:solidFill>
                        </a:rPr>
                        <a:t>تفعيل اللقاء التعريفي للمتطوعين الجدد وتوقيع اتفاقية التطوع قبل البدء في تنفيذ الفرص التطوعية</a:t>
                      </a:r>
                      <a:endParaRPr b="1" i="0" sz="1500" u="none" cap="none" strike="noStrike">
                        <a:solidFill>
                          <a:srgbClr val="171717"/>
                        </a:solidFill>
                      </a:endParaRPr>
                    </a:p>
                    <a:p>
                      <a:pPr indent="0" lvl="0" marL="0" marR="0" rtl="1" algn="just">
                        <a:lnSpc>
                          <a:spcPct val="100000"/>
                        </a:lnSpc>
                        <a:spcBef>
                          <a:spcPts val="1200"/>
                        </a:spcBef>
                        <a:spcAft>
                          <a:spcPts val="0"/>
                        </a:spcAft>
                        <a:buClr>
                          <a:schemeClr val="dk1"/>
                        </a:buClr>
                        <a:buSzPts val="1100"/>
                        <a:buFont typeface="Noto Sans Symbols"/>
                        <a:buNone/>
                      </a:pPr>
                      <a:r>
                        <a:t/>
                      </a:r>
                      <a:endParaRPr b="0" i="0" sz="1100" u="none" cap="none" strike="noStrike">
                        <a:solidFill>
                          <a:srgbClr val="171717"/>
                        </a:solidFill>
                        <a:latin typeface="Arial"/>
                        <a:ea typeface="Arial"/>
                        <a:cs typeface="Arial"/>
                        <a:sym typeface="Arial"/>
                      </a:endParaRPr>
                    </a:p>
                    <a:p>
                      <a:pPr indent="0" lvl="0" marL="0" marR="0" rtl="1"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171717"/>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4"/>
          <p:cNvSpPr txBox="1"/>
          <p:nvPr/>
        </p:nvSpPr>
        <p:spPr>
          <a:xfrm>
            <a:off x="4522343" y="390338"/>
            <a:ext cx="7180032" cy="73379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2. توقعات  أصحاب المصلحة </a:t>
            </a:r>
            <a:endParaRPr/>
          </a:p>
        </p:txBody>
      </p:sp>
      <p:sp>
        <p:nvSpPr>
          <p:cNvPr id="144" name="Google Shape;144;p4"/>
          <p:cNvSpPr txBox="1"/>
          <p:nvPr/>
        </p:nvSpPr>
        <p:spPr>
          <a:xfrm>
            <a:off x="390419" y="1367941"/>
            <a:ext cx="11311956" cy="923330"/>
          </a:xfrm>
          <a:prstGeom prst="rect">
            <a:avLst/>
          </a:prstGeom>
          <a:noFill/>
          <a:ln>
            <a:noFill/>
          </a:ln>
        </p:spPr>
        <p:txBody>
          <a:bodyPr anchorCtr="0" anchor="t" bIns="45700" lIns="91425" spcFirstLastPara="1" rIns="91425" wrap="square" tIns="45700">
            <a:spAutoFit/>
          </a:bodyPr>
          <a:lstStyle/>
          <a:p>
            <a:pPr indent="0" lvl="0" marL="0" marR="0" rtl="1" algn="just">
              <a:spcBef>
                <a:spcPts val="0"/>
              </a:spcBef>
              <a:spcAft>
                <a:spcPts val="0"/>
              </a:spcAft>
              <a:buNone/>
            </a:pPr>
            <a:r>
              <a:rPr b="0" i="0" lang="ar-SA" sz="1800" u="none" cap="none" strike="noStrike">
                <a:solidFill>
                  <a:schemeClr val="dk1"/>
                </a:solidFill>
                <a:latin typeface="Arial"/>
                <a:ea typeface="Arial"/>
                <a:cs typeface="Arial"/>
                <a:sym typeface="Arial"/>
              </a:rPr>
              <a:t>توقعات أصحاب المصلحة تشير إلى الآمال والمطالب التي يحملها الأفراد أو المنظمات المؤثرة أو المتأثرة بوحدة العمل التطوعي. فهم وإدارة هذه التوقعات بشكل فعال يساعد في بناء علاقات قوية، وتقليل المخاطر، وضمان نجاح مهام وحدة العمل التطوعي. </a:t>
            </a:r>
            <a:endParaRPr/>
          </a:p>
        </p:txBody>
      </p:sp>
      <p:graphicFrame>
        <p:nvGraphicFramePr>
          <p:cNvPr id="145" name="Google Shape;145;p4"/>
          <p:cNvGraphicFramePr/>
          <p:nvPr/>
        </p:nvGraphicFramePr>
        <p:xfrm>
          <a:off x="513709" y="2499433"/>
          <a:ext cx="3000000" cy="3000000"/>
        </p:xfrm>
        <a:graphic>
          <a:graphicData uri="http://schemas.openxmlformats.org/drawingml/2006/table">
            <a:tbl>
              <a:tblPr>
                <a:noFill/>
                <a:tableStyleId>{E498DA62-9057-4D8C-BA5C-EEBBFE029288}</a:tableStyleId>
              </a:tblPr>
              <a:tblGrid>
                <a:gridCol w="1668475"/>
                <a:gridCol w="3925850"/>
                <a:gridCol w="1668475"/>
                <a:gridCol w="3925850"/>
              </a:tblGrid>
              <a:tr h="380575">
                <a:tc gridSpan="2">
                  <a:txBody>
                    <a:bodyPr/>
                    <a:lstStyle/>
                    <a:p>
                      <a:pPr indent="0" lvl="0" marL="0" marR="0" rtl="1" algn="ctr">
                        <a:spcBef>
                          <a:spcPts val="0"/>
                        </a:spcBef>
                        <a:spcAft>
                          <a:spcPts val="0"/>
                        </a:spcAft>
                        <a:buNone/>
                      </a:pPr>
                      <a:r>
                        <a:rPr b="1" lang="ar-SA" sz="1200" u="none" cap="none" strike="noStrike">
                          <a:solidFill>
                            <a:schemeClr val="lt1"/>
                          </a:solidFill>
                          <a:latin typeface="Arial"/>
                          <a:ea typeface="Arial"/>
                          <a:cs typeface="Arial"/>
                          <a:sym typeface="Arial"/>
                        </a:rPr>
                        <a:t>من صاحب المصلحة (</a:t>
                      </a:r>
                      <a:r>
                        <a:rPr b="1" lang="ar-SA" sz="1200">
                          <a:solidFill>
                            <a:schemeClr val="lt1"/>
                          </a:solidFill>
                        </a:rPr>
                        <a:t>المتطوعون</a:t>
                      </a:r>
                      <a:r>
                        <a:rPr b="1" lang="ar-SA" sz="1200" u="none" cap="none" strike="noStrike">
                          <a:solidFill>
                            <a:schemeClr val="lt1"/>
                          </a:solidFill>
                          <a:latin typeface="Arial"/>
                          <a:ea typeface="Arial"/>
                          <a:cs typeface="Arial"/>
                          <a:sym typeface="Arial"/>
                        </a:rPr>
                        <a:t>)</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04C5A"/>
                    </a:solidFill>
                  </a:tcPr>
                </a:tc>
                <a:tc hMerge="1"/>
                <a:tc gridSpan="2">
                  <a:txBody>
                    <a:bodyPr/>
                    <a:lstStyle/>
                    <a:p>
                      <a:pPr indent="0" lvl="0" marL="0" marR="0" rtl="1" algn="ctr">
                        <a:spcBef>
                          <a:spcPts val="0"/>
                        </a:spcBef>
                        <a:spcAft>
                          <a:spcPts val="0"/>
                        </a:spcAft>
                        <a:buNone/>
                      </a:pPr>
                      <a:r>
                        <a:rPr b="1" i="0" lang="ar-SA" sz="1200" u="none" cap="none" strike="noStrike">
                          <a:solidFill>
                            <a:schemeClr val="dk1"/>
                          </a:solidFill>
                          <a:latin typeface="Arial"/>
                          <a:ea typeface="Arial"/>
                          <a:cs typeface="Arial"/>
                          <a:sym typeface="Arial"/>
                        </a:rPr>
                        <a:t>من وحدة العمل التطوعي</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96CC42"/>
                    </a:solidFill>
                  </a:tcPr>
                </a:tc>
                <a:tc hMerge="1"/>
              </a:tr>
              <a:tr h="326025">
                <a:tc>
                  <a:txBody>
                    <a:bodyPr/>
                    <a:lstStyle/>
                    <a:p>
                      <a:pPr indent="0" lvl="0" marL="0" marR="0" rtl="1" algn="ctr">
                        <a:spcBef>
                          <a:spcPts val="0"/>
                        </a:spcBef>
                        <a:spcAft>
                          <a:spcPts val="0"/>
                        </a:spcAft>
                        <a:buNone/>
                      </a:pPr>
                      <a:r>
                        <a:rPr b="0" lang="ar-SA" sz="1200" u="none" cap="none" strike="noStrike">
                          <a:solidFill>
                            <a:schemeClr val="lt1"/>
                          </a:solidFill>
                          <a:latin typeface="Arial"/>
                          <a:ea typeface="Arial"/>
                          <a:cs typeface="Arial"/>
                          <a:sym typeface="Arial"/>
                        </a:rPr>
                        <a:t>التوقع</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b="0" lang="ar-SA" sz="1200" u="none" cap="none" strike="noStrike">
                          <a:solidFill>
                            <a:schemeClr val="lt1"/>
                          </a:solidFill>
                          <a:latin typeface="Arial"/>
                          <a:ea typeface="Arial"/>
                          <a:cs typeface="Arial"/>
                          <a:sym typeface="Arial"/>
                        </a:rPr>
                        <a:t>الوصف</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التوقع</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96CC42"/>
                    </a:solidFill>
                  </a:tcPr>
                </a:tc>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الوصف</a:t>
                      </a:r>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96CC42"/>
                    </a:solidFill>
                  </a:tcPr>
                </a:tc>
              </a:tr>
              <a:tr h="380575">
                <a:tc>
                  <a:txBody>
                    <a:bodyPr/>
                    <a:lstStyle/>
                    <a:p>
                      <a:pPr indent="0" lvl="0" marL="0" rtl="1" algn="just">
                        <a:spcBef>
                          <a:spcPts val="0"/>
                        </a:spcBef>
                        <a:spcAft>
                          <a:spcPts val="0"/>
                        </a:spcAft>
                        <a:buNone/>
                      </a:pPr>
                      <a:r>
                        <a:rPr lang="ar-SA" sz="1100">
                          <a:solidFill>
                            <a:schemeClr val="dk1"/>
                          </a:solidFill>
                        </a:rPr>
                        <a:t>التقدير والاعتراف</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Clr>
                          <a:schemeClr val="dk1"/>
                        </a:buClr>
                        <a:buFont typeface="Arial"/>
                        <a:buNone/>
                      </a:pPr>
                      <a:r>
                        <a:rPr lang="ar-SA" sz="1100">
                          <a:solidFill>
                            <a:schemeClr val="dk1"/>
                          </a:solidFill>
                        </a:rPr>
                        <a:t>ساعات تطوعية موثقة، تكريم</a:t>
                      </a:r>
                      <a:endParaRPr sz="1100">
                        <a:solidFill>
                          <a:schemeClr val="dk1"/>
                        </a:solidFill>
                      </a:endParaRPr>
                    </a:p>
                    <a:p>
                      <a:pPr indent="0" lvl="0" marL="0" marR="0" rtl="1" algn="just">
                        <a:spcBef>
                          <a:spcPts val="0"/>
                        </a:spcBef>
                        <a:spcAft>
                          <a:spcPts val="0"/>
                        </a:spcAft>
                        <a:buNone/>
                      </a:pPr>
                      <a:r>
                        <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ctr">
                        <a:spcBef>
                          <a:spcPts val="0"/>
                        </a:spcBef>
                        <a:spcAft>
                          <a:spcPts val="0"/>
                        </a:spcAft>
                        <a:buNone/>
                      </a:pPr>
                      <a:r>
                        <a:rPr lang="ar-SA" sz="1100"/>
                        <a:t>الالتزام بالانظمة</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rPr lang="ar-SA" sz="1100"/>
                        <a:t>الالتزام بالسياسات والانظمة المعتمدة للعمل التطوعي داخل الجمعية</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439375">
                <a:tc>
                  <a:txBody>
                    <a:bodyPr/>
                    <a:lstStyle/>
                    <a:p>
                      <a:pPr indent="0" lvl="0" marL="0" rtl="1" algn="just">
                        <a:spcBef>
                          <a:spcPts val="0"/>
                        </a:spcBef>
                        <a:spcAft>
                          <a:spcPts val="0"/>
                        </a:spcAft>
                        <a:buNone/>
                      </a:pPr>
                      <a:r>
                        <a:rPr lang="ar-SA" sz="1100">
                          <a:solidFill>
                            <a:schemeClr val="dk1"/>
                          </a:solidFill>
                        </a:rPr>
                        <a:t>تطوير المهارات</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Clr>
                          <a:schemeClr val="dk1"/>
                        </a:buClr>
                        <a:buFont typeface="Arial"/>
                        <a:buNone/>
                      </a:pPr>
                      <a:r>
                        <a:rPr lang="ar-SA" sz="1100">
                          <a:solidFill>
                            <a:schemeClr val="dk1"/>
                          </a:solidFill>
                        </a:rPr>
                        <a:t>اكتساب خبرات عملية حقيقية</a:t>
                      </a:r>
                      <a:endParaRPr sz="1100">
                        <a:solidFill>
                          <a:schemeClr val="dk1"/>
                        </a:solidFill>
                      </a:endParaRPr>
                    </a:p>
                    <a:p>
                      <a:pPr indent="0" lvl="0" marL="0" marR="0" rtl="1" algn="just">
                        <a:spcBef>
                          <a:spcPts val="0"/>
                        </a:spcBef>
                        <a:spcAft>
                          <a:spcPts val="0"/>
                        </a:spcAft>
                        <a:buNone/>
                      </a:pPr>
                      <a:r>
                        <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ctr">
                        <a:spcBef>
                          <a:spcPts val="0"/>
                        </a:spcBef>
                        <a:spcAft>
                          <a:spcPts val="0"/>
                        </a:spcAft>
                        <a:buNone/>
                      </a:pPr>
                      <a:r>
                        <a:rPr lang="ar-SA" sz="1100"/>
                        <a:t>احترام الوقت</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rPr lang="ar-SA" sz="1100"/>
                        <a:t>احترام تنفيذ المهام المتفق عليها مع المشرف الفني</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80575">
                <a:tc>
                  <a:txBody>
                    <a:bodyPr/>
                    <a:lstStyle/>
                    <a:p>
                      <a:pPr indent="0" lvl="0" marL="0" rtl="1" algn="just">
                        <a:spcBef>
                          <a:spcPts val="0"/>
                        </a:spcBef>
                        <a:spcAft>
                          <a:spcPts val="0"/>
                        </a:spcAft>
                        <a:buNone/>
                      </a:pPr>
                      <a:r>
                        <a:rPr lang="ar-SA" sz="1100">
                          <a:solidFill>
                            <a:schemeClr val="dk1"/>
                          </a:solidFill>
                        </a:rPr>
                        <a:t>وضوح الأدوار</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None/>
                      </a:pPr>
                      <a:r>
                        <a:rPr lang="ar-SA" sz="1100">
                          <a:solidFill>
                            <a:schemeClr val="dk1"/>
                          </a:solidFill>
                        </a:rPr>
                        <a:t>وجود مهام واضحة وتوجيه مباشر</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92950">
                <a:tc>
                  <a:txBody>
                    <a:bodyPr/>
                    <a:lstStyle/>
                    <a:p>
                      <a:pPr indent="0" lvl="0" marL="0" marR="0" rtl="1" algn="ctr">
                        <a:spcBef>
                          <a:spcPts val="0"/>
                        </a:spcBef>
                        <a:spcAft>
                          <a:spcPts val="0"/>
                        </a:spcAft>
                        <a:buNone/>
                      </a:pPr>
                      <a:r>
                        <a:t/>
                      </a:r>
                      <a:endParaRPr sz="1100">
                        <a:solidFill>
                          <a:schemeClr val="dk1"/>
                        </a:solidFil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80575">
                <a:tc>
                  <a:txBody>
                    <a:bodyPr/>
                    <a:lstStyle/>
                    <a:p>
                      <a:pPr indent="0" lvl="0" marL="0" marR="0" rtl="1" algn="ctr">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80575">
                <a:tc>
                  <a:txBody>
                    <a:bodyPr/>
                    <a:lstStyle/>
                    <a:p>
                      <a:pPr indent="0" lvl="0" marL="0" marR="0" rtl="1" algn="ctr">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92950">
                <a:tc>
                  <a:txBody>
                    <a:bodyPr/>
                    <a:lstStyle/>
                    <a:p>
                      <a:pPr indent="0" lvl="0" marL="0" marR="0" rtl="1" algn="ctr">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chemeClr val="dk1"/>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just">
                        <a:spcBef>
                          <a:spcPts val="0"/>
                        </a:spcBef>
                        <a:spcAft>
                          <a:spcPts val="0"/>
                        </a:spcAft>
                        <a:buNone/>
                      </a:pPr>
                      <a:r>
                        <a:t/>
                      </a:r>
                      <a:endParaRPr b="0" i="0" sz="1100" u="none" cap="none" strike="noStrike">
                        <a:solidFill>
                          <a:srgbClr val="000000"/>
                        </a:solidFill>
                        <a:latin typeface="Arial"/>
                        <a:ea typeface="Arial"/>
                        <a:cs typeface="Arial"/>
                        <a:sym typeface="Arial"/>
                      </a:endParaRPr>
                    </a:p>
                  </a:txBody>
                  <a:tcPr marT="4100" marB="0" marR="4100" marL="4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5"/>
          <p:cNvSpPr txBox="1"/>
          <p:nvPr/>
        </p:nvSpPr>
        <p:spPr>
          <a:xfrm>
            <a:off x="4522343" y="390338"/>
            <a:ext cx="7180032" cy="76944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نموذج مصفوفة  أصحاب المصلحة </a:t>
            </a:r>
            <a:endParaRPr/>
          </a:p>
        </p:txBody>
      </p:sp>
      <p:graphicFrame>
        <p:nvGraphicFramePr>
          <p:cNvPr id="151" name="Google Shape;151;p5"/>
          <p:cNvGraphicFramePr/>
          <p:nvPr/>
        </p:nvGraphicFramePr>
        <p:xfrm>
          <a:off x="306512" y="2347645"/>
          <a:ext cx="3000000" cy="3000000"/>
        </p:xfrm>
        <a:graphic>
          <a:graphicData uri="http://schemas.openxmlformats.org/drawingml/2006/table">
            <a:tbl>
              <a:tblPr>
                <a:noFill/>
                <a:tableStyleId>{E498DA62-9057-4D8C-BA5C-EEBBFE029288}</a:tableStyleId>
              </a:tblPr>
              <a:tblGrid>
                <a:gridCol w="983775"/>
                <a:gridCol w="1087400"/>
                <a:gridCol w="1203050"/>
                <a:gridCol w="1122850"/>
                <a:gridCol w="1203050"/>
                <a:gridCol w="1203050"/>
                <a:gridCol w="1203050"/>
                <a:gridCol w="1283275"/>
                <a:gridCol w="2289425"/>
              </a:tblGrid>
              <a:tr h="327750">
                <a:tc gridSpan="8">
                  <a:txBody>
                    <a:bodyPr/>
                    <a:lstStyle/>
                    <a:p>
                      <a:pPr indent="0" lvl="0" marL="0" marR="0" rtl="1" algn="ctr">
                        <a:spcBef>
                          <a:spcPts val="0"/>
                        </a:spcBef>
                        <a:spcAft>
                          <a:spcPts val="0"/>
                        </a:spcAft>
                        <a:buNone/>
                      </a:pPr>
                      <a:r>
                        <a:rPr b="0" lang="ar-SA" sz="1800" u="none" cap="none" strike="noStrike">
                          <a:solidFill>
                            <a:schemeClr val="dk1"/>
                          </a:solidFill>
                          <a:latin typeface="Arial"/>
                          <a:ea typeface="Arial"/>
                          <a:cs typeface="Arial"/>
                          <a:sym typeface="Arial"/>
                        </a:rPr>
                        <a:t>أصحاب المصلحة الرئيسيين</a:t>
                      </a:r>
                      <a:endParaRPr b="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hMerge="1"/>
                <a:tc hMerge="1"/>
                <a:tc hMerge="1"/>
                <a:tc hMerge="1"/>
                <a:tc hMerge="1"/>
                <a:tc rowSpan="2">
                  <a:txBody>
                    <a:bodyPr/>
                    <a:lstStyle/>
                    <a:p>
                      <a:pPr indent="0" lvl="0" marL="0" marR="0" rtl="1" algn="ctr">
                        <a:spcBef>
                          <a:spcPts val="0"/>
                        </a:spcBef>
                        <a:spcAft>
                          <a:spcPts val="0"/>
                        </a:spcAft>
                        <a:buNone/>
                      </a:pPr>
                      <a:r>
                        <a:rPr b="0" lang="ar-SA" sz="2000" u="none" cap="none" strike="noStrike">
                          <a:solidFill>
                            <a:schemeClr val="dk1"/>
                          </a:solidFill>
                          <a:latin typeface="Arial"/>
                          <a:ea typeface="Arial"/>
                          <a:cs typeface="Arial"/>
                          <a:sym typeface="Arial"/>
                        </a:rPr>
                        <a:t>نطاقات التطوع</a:t>
                      </a:r>
                      <a:endParaRPr b="0" sz="20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96CC42"/>
                    </a:solidFill>
                  </a:tcPr>
                </a:tc>
              </a:tr>
              <a:tr h="618175">
                <a:tc>
                  <a:txBody>
                    <a:bodyPr/>
                    <a:lstStyle/>
                    <a:p>
                      <a:pPr indent="0" lvl="0" marL="0" marR="0" rtl="1" algn="ctr">
                        <a:spcBef>
                          <a:spcPts val="0"/>
                        </a:spcBef>
                        <a:spcAft>
                          <a:spcPts val="0"/>
                        </a:spcAft>
                        <a:buNone/>
                      </a:pPr>
                      <a:r>
                        <a:t/>
                      </a:r>
                      <a:endParaRPr b="0" sz="12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t/>
                      </a:r>
                      <a:endParaRPr b="0" sz="12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الشركاء</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المانحون</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المتطوعون</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وحدة التطوع</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الإدارة التنفيذية</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a:txBody>
                    <a:bodyPr/>
                    <a:lstStyle/>
                    <a:p>
                      <a:pPr indent="0" lvl="0" marL="0" marR="0" rtl="1" algn="ctr">
                        <a:spcBef>
                          <a:spcPts val="0"/>
                        </a:spcBef>
                        <a:spcAft>
                          <a:spcPts val="0"/>
                        </a:spcAft>
                        <a:buNone/>
                      </a:pPr>
                      <a:r>
                        <a:rPr lang="ar-SA" sz="1200">
                          <a:solidFill>
                            <a:schemeClr val="lt1"/>
                          </a:solidFill>
                        </a:rPr>
                        <a:t>مجلس الإدارة</a:t>
                      </a:r>
                      <a:endParaRPr b="0" sz="12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104C5A"/>
                    </a:solidFill>
                  </a:tcPr>
                </a:tc>
                <a:tc vMerge="1"/>
              </a:tr>
              <a:tr h="384225">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R</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C</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A</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1. التخطيط والتعزيز </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r h="672400">
                <a:tc>
                  <a:txBody>
                    <a:bodyPr/>
                    <a:lstStyle/>
                    <a:p>
                      <a:pPr indent="0" lvl="0" marL="0" marR="0" rtl="1"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C</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R</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A</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2. تصميم الفرص والاستقطاب</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r h="384225">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C</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R</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A</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3. الفرز والتسكين</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r h="384225">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R</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A</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I</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4. التوجيه والتدريب</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r h="384225">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ar-SA" sz="1600">
                          <a:solidFill>
                            <a:srgbClr val="006E62"/>
                          </a:solidFill>
                        </a:rPr>
                        <a:t>R</a:t>
                      </a:r>
                      <a:endParaRPr b="0" i="0" sz="1600" u="none" cap="none" strike="noStrike">
                        <a:solidFill>
                          <a:srgbClr val="006E62"/>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spcBef>
                          <a:spcPts val="0"/>
                        </a:spcBef>
                        <a:spcAft>
                          <a:spcPts val="0"/>
                        </a:spcAft>
                        <a:buNone/>
                      </a:pPr>
                      <a:r>
                        <a:rPr lang="ar-SA" sz="1800"/>
                        <a:t>A</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5. الدعم والإشراف</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r h="384225">
                <a:tc>
                  <a:txBody>
                    <a:bodyPr/>
                    <a:lstStyle/>
                    <a:p>
                      <a:pPr indent="0" lvl="0" marL="0" marR="0" rtl="1"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ctr">
                        <a:spcBef>
                          <a:spcPts val="0"/>
                        </a:spcBef>
                        <a:spcAft>
                          <a:spcPts val="0"/>
                        </a:spcAft>
                        <a:buNone/>
                      </a:pPr>
                      <a:r>
                        <a:t/>
                      </a:r>
                      <a:endParaRPr b="0" sz="18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I</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R</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A</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ar-SA"/>
                        <a:t>C</a:t>
                      </a:r>
                      <a:endParaRPr b="0" i="0" sz="14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c>
                  <a:txBody>
                    <a:bodyPr/>
                    <a:lstStyle/>
                    <a:p>
                      <a:pPr indent="0" lvl="0" marL="0" marR="0" rtl="1" algn="just">
                        <a:spcBef>
                          <a:spcPts val="0"/>
                        </a:spcBef>
                        <a:spcAft>
                          <a:spcPts val="0"/>
                        </a:spcAft>
                        <a:buNone/>
                      </a:pPr>
                      <a:r>
                        <a:rPr b="0" lang="ar-SA" sz="1800" u="none" cap="none" strike="noStrike">
                          <a:latin typeface="Arial"/>
                          <a:ea typeface="Arial"/>
                          <a:cs typeface="Arial"/>
                          <a:sym typeface="Arial"/>
                        </a:rPr>
                        <a:t>6. التكريم والتقدير</a:t>
                      </a:r>
                      <a:endParaRPr b="0" sz="1800" u="none" cap="none" strike="noStrike">
                        <a:latin typeface="Arial"/>
                        <a:ea typeface="Arial"/>
                        <a:cs typeface="Arial"/>
                        <a:sym typeface="Aria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6F6F6"/>
                    </a:solidFill>
                  </a:tcPr>
                </a:tc>
              </a:tr>
            </a:tbl>
          </a:graphicData>
        </a:graphic>
      </p:graphicFrame>
      <p:sp>
        <p:nvSpPr>
          <p:cNvPr id="152" name="Google Shape;152;p5"/>
          <p:cNvSpPr txBox="1"/>
          <p:nvPr/>
        </p:nvSpPr>
        <p:spPr>
          <a:xfrm>
            <a:off x="306512" y="1303357"/>
            <a:ext cx="11578975" cy="923330"/>
          </a:xfrm>
          <a:prstGeom prst="rect">
            <a:avLst/>
          </a:prstGeom>
          <a:noFill/>
          <a:ln>
            <a:noFill/>
          </a:ln>
        </p:spPr>
        <p:txBody>
          <a:bodyPr anchorCtr="0" anchor="t" bIns="45700" lIns="91425" spcFirstLastPara="1" rIns="91425" wrap="square" tIns="45700">
            <a:spAutoFit/>
          </a:bodyPr>
          <a:lstStyle/>
          <a:p>
            <a:pPr indent="0" lvl="0" marL="0" marR="0" rtl="1" algn="just">
              <a:lnSpc>
                <a:spcPct val="150000"/>
              </a:lnSpc>
              <a:spcBef>
                <a:spcPts val="0"/>
              </a:spcBef>
              <a:spcAft>
                <a:spcPts val="0"/>
              </a:spcAft>
              <a:buNone/>
            </a:pPr>
            <a:r>
              <a:rPr b="0" i="0" lang="ar-SA" sz="1800" u="none" cap="none" strike="noStrike">
                <a:solidFill>
                  <a:srgbClr val="000000"/>
                </a:solidFill>
                <a:latin typeface="Arial"/>
                <a:ea typeface="Arial"/>
                <a:cs typeface="Arial"/>
                <a:sym typeface="Arial"/>
              </a:rPr>
              <a:t>أدوار أصحاب المصلحة لوحدة العمل التطوعي مرتكزة على نطاقات العمل التطوعي المعتمدة في المعيار الوطني (إدامة) وسيتم توصيف كل دور من حيث ارتباطه بأصحاب المصلحة وفقاً لمصفوفة RACI</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6"/>
          <p:cNvSpPr txBox="1"/>
          <p:nvPr/>
        </p:nvSpPr>
        <p:spPr>
          <a:xfrm>
            <a:off x="4522343" y="390338"/>
            <a:ext cx="7180032" cy="73379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نموذج تلبية توقعات أصحاب المصلحة</a:t>
            </a:r>
            <a:endParaRPr b="0" i="0" sz="3200" u="none" cap="none" strike="noStrike">
              <a:solidFill>
                <a:srgbClr val="FFFFFF"/>
              </a:solidFill>
              <a:latin typeface="Arial"/>
              <a:ea typeface="Arial"/>
              <a:cs typeface="Arial"/>
              <a:sym typeface="Arial"/>
            </a:endParaRPr>
          </a:p>
        </p:txBody>
      </p:sp>
      <p:graphicFrame>
        <p:nvGraphicFramePr>
          <p:cNvPr id="159" name="Google Shape;159;p6"/>
          <p:cNvGraphicFramePr/>
          <p:nvPr/>
        </p:nvGraphicFramePr>
        <p:xfrm>
          <a:off x="770559" y="1364967"/>
          <a:ext cx="3000000" cy="3000000"/>
        </p:xfrm>
        <a:graphic>
          <a:graphicData uri="http://schemas.openxmlformats.org/drawingml/2006/table">
            <a:tbl>
              <a:tblPr>
                <a:noFill/>
                <a:tableStyleId>{E498DA62-9057-4D8C-BA5C-EEBBFE029288}</a:tableStyleId>
              </a:tblPr>
              <a:tblGrid>
                <a:gridCol w="356625"/>
                <a:gridCol w="1355225"/>
                <a:gridCol w="1569200"/>
                <a:gridCol w="515850"/>
                <a:gridCol w="641925"/>
                <a:gridCol w="515850"/>
                <a:gridCol w="515850"/>
                <a:gridCol w="515850"/>
                <a:gridCol w="515850"/>
                <a:gridCol w="1569200"/>
                <a:gridCol w="1569200"/>
                <a:gridCol w="1569200"/>
              </a:tblGrid>
              <a:tr h="394475">
                <a:tc rowSpan="2">
                  <a:txBody>
                    <a:bodyPr/>
                    <a:lstStyle/>
                    <a:p>
                      <a:pPr indent="0" lvl="0" marL="0" marR="0" rtl="1" algn="ctr">
                        <a:spcBef>
                          <a:spcPts val="0"/>
                        </a:spcBef>
                        <a:spcAft>
                          <a:spcPts val="0"/>
                        </a:spcAft>
                        <a:buNone/>
                      </a:pPr>
                      <a:r>
                        <a:rPr b="0" i="0" lang="ar-SA" sz="1500" u="none" cap="none" strike="noStrike">
                          <a:solidFill>
                            <a:schemeClr val="lt1"/>
                          </a:solidFill>
                          <a:latin typeface="Arial"/>
                          <a:ea typeface="Arial"/>
                          <a:cs typeface="Arial"/>
                          <a:sym typeface="Arial"/>
                        </a:rPr>
                        <a:t>م</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rowSpan="2">
                  <a:txBody>
                    <a:bodyPr/>
                    <a:lstStyle/>
                    <a:p>
                      <a:pPr indent="0" lvl="0" marL="0" marR="0" rtl="1" algn="ctr">
                        <a:spcBef>
                          <a:spcPts val="0"/>
                        </a:spcBef>
                        <a:spcAft>
                          <a:spcPts val="0"/>
                        </a:spcAft>
                        <a:buNone/>
                      </a:pPr>
                      <a:r>
                        <a:rPr b="0" i="0" lang="ar-SA" sz="1400" u="none" cap="none" strike="noStrike">
                          <a:solidFill>
                            <a:schemeClr val="lt1"/>
                          </a:solidFill>
                          <a:latin typeface="Arial"/>
                          <a:ea typeface="Arial"/>
                          <a:cs typeface="Arial"/>
                          <a:sym typeface="Arial"/>
                        </a:rPr>
                        <a:t>صاحب المصلحة</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rowSpan="2">
                  <a:txBody>
                    <a:bodyPr/>
                    <a:lstStyle/>
                    <a:p>
                      <a:pPr indent="0" lvl="0" marL="0" marR="0" rtl="1" algn="ctr">
                        <a:spcBef>
                          <a:spcPts val="0"/>
                        </a:spcBef>
                        <a:spcAft>
                          <a:spcPts val="0"/>
                        </a:spcAft>
                        <a:buNone/>
                      </a:pPr>
                      <a:r>
                        <a:rPr b="0" i="0" lang="ar-SA" sz="1400" u="none" cap="none" strike="noStrike">
                          <a:solidFill>
                            <a:schemeClr val="lt1"/>
                          </a:solidFill>
                          <a:latin typeface="Arial"/>
                          <a:ea typeface="Arial"/>
                          <a:cs typeface="Arial"/>
                          <a:sym typeface="Arial"/>
                        </a:rPr>
                        <a:t>توقعات صاحب المصلحة من وحدة العمل التطوعي</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gridSpan="6">
                  <a:txBody>
                    <a:bodyPr/>
                    <a:lstStyle/>
                    <a:p>
                      <a:pPr indent="0" lvl="0" marL="0" marR="0" rtl="1" algn="ctr">
                        <a:spcBef>
                          <a:spcPts val="0"/>
                        </a:spcBef>
                        <a:spcAft>
                          <a:spcPts val="0"/>
                        </a:spcAft>
                        <a:buNone/>
                      </a:pPr>
                      <a:r>
                        <a:rPr b="0" i="0" lang="ar-SA" sz="1500" u="none" cap="none" strike="noStrike">
                          <a:solidFill>
                            <a:schemeClr val="lt1"/>
                          </a:solidFill>
                          <a:latin typeface="Arial"/>
                          <a:ea typeface="Arial"/>
                          <a:cs typeface="Arial"/>
                          <a:sym typeface="Arial"/>
                        </a:rPr>
                        <a:t>ارتباط التوقعات بنطاقات التطوع </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hMerge="1"/>
                <a:tc hMerge="1"/>
                <a:tc hMerge="1"/>
                <a:tc hMerge="1"/>
                <a:tc hMerge="1"/>
                <a:tc rowSpan="2">
                  <a:txBody>
                    <a:bodyPr/>
                    <a:lstStyle/>
                    <a:p>
                      <a:pPr indent="0" lvl="0" marL="0" marR="0" rtl="1" algn="ctr">
                        <a:spcBef>
                          <a:spcPts val="0"/>
                        </a:spcBef>
                        <a:spcAft>
                          <a:spcPts val="0"/>
                        </a:spcAft>
                        <a:buNone/>
                      </a:pPr>
                      <a:r>
                        <a:rPr b="0" i="0" lang="ar-SA" sz="1400" u="none" cap="none" strike="noStrike">
                          <a:solidFill>
                            <a:schemeClr val="lt1"/>
                          </a:solidFill>
                          <a:latin typeface="Arial"/>
                          <a:ea typeface="Arial"/>
                          <a:cs typeface="Arial"/>
                          <a:sym typeface="Arial"/>
                        </a:rPr>
                        <a:t>توقعات وحدة التطوع من صاحب المصلحة</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rowSpan="2">
                  <a:txBody>
                    <a:bodyPr/>
                    <a:lstStyle/>
                    <a:p>
                      <a:pPr indent="0" lvl="0" marL="0" marR="0" rtl="1" algn="ctr">
                        <a:spcBef>
                          <a:spcPts val="0"/>
                        </a:spcBef>
                        <a:spcAft>
                          <a:spcPts val="0"/>
                        </a:spcAft>
                        <a:buNone/>
                      </a:pPr>
                      <a:r>
                        <a:rPr b="0" i="0" lang="ar-SA" sz="1400" u="none" cap="none" strike="noStrike">
                          <a:solidFill>
                            <a:schemeClr val="lt1"/>
                          </a:solidFill>
                          <a:latin typeface="Arial"/>
                          <a:ea typeface="Arial"/>
                          <a:cs typeface="Arial"/>
                          <a:sym typeface="Arial"/>
                        </a:rPr>
                        <a:t>إجراءات وحدة التطوع لتلبية توقعات أصحاب المصلحة </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rowSpan="2">
                  <a:txBody>
                    <a:bodyPr/>
                    <a:lstStyle/>
                    <a:p>
                      <a:pPr indent="0" lvl="0" marL="0" marR="0" rtl="1" algn="ctr">
                        <a:spcBef>
                          <a:spcPts val="0"/>
                        </a:spcBef>
                        <a:spcAft>
                          <a:spcPts val="0"/>
                        </a:spcAft>
                        <a:buNone/>
                      </a:pPr>
                      <a:r>
                        <a:rPr lang="ar-SA">
                          <a:solidFill>
                            <a:schemeClr val="lt1"/>
                          </a:solidFill>
                        </a:rPr>
                        <a:t>مؤشرات اداء</a:t>
                      </a:r>
                      <a:endParaRPr b="0" i="0" sz="1400" u="none" cap="none" strike="noStrike">
                        <a:solidFill>
                          <a:schemeClr val="lt1"/>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r>
              <a:tr h="789000">
                <a:tc vMerge="1"/>
                <a:tc vMerge="1"/>
                <a:tc vMerge="1"/>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التخطيط والتعزيز </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تصميم الفرص والاستقطاب</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الفرز والتسكين</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التوجيه والتدريب</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الدعم والإشراف</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a:txBody>
                    <a:bodyPr/>
                    <a:lstStyle/>
                    <a:p>
                      <a:pPr indent="0" lvl="0" marL="0" marR="0" rtl="1" algn="ctr">
                        <a:spcBef>
                          <a:spcPts val="0"/>
                        </a:spcBef>
                        <a:spcAft>
                          <a:spcPts val="0"/>
                        </a:spcAft>
                        <a:buNone/>
                      </a:pPr>
                      <a:r>
                        <a:rPr b="0" i="0" lang="ar-SA" sz="1050" u="none" cap="none" strike="noStrike">
                          <a:solidFill>
                            <a:schemeClr val="dk1"/>
                          </a:solidFill>
                          <a:latin typeface="Arial"/>
                          <a:ea typeface="Arial"/>
                          <a:cs typeface="Arial"/>
                          <a:sym typeface="Arial"/>
                        </a:rPr>
                        <a:t>التكريم والتقدير</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FBFC0"/>
                    </a:solidFill>
                  </a:tcPr>
                </a:tc>
                <a:tc vMerge="1"/>
                <a:tc vMerge="1"/>
                <a:tc vMerge="1"/>
              </a:tr>
              <a:tr h="1727275">
                <a:tc>
                  <a:txBody>
                    <a:bodyPr/>
                    <a:lstStyle/>
                    <a:p>
                      <a:pPr indent="0" lvl="0" marL="0" marR="0" rtl="0" algn="ctr">
                        <a:spcBef>
                          <a:spcPts val="0"/>
                        </a:spcBef>
                        <a:spcAft>
                          <a:spcPts val="0"/>
                        </a:spcAft>
                        <a:buNone/>
                      </a:pPr>
                      <a:r>
                        <a:rPr b="0" i="0" lang="ar-SA" sz="1700" u="none" cap="none" strike="noStrike">
                          <a:solidFill>
                            <a:srgbClr val="000000"/>
                          </a:solidFill>
                          <a:latin typeface="Arial"/>
                          <a:ea typeface="Arial"/>
                          <a:cs typeface="Arial"/>
                          <a:sym typeface="Arial"/>
                        </a:rPr>
                        <a:t> 1</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700"/>
                        <a:t>المتطوعون</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Clr>
                          <a:schemeClr val="dk1"/>
                        </a:buClr>
                        <a:buFont typeface="Arial"/>
                        <a:buNone/>
                      </a:pPr>
                      <a:r>
                        <a:rPr lang="ar-SA" sz="1700">
                          <a:solidFill>
                            <a:schemeClr val="dk1"/>
                          </a:solidFill>
                        </a:rPr>
                        <a:t>وضوح الأدوار</a:t>
                      </a:r>
                      <a:endParaRPr sz="1700">
                        <a:solidFill>
                          <a:schemeClr val="dk1"/>
                        </a:solidFill>
                      </a:endParaRPr>
                    </a:p>
                    <a:p>
                      <a:pPr indent="0" lvl="0" marL="0" marR="0" rtl="1" algn="ctr">
                        <a:spcBef>
                          <a:spcPts val="0"/>
                        </a:spcBef>
                        <a:spcAft>
                          <a:spcPts val="0"/>
                        </a:spcAft>
                        <a:buNone/>
                      </a:pPr>
                      <a:r>
                        <a:t/>
                      </a:r>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ar-SA" sz="1300" u="none" cap="none" strike="noStrike">
                          <a:solidFill>
                            <a:srgbClr val="000000"/>
                          </a:solidFill>
                          <a:latin typeface="Arial"/>
                          <a:ea typeface="Arial"/>
                          <a:cs typeface="Arial"/>
                          <a:sym typeface="Arial"/>
                        </a:rPr>
                        <a:t> </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b="0" i="0" lang="ar-SA" sz="1300" u="none" cap="none" strike="noStrike">
                          <a:solidFill>
                            <a:srgbClr val="000000"/>
                          </a:solidFill>
                          <a:latin typeface="Arial"/>
                          <a:ea typeface="Arial"/>
                          <a:cs typeface="Arial"/>
                          <a:sym typeface="Arial"/>
                        </a:rPr>
                        <a:t> ارتباط عالي</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b="0" i="0" lang="ar-SA" sz="1300" u="none" cap="none" strike="noStrike">
                          <a:solidFill>
                            <a:srgbClr val="000000"/>
                          </a:solidFill>
                          <a:latin typeface="Arial"/>
                          <a:ea typeface="Arial"/>
                          <a:cs typeface="Arial"/>
                          <a:sym typeface="Arial"/>
                        </a:rPr>
                        <a:t> </a:t>
                      </a:r>
                      <a:r>
                        <a:rPr lang="ar-SA" sz="1300">
                          <a:solidFill>
                            <a:schemeClr val="dk1"/>
                          </a:solidFill>
                        </a:rPr>
                        <a:t> ارتباط عالي</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ar-SA" sz="1300" u="none" cap="none" strike="noStrike">
                          <a:solidFill>
                            <a:srgbClr val="000000"/>
                          </a:solidFill>
                          <a:latin typeface="Arial"/>
                          <a:ea typeface="Arial"/>
                          <a:cs typeface="Arial"/>
                          <a:sym typeface="Arial"/>
                        </a:rPr>
                        <a:t> </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i="0" lang="ar-SA" sz="1300" u="none" cap="none" strike="noStrike">
                          <a:solidFill>
                            <a:srgbClr val="000000"/>
                          </a:solidFill>
                          <a:latin typeface="Arial"/>
                          <a:ea typeface="Arial"/>
                          <a:cs typeface="Arial"/>
                          <a:sym typeface="Arial"/>
                        </a:rPr>
                        <a:t> </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700">
                          <a:solidFill>
                            <a:schemeClr val="dk1"/>
                          </a:solidFill>
                        </a:rPr>
                        <a:t>التقيد بالمهام الموكلة في الوصف الوظيفي وعدم تجاوز الصلاحيات</a:t>
                      </a:r>
                      <a:endParaRPr sz="17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SzPts val="1100"/>
                        <a:buNone/>
                      </a:pPr>
                      <a:r>
                        <a:rPr lang="ar-SA" sz="1100">
                          <a:solidFill>
                            <a:schemeClr val="dk1"/>
                          </a:solidFill>
                        </a:rPr>
                        <a:t>• توفير "بطاقة وصف وظيفي" لكل فرصة.</a:t>
                      </a:r>
                      <a:endParaRPr sz="1100">
                        <a:solidFill>
                          <a:schemeClr val="dk1"/>
                        </a:solidFill>
                      </a:endParaRPr>
                    </a:p>
                    <a:p>
                      <a:pPr indent="0" lvl="0" marL="0" rtl="0" algn="l">
                        <a:lnSpc>
                          <a:spcPct val="115000"/>
                        </a:lnSpc>
                        <a:spcBef>
                          <a:spcPts val="1200"/>
                        </a:spcBef>
                        <a:spcAft>
                          <a:spcPts val="0"/>
                        </a:spcAft>
                        <a:buSzPts val="1100"/>
                        <a:buNone/>
                      </a:pPr>
                      <a:r>
                        <a:rPr lang="ar-SA" sz="1100">
                          <a:solidFill>
                            <a:schemeClr val="dk1"/>
                          </a:solidFill>
                        </a:rPr>
                        <a:t>• عقد لقاء تعريفي قبل كل مهمة.</a:t>
                      </a:r>
                      <a:endParaRPr sz="1100">
                        <a:solidFill>
                          <a:schemeClr val="dk1"/>
                        </a:solidFill>
                      </a:endParaRPr>
                    </a:p>
                    <a:p>
                      <a:pPr indent="0" lvl="0" marL="0" rtl="0" algn="l">
                        <a:lnSpc>
                          <a:spcPct val="115000"/>
                        </a:lnSpc>
                        <a:spcBef>
                          <a:spcPts val="1200"/>
                        </a:spcBef>
                        <a:spcAft>
                          <a:spcPts val="1200"/>
                        </a:spcAft>
                        <a:buSzPts val="1100"/>
                        <a:buNone/>
                      </a:pPr>
                      <a:r>
                        <a:rPr lang="ar-SA" sz="1100">
                          <a:solidFill>
                            <a:schemeClr val="dk1"/>
                          </a:solidFill>
                        </a:rPr>
                        <a:t>• تزويد المتطوع بدليل سياسات العمل</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8450" lvl="0" marL="457200" rtl="1" algn="r">
                        <a:lnSpc>
                          <a:spcPct val="115000"/>
                        </a:lnSpc>
                        <a:spcBef>
                          <a:spcPts val="1200"/>
                        </a:spcBef>
                        <a:spcAft>
                          <a:spcPts val="0"/>
                        </a:spcAft>
                        <a:buClr>
                          <a:schemeClr val="dk1"/>
                        </a:buClr>
                        <a:buSzPts val="1100"/>
                        <a:buChar char="-"/>
                      </a:pPr>
                      <a:r>
                        <a:rPr lang="ar-SA" sz="1100">
                          <a:solidFill>
                            <a:schemeClr val="dk1"/>
                          </a:solidFill>
                        </a:rPr>
                        <a:t>عدد الفرص التي تم اضافة لها وصف واضح للمهام المطلوبة</a:t>
                      </a:r>
                      <a:endParaRPr sz="1100">
                        <a:solidFill>
                          <a:schemeClr val="dk1"/>
                        </a:solidFill>
                      </a:endParaRPr>
                    </a:p>
                    <a:p>
                      <a:pPr indent="-298450" lvl="0" marL="457200" rtl="1" algn="r">
                        <a:lnSpc>
                          <a:spcPct val="115000"/>
                        </a:lnSpc>
                        <a:spcBef>
                          <a:spcPts val="0"/>
                        </a:spcBef>
                        <a:spcAft>
                          <a:spcPts val="0"/>
                        </a:spcAft>
                        <a:buClr>
                          <a:schemeClr val="dk1"/>
                        </a:buClr>
                        <a:buSzPts val="1100"/>
                        <a:buChar char="-"/>
                      </a:pPr>
                      <a:r>
                        <a:rPr lang="ar-SA" sz="1100">
                          <a:solidFill>
                            <a:schemeClr val="dk1"/>
                          </a:solidFill>
                        </a:rPr>
                        <a:t>عدد اللقاءات التعريفية المنفذة</a:t>
                      </a:r>
                      <a:endParaRPr sz="1100">
                        <a:solidFill>
                          <a:schemeClr val="dk1"/>
                        </a:solidFill>
                      </a:endParaRPr>
                    </a:p>
                    <a:p>
                      <a:pPr indent="-298450" lvl="0" marL="457200" rtl="1" algn="r">
                        <a:lnSpc>
                          <a:spcPct val="115000"/>
                        </a:lnSpc>
                        <a:spcBef>
                          <a:spcPts val="0"/>
                        </a:spcBef>
                        <a:spcAft>
                          <a:spcPts val="0"/>
                        </a:spcAft>
                        <a:buClr>
                          <a:schemeClr val="dk1"/>
                        </a:buClr>
                        <a:buSzPts val="1100"/>
                        <a:buChar char="-"/>
                      </a:pPr>
                      <a:r>
                        <a:rPr lang="ar-SA" sz="1100">
                          <a:solidFill>
                            <a:schemeClr val="dk1"/>
                          </a:solidFill>
                        </a:rPr>
                        <a:t>اعتماد وتزويد المتطوعين بدليل السياسات</a:t>
                      </a:r>
                      <a:endParaRPr sz="1100">
                        <a:solidFill>
                          <a:schemeClr val="dk1"/>
                        </a:solidFil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70550">
                <a:tc>
                  <a:txBody>
                    <a:bodyPr/>
                    <a:lstStyle/>
                    <a:p>
                      <a:pPr indent="0" lvl="0" marL="0" marR="0" rtl="0" algn="ctr">
                        <a:spcBef>
                          <a:spcPts val="0"/>
                        </a:spcBef>
                        <a:spcAft>
                          <a:spcPts val="0"/>
                        </a:spcAft>
                        <a:buNone/>
                      </a:pPr>
                      <a:r>
                        <a:rPr lang="ar-SA" sz="1700"/>
                        <a:t>2</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700"/>
                        <a:t>المتطوعون</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700"/>
                        <a:t>تطوير المهارات</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Clr>
                          <a:schemeClr val="dk1"/>
                        </a:buClr>
                        <a:buFont typeface="Arial"/>
                        <a:buNone/>
                      </a:pPr>
                      <a:r>
                        <a:rPr lang="ar-SA" sz="1300">
                          <a:solidFill>
                            <a:schemeClr val="dk1"/>
                          </a:solidFill>
                        </a:rPr>
                        <a:t> ارتباط عالي</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Clr>
                          <a:schemeClr val="dk1"/>
                        </a:buClr>
                        <a:buFont typeface="Arial"/>
                        <a:buNone/>
                      </a:pPr>
                      <a:r>
                        <a:rPr lang="ar-SA" sz="1300">
                          <a:solidFill>
                            <a:schemeClr val="dk1"/>
                          </a:solidFill>
                        </a:rPr>
                        <a:t> ارتباط عالي</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700"/>
                        <a:t>نقل المعرفة المكتسبة </a:t>
                      </a:r>
                      <a:r>
                        <a:rPr lang="ar-SA" sz="1700"/>
                        <a:t>للمتطوعين</a:t>
                      </a:r>
                      <a:r>
                        <a:rPr lang="ar-SA" sz="1700"/>
                        <a:t> الجدد والمساهمة في تجويد المخرجات</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r">
                        <a:lnSpc>
                          <a:spcPct val="115000"/>
                        </a:lnSpc>
                        <a:spcBef>
                          <a:spcPts val="1200"/>
                        </a:spcBef>
                        <a:spcAft>
                          <a:spcPts val="0"/>
                        </a:spcAft>
                        <a:buClr>
                          <a:schemeClr val="dk1"/>
                        </a:buClr>
                        <a:buSzPts val="1100"/>
                        <a:buFont typeface="Arial"/>
                        <a:buNone/>
                      </a:pPr>
                      <a:r>
                        <a:rPr lang="ar-SA" sz="1000"/>
                        <a:t>• تقديم دورات تدريبية.</a:t>
                      </a:r>
                      <a:endParaRPr sz="1000"/>
                    </a:p>
                    <a:p>
                      <a:pPr indent="0" lvl="0" marL="0" rtl="0" algn="l">
                        <a:lnSpc>
                          <a:spcPct val="115000"/>
                        </a:lnSpc>
                        <a:spcBef>
                          <a:spcPts val="1200"/>
                        </a:spcBef>
                        <a:spcAft>
                          <a:spcPts val="1200"/>
                        </a:spcAft>
                        <a:buClr>
                          <a:schemeClr val="dk1"/>
                        </a:buClr>
                        <a:buSzPts val="1100"/>
                        <a:buFont typeface="Arial"/>
                        <a:buNone/>
                      </a:pPr>
                      <a:r>
                        <a:rPr lang="ar-SA" sz="1000"/>
                        <a:t>• منح فرص قيادية ف</a:t>
                      </a:r>
                      <a:r>
                        <a:rPr lang="ar-SA" sz="1000"/>
                        <a:t>ي</a:t>
                      </a:r>
                      <a:r>
                        <a:rPr lang="ar-SA" sz="1000"/>
                        <a:t> الفرق التطوعية.</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2100" lvl="0" marL="457200" rtl="1" algn="r">
                        <a:lnSpc>
                          <a:spcPct val="115000"/>
                        </a:lnSpc>
                        <a:spcBef>
                          <a:spcPts val="1200"/>
                        </a:spcBef>
                        <a:spcAft>
                          <a:spcPts val="0"/>
                        </a:spcAft>
                        <a:buSzPts val="1000"/>
                        <a:buChar char="-"/>
                      </a:pPr>
                      <a:r>
                        <a:rPr lang="ar-SA" sz="1000"/>
                        <a:t>عدد الدورات المنفذة لتطوير المتطوعين</a:t>
                      </a:r>
                      <a:endParaRPr sz="1000"/>
                    </a:p>
                    <a:p>
                      <a:pPr indent="-292100" lvl="0" marL="457200" rtl="1" algn="r">
                        <a:lnSpc>
                          <a:spcPct val="115000"/>
                        </a:lnSpc>
                        <a:spcBef>
                          <a:spcPts val="0"/>
                        </a:spcBef>
                        <a:spcAft>
                          <a:spcPts val="0"/>
                        </a:spcAft>
                        <a:buSzPts val="1000"/>
                        <a:buChar char="-"/>
                      </a:pPr>
                      <a:r>
                        <a:rPr lang="ar-SA" sz="1000"/>
                        <a:t>عدد المتطوعين الذين تم ترقيتهم من متطوع مبتدى الى مشرف او قائد فريق</a:t>
                      </a:r>
                      <a:endParaRPr sz="10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4225">
                <a:tc>
                  <a:txBody>
                    <a:bodyPr/>
                    <a:lstStyle/>
                    <a:p>
                      <a:pPr indent="0" lvl="0" marL="0" marR="0" rtl="0" algn="ctr">
                        <a:spcBef>
                          <a:spcPts val="0"/>
                        </a:spcBef>
                        <a:spcAft>
                          <a:spcPts val="0"/>
                        </a:spcAft>
                        <a:buNone/>
                      </a:pPr>
                      <a:r>
                        <a:rPr lang="ar-SA" sz="1700"/>
                        <a:t>3</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700"/>
                        <a:t>المتطوعون</a:t>
                      </a:r>
                      <a:endParaRPr b="0" i="0" sz="17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700">
                          <a:solidFill>
                            <a:schemeClr val="dk1"/>
                          </a:solidFill>
                        </a:rPr>
                        <a:t>التقدير والاعتراف</a:t>
                      </a:r>
                      <a:endParaRPr sz="17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Clr>
                          <a:schemeClr val="dk1"/>
                        </a:buClr>
                        <a:buFont typeface="Arial"/>
                        <a:buNone/>
                      </a:pPr>
                      <a:r>
                        <a:rPr lang="ar-SA" sz="1300">
                          <a:solidFill>
                            <a:schemeClr val="dk1"/>
                          </a:solidFill>
                        </a:rPr>
                        <a:t> ارتباط عالي</a:t>
                      </a:r>
                      <a:endParaRPr sz="13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1300" u="none" cap="none" strike="noStrike">
                        <a:solidFill>
                          <a:srgbClr val="000000"/>
                        </a:solidFill>
                        <a:latin typeface="Arial"/>
                        <a:ea typeface="Arial"/>
                        <a:cs typeface="Arial"/>
                        <a:sym typeface="Aria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3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Clr>
                          <a:schemeClr val="dk1"/>
                        </a:buClr>
                        <a:buFont typeface="Arial"/>
                        <a:buNone/>
                      </a:pPr>
                      <a:r>
                        <a:rPr lang="ar-SA" sz="1300">
                          <a:solidFill>
                            <a:schemeClr val="dk1"/>
                          </a:solidFill>
                        </a:rPr>
                        <a:t> ارتباط عالي</a:t>
                      </a:r>
                      <a:endParaRPr sz="13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700">
                          <a:solidFill>
                            <a:schemeClr val="dk1"/>
                          </a:solidFill>
                        </a:rPr>
                        <a:t>الالتزام بسلوكيات العمل الاحترافي وتمثيل الجمعية بصورة مشرفة</a:t>
                      </a:r>
                      <a:endParaRPr sz="17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r">
                        <a:lnSpc>
                          <a:spcPct val="115000"/>
                        </a:lnSpc>
                        <a:spcBef>
                          <a:spcPts val="1200"/>
                        </a:spcBef>
                        <a:spcAft>
                          <a:spcPts val="0"/>
                        </a:spcAft>
                        <a:buSzPts val="1100"/>
                        <a:buNone/>
                      </a:pPr>
                      <a:r>
                        <a:rPr lang="ar-SA" sz="1000">
                          <a:solidFill>
                            <a:schemeClr val="dk1"/>
                          </a:solidFill>
                        </a:rPr>
                        <a:t>• اشراك المتطوعين في اجتماعات التخطيط</a:t>
                      </a:r>
                      <a:endParaRPr sz="1000">
                        <a:solidFill>
                          <a:schemeClr val="dk1"/>
                        </a:solidFill>
                      </a:endParaRPr>
                    </a:p>
                    <a:p>
                      <a:pPr indent="0" lvl="0" marL="0" rtl="0" algn="l">
                        <a:lnSpc>
                          <a:spcPct val="115000"/>
                        </a:lnSpc>
                        <a:spcBef>
                          <a:spcPts val="1200"/>
                        </a:spcBef>
                        <a:spcAft>
                          <a:spcPts val="0"/>
                        </a:spcAft>
                        <a:buSzPts val="1100"/>
                        <a:buNone/>
                      </a:pPr>
                      <a:r>
                        <a:rPr lang="ar-SA" sz="1000">
                          <a:solidFill>
                            <a:schemeClr val="dk1"/>
                          </a:solidFill>
                        </a:rPr>
                        <a:t>• إقامة حفل سنوي لتكريم المتميزين</a:t>
                      </a:r>
                      <a:endParaRPr sz="1000">
                        <a:solidFill>
                          <a:schemeClr val="dk1"/>
                        </a:solidFill>
                      </a:endParaRPr>
                    </a:p>
                    <a:p>
                      <a:pPr indent="0" lvl="0" marL="0" rtl="0" algn="l">
                        <a:lnSpc>
                          <a:spcPct val="115000"/>
                        </a:lnSpc>
                        <a:spcBef>
                          <a:spcPts val="1200"/>
                        </a:spcBef>
                        <a:spcAft>
                          <a:spcPts val="1200"/>
                        </a:spcAft>
                        <a:buSzPts val="1100"/>
                        <a:buNone/>
                      </a:pPr>
                      <a:r>
                        <a:t/>
                      </a:r>
                      <a:endParaRPr sz="1100"/>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2100" lvl="0" marL="457200" rtl="1" algn="r">
                        <a:lnSpc>
                          <a:spcPct val="115000"/>
                        </a:lnSpc>
                        <a:spcBef>
                          <a:spcPts val="1200"/>
                        </a:spcBef>
                        <a:spcAft>
                          <a:spcPts val="0"/>
                        </a:spcAft>
                        <a:buClr>
                          <a:schemeClr val="dk1"/>
                        </a:buClr>
                        <a:buSzPts val="1000"/>
                        <a:buChar char="-"/>
                      </a:pPr>
                      <a:r>
                        <a:rPr lang="ar-SA" sz="1000">
                          <a:solidFill>
                            <a:schemeClr val="dk1"/>
                          </a:solidFill>
                        </a:rPr>
                        <a:t>عدد المتطوعين المشاركين في اجتماعات التخطيط</a:t>
                      </a:r>
                      <a:endParaRPr sz="1000">
                        <a:solidFill>
                          <a:schemeClr val="dk1"/>
                        </a:solidFill>
                      </a:endParaRPr>
                    </a:p>
                    <a:p>
                      <a:pPr indent="-292100" lvl="0" marL="457200" rtl="1" algn="r">
                        <a:lnSpc>
                          <a:spcPct val="115000"/>
                        </a:lnSpc>
                        <a:spcBef>
                          <a:spcPts val="0"/>
                        </a:spcBef>
                        <a:spcAft>
                          <a:spcPts val="0"/>
                        </a:spcAft>
                        <a:buClr>
                          <a:schemeClr val="dk1"/>
                        </a:buClr>
                        <a:buSzPts val="1000"/>
                        <a:buChar char="-"/>
                      </a:pPr>
                      <a:r>
                        <a:rPr lang="ar-SA" sz="1000">
                          <a:solidFill>
                            <a:schemeClr val="dk1"/>
                          </a:solidFill>
                        </a:rPr>
                        <a:t>عدد المتطوعين المتميزين الذين تم تكريمهم في الحفل السنوي للتطوع</a:t>
                      </a:r>
                      <a:endParaRPr sz="1000">
                        <a:solidFill>
                          <a:schemeClr val="dk1"/>
                        </a:solidFill>
                      </a:endParaRPr>
                    </a:p>
                  </a:txBody>
                  <a:tcPr marT="6150" marB="0" marR="6150" marL="61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7"/>
          <p:cNvSpPr txBox="1"/>
          <p:nvPr/>
        </p:nvSpPr>
        <p:spPr>
          <a:xfrm>
            <a:off x="4522343" y="390338"/>
            <a:ext cx="7180032" cy="73379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نموذج إدارة المقاومة لصاحب المصلحة</a:t>
            </a:r>
            <a:endParaRPr b="0" i="0" sz="3200" u="none" cap="none" strike="noStrike">
              <a:solidFill>
                <a:srgbClr val="FFFFFF"/>
              </a:solidFill>
              <a:latin typeface="Arial"/>
              <a:ea typeface="Arial"/>
              <a:cs typeface="Arial"/>
              <a:sym typeface="Arial"/>
            </a:endParaRPr>
          </a:p>
        </p:txBody>
      </p:sp>
      <p:graphicFrame>
        <p:nvGraphicFramePr>
          <p:cNvPr id="166" name="Google Shape;166;p7"/>
          <p:cNvGraphicFramePr/>
          <p:nvPr/>
        </p:nvGraphicFramePr>
        <p:xfrm>
          <a:off x="388620" y="1339255"/>
          <a:ext cx="3000000" cy="3000000"/>
        </p:xfrm>
        <a:graphic>
          <a:graphicData uri="http://schemas.openxmlformats.org/drawingml/2006/table">
            <a:tbl>
              <a:tblPr>
                <a:noFill/>
                <a:tableStyleId>{E498DA62-9057-4D8C-BA5C-EEBBFE029288}</a:tableStyleId>
              </a:tblPr>
              <a:tblGrid>
                <a:gridCol w="1401775"/>
                <a:gridCol w="2183925"/>
                <a:gridCol w="507900"/>
                <a:gridCol w="507900"/>
                <a:gridCol w="507900"/>
                <a:gridCol w="507900"/>
                <a:gridCol w="507900"/>
                <a:gridCol w="1208775"/>
                <a:gridCol w="507900"/>
                <a:gridCol w="751675"/>
                <a:gridCol w="914200"/>
                <a:gridCol w="914200"/>
                <a:gridCol w="568825"/>
                <a:gridCol w="507900"/>
              </a:tblGrid>
              <a:tr h="713850">
                <a:tc>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نمط المقاومة</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gridSpan="3">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أسباب المقاومة</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gridSpan="3">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درجة المقاومة</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gridSpan="3">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استراتيجيات التغلب على المقاومة</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gridSpan="4">
                  <a:txBody>
                    <a:bodyPr/>
                    <a:lstStyle/>
                    <a:p>
                      <a:pPr indent="0" lvl="0" marL="0" marR="0" rtl="1" algn="ctr">
                        <a:spcBef>
                          <a:spcPts val="0"/>
                        </a:spcBef>
                        <a:spcAft>
                          <a:spcPts val="0"/>
                        </a:spcAft>
                        <a:buNone/>
                      </a:pPr>
                      <a:r>
                        <a:rPr b="0" lang="ar-SA" sz="1200" u="none" cap="none" strike="noStrike">
                          <a:solidFill>
                            <a:schemeClr val="dk1"/>
                          </a:solidFill>
                          <a:latin typeface="Arial"/>
                          <a:ea typeface="Arial"/>
                          <a:cs typeface="Arial"/>
                          <a:sym typeface="Arial"/>
                        </a:rPr>
                        <a:t>التحول من مقاوم لداعم</a:t>
                      </a:r>
                      <a:endParaRPr b="0"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hMerge="1"/>
              </a:tr>
              <a:tr h="227625">
                <a:tc rowSpan="3">
                  <a:txBody>
                    <a:bodyPr/>
                    <a:lstStyle/>
                    <a:p>
                      <a:pPr indent="0" lvl="0" marL="0" marR="0" rtl="1" algn="ctr">
                        <a:spcBef>
                          <a:spcPts val="0"/>
                        </a:spcBef>
                        <a:spcAft>
                          <a:spcPts val="0"/>
                        </a:spcAft>
                        <a:buNone/>
                      </a:pPr>
                      <a:r>
                        <a:rPr lang="ar-SA" sz="1000">
                          <a:solidFill>
                            <a:schemeClr val="lt1"/>
                          </a:solidFill>
                        </a:rPr>
                        <a:t>المقاومة السلبية (التسرب أو الانسحاب)</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a:txBody>
                    <a:bodyPr/>
                    <a:lstStyle/>
                    <a:p>
                      <a:pPr indent="-107950" lvl="0" marL="171450" marR="0" rtl="1" algn="l">
                        <a:spcBef>
                          <a:spcPts val="0"/>
                        </a:spcBef>
                        <a:spcAft>
                          <a:spcPts val="0"/>
                        </a:spcAft>
                        <a:buClr>
                          <a:schemeClr val="dk1"/>
                        </a:buClr>
                        <a:buSzPts val="1000"/>
                        <a:buFont typeface="Arial"/>
                        <a:buNone/>
                      </a:pPr>
                      <a:r>
                        <a:rPr lang="ar-SA" sz="1000">
                          <a:solidFill>
                            <a:schemeClr val="lt1"/>
                          </a:solidFill>
                        </a:rPr>
                        <a:t>الشعور بعبء الإجراءات الإدارية الجديدة (مثل تسجيل الساعات بدقة أو التقارير)</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accent6"/>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rowSpan="3">
                  <a:txBody>
                    <a:bodyPr/>
                    <a:lstStyle/>
                    <a:p>
                      <a:pPr indent="0" lvl="0" marL="0" marR="0" rtl="1" algn="l">
                        <a:spcBef>
                          <a:spcPts val="0"/>
                        </a:spcBef>
                        <a:spcAft>
                          <a:spcPts val="0"/>
                        </a:spcAft>
                        <a:buClr>
                          <a:schemeClr val="dk1"/>
                        </a:buClr>
                        <a:buSzPts val="1000"/>
                        <a:buFont typeface="Arial"/>
                        <a:buNone/>
                      </a:pPr>
                      <a:r>
                        <a:rPr b="1" lang="ar-SA" sz="1100">
                          <a:solidFill>
                            <a:schemeClr val="lt1"/>
                          </a:solidFill>
                        </a:rPr>
                        <a:t>المشاركة والتمكين:</a:t>
                      </a:r>
                      <a:r>
                        <a:rPr lang="ar-SA" sz="1100">
                          <a:solidFill>
                            <a:schemeClr val="lt1"/>
                          </a:solidFill>
                        </a:rPr>
                        <a:t> إشراك قدامى المتطوعين في تصميم النماذج </a:t>
                      </a:r>
                      <a:r>
                        <a:rPr lang="ar-SA" sz="1100">
                          <a:solidFill>
                            <a:schemeClr val="lt1"/>
                          </a:solidFill>
                        </a:rPr>
                        <a:t>وتبسيطها</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hMerge="1"/>
                <a:tc rowSpan="3" hMerge="1"/>
                <a:tc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منخفض</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متوسط</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accent6"/>
                    </a:solidFill>
                  </a:tcPr>
                </a:tc>
                <a:tc gridSpan="2"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عالي</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h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vMerge="1"/>
                <a:tc hMerge="1" vMerge="1"/>
                <a:tc hMerge="1" vMerge="1"/>
                <a:tc vMerge="1"/>
                <a:tc vMerge="1"/>
                <a:tc gridSpan="2" vMerge="1"/>
                <a:tc hMerge="1" v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vMerge="1"/>
                <a:tc hMerge="1" vMerge="1"/>
                <a:tc hMerge="1" vMerge="1"/>
                <a:tc vMerge="1"/>
                <a:tc vMerge="1"/>
                <a:tc gridSpan="2" vMerge="1"/>
                <a:tc hMerge="1" vMerge="1"/>
              </a:tr>
              <a:tr h="227625">
                <a:tc rowSpan="3">
                  <a:txBody>
                    <a:bodyPr/>
                    <a:lstStyle/>
                    <a:p>
                      <a:pPr indent="0" lvl="0" marL="0" marR="0" rtl="1" algn="ctr">
                        <a:spcBef>
                          <a:spcPts val="0"/>
                        </a:spcBef>
                        <a:spcAft>
                          <a:spcPts val="0"/>
                        </a:spcAft>
                        <a:buNone/>
                      </a:pPr>
                      <a:r>
                        <a:rPr lang="ar-SA" sz="1000"/>
                        <a:t>مقاومة التشكيك (عدم الثقة في التغيير)</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a:txBody>
                    <a:bodyPr/>
                    <a:lstStyle/>
                    <a:p>
                      <a:pPr indent="-107950" lvl="0" marL="171450" rtl="1" algn="l">
                        <a:spcBef>
                          <a:spcPts val="0"/>
                        </a:spcBef>
                        <a:spcAft>
                          <a:spcPts val="0"/>
                        </a:spcAft>
                        <a:buClr>
                          <a:schemeClr val="dk1"/>
                        </a:buClr>
                        <a:buSzPts val="1000"/>
                        <a:buFont typeface="Arial"/>
                        <a:buNone/>
                      </a:pPr>
                      <a:r>
                        <a:rPr lang="ar-SA" sz="1000">
                          <a:solidFill>
                            <a:schemeClr val="dk1"/>
                          </a:solidFill>
                        </a:rPr>
                        <a:t>الخوف من فقدان "روح التطوع" وتحول الجمعية لبيئة عمل رسمية وجامدة</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accent6"/>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rowSpan="3">
                  <a:txBody>
                    <a:bodyPr/>
                    <a:lstStyle/>
                    <a:p>
                      <a:pPr indent="0" lvl="0" marL="0" marR="0" rtl="1" algn="l">
                        <a:spcBef>
                          <a:spcPts val="0"/>
                        </a:spcBef>
                        <a:spcAft>
                          <a:spcPts val="0"/>
                        </a:spcAft>
                        <a:buClr>
                          <a:schemeClr val="dk1"/>
                        </a:buClr>
                        <a:buSzPts val="1000"/>
                        <a:buFont typeface="Arial"/>
                        <a:buNone/>
                      </a:pPr>
                      <a:r>
                        <a:rPr b="1" lang="ar-SA" sz="1100">
                          <a:solidFill>
                            <a:schemeClr val="dk1"/>
                          </a:solidFill>
                        </a:rPr>
                        <a:t>الاتصال والتعليم:</a:t>
                      </a:r>
                      <a:r>
                        <a:rPr lang="ar-SA" sz="1100">
                          <a:solidFill>
                            <a:schemeClr val="dk1"/>
                          </a:solidFill>
                        </a:rPr>
                        <a:t> عقد ورش عمل توضح كيف تحمي المأسسة حقوق المتطوع وتزيد أثره</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rowSpan="3" hMerge="1"/>
                <a:tc rowSpan="3" hMerge="1"/>
                <a:tc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منخفض</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متوسط</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2"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عالي</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accent6"/>
                    </a:solidFill>
                  </a:tcPr>
                </a:tc>
                <a:tc rowSpan="3" h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vMerge="1"/>
                <a:tc hMerge="1" vMerge="1"/>
                <a:tc hMerge="1" vMerge="1"/>
                <a:tc vMerge="1"/>
                <a:tc vMerge="1"/>
                <a:tc gridSpan="2" vMerge="1"/>
                <a:tc hMerge="1" v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vMerge="1"/>
                <a:tc hMerge="1" vMerge="1"/>
                <a:tc hMerge="1" vMerge="1"/>
                <a:tc vMerge="1"/>
                <a:tc vMerge="1"/>
                <a:tc gridSpan="2" vMerge="1"/>
                <a:tc hMerge="1" vMerge="1"/>
              </a:tr>
              <a:tr h="227625">
                <a:tc rowSpan="3">
                  <a:txBody>
                    <a:bodyPr/>
                    <a:lstStyle/>
                    <a:p>
                      <a:pPr indent="0" lvl="0" marL="0" marR="0" rtl="1" algn="ctr">
                        <a:spcBef>
                          <a:spcPts val="0"/>
                        </a:spcBef>
                        <a:spcAft>
                          <a:spcPts val="0"/>
                        </a:spcAft>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rowSpan="3">
                  <a:txBody>
                    <a:bodyPr/>
                    <a:lstStyle/>
                    <a:p>
                      <a:pPr indent="0" lvl="0" marL="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hMerge="1"/>
                <a:tc rowSpan="3" hMerge="1"/>
                <a:tc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منخفض</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متوسط</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2" rowSpan="3">
                  <a:txBody>
                    <a:bodyPr/>
                    <a:lstStyle/>
                    <a:p>
                      <a:pPr indent="0" lvl="0" marL="0" marR="0" rtl="1" algn="ctr">
                        <a:spcBef>
                          <a:spcPts val="0"/>
                        </a:spcBef>
                        <a:spcAft>
                          <a:spcPts val="0"/>
                        </a:spcAft>
                        <a:buClr>
                          <a:schemeClr val="lt1"/>
                        </a:buClr>
                        <a:buSzPts val="1000"/>
                        <a:buFont typeface="Arial"/>
                        <a:buNone/>
                      </a:pPr>
                      <a:r>
                        <a:rPr lang="ar-SA" sz="1000" u="none" cap="none" strike="noStrike">
                          <a:solidFill>
                            <a:schemeClr val="lt1"/>
                          </a:solidFill>
                          <a:latin typeface="Arial"/>
                          <a:ea typeface="Arial"/>
                          <a:cs typeface="Arial"/>
                          <a:sym typeface="Arial"/>
                        </a:rPr>
                        <a:t>عالي</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rowSpan="3" h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vMerge="1"/>
                <a:tc hMerge="1" vMerge="1"/>
                <a:tc hMerge="1" vMerge="1"/>
                <a:tc vMerge="1"/>
                <a:tc vMerge="1"/>
                <a:tc gridSpan="2" vMerge="1"/>
                <a:tc hMerge="1" v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solidFill>
                          <a:schemeClr val="lt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hMerge="1"/>
                <a:tc hMerge="1"/>
                <a:tc>
                  <a:txBody>
                    <a:bodyPr/>
                    <a:lstStyle/>
                    <a:p>
                      <a:pPr indent="0" lvl="0" marL="0" marR="0" rtl="1" algn="ctr">
                        <a:spcBef>
                          <a:spcPts val="0"/>
                        </a:spcBef>
                        <a:spcAft>
                          <a:spcPts val="0"/>
                        </a:spcAft>
                        <a:buClr>
                          <a:schemeClr val="lt1"/>
                        </a:buClr>
                        <a:buSzPts val="1000"/>
                        <a:buFont typeface="Arial"/>
                        <a:buNone/>
                      </a:pPr>
                      <a:r>
                        <a:rPr b="1" lang="ar-SA" sz="1000" u="none" cap="none" strike="noStrike">
                          <a:solidFill>
                            <a:schemeClr val="lt1"/>
                          </a:solidFill>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a:txBody>
                    <a:bodyPr/>
                    <a:lstStyle/>
                    <a:p>
                      <a:pPr indent="0" lvl="0" marL="0" marR="0" rtl="0" algn="ctr">
                        <a:lnSpc>
                          <a:spcPct val="100000"/>
                        </a:lnSpc>
                        <a:spcBef>
                          <a:spcPts val="0"/>
                        </a:spcBef>
                        <a:spcAft>
                          <a:spcPts val="0"/>
                        </a:spcAft>
                        <a:buClr>
                          <a:schemeClr val="lt1"/>
                        </a:buClr>
                        <a:buSzPts val="1000"/>
                        <a:buFont typeface="Arial"/>
                        <a:buNone/>
                      </a:pPr>
                      <a:r>
                        <a:rPr b="1" i="0" lang="ar-SA" sz="1000" u="none" cap="none" strike="noStrike">
                          <a:solidFill>
                            <a:schemeClr val="lt1"/>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45271"/>
                    </a:solidFill>
                  </a:tcPr>
                </a:tc>
                <a:tc gridSpan="3" vMerge="1"/>
                <a:tc hMerge="1" vMerge="1"/>
                <a:tc hMerge="1" vMerge="1"/>
                <a:tc vMerge="1"/>
                <a:tc vMerge="1"/>
                <a:tc gridSpan="2" vMerge="1"/>
                <a:tc hMerge="1" vMerge="1"/>
              </a:tr>
              <a:tr h="227625">
                <a:tc rowSpan="3">
                  <a:txBody>
                    <a:bodyPr/>
                    <a:lstStyle/>
                    <a:p>
                      <a:pPr indent="0" lvl="0" marL="0" marR="0" rtl="1" algn="ctr">
                        <a:spcBef>
                          <a:spcPts val="0"/>
                        </a:spcBef>
                        <a:spcAft>
                          <a:spcPts val="0"/>
                        </a:spcAft>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rowSpan="3">
                  <a:txBody>
                    <a:bodyPr/>
                    <a:lstStyle/>
                    <a:p>
                      <a:pPr indent="0" lvl="0" marL="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rowSpan="3" hMerge="1"/>
                <a:tc rowSpan="3" hMerge="1"/>
                <a:tc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منخفض</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متوسط</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2" rowSpan="3">
                  <a:txBody>
                    <a:bodyPr/>
                    <a:lstStyle/>
                    <a:p>
                      <a:pPr indent="0" lvl="0" marL="0" marR="0" rtl="1" algn="ctr">
                        <a:spcBef>
                          <a:spcPts val="0"/>
                        </a:spcBef>
                        <a:spcAft>
                          <a:spcPts val="0"/>
                        </a:spcAft>
                        <a:buClr>
                          <a:schemeClr val="dk1"/>
                        </a:buClr>
                        <a:buSzPts val="1000"/>
                        <a:buFont typeface="Arial"/>
                        <a:buNone/>
                      </a:pPr>
                      <a:r>
                        <a:rPr lang="ar-SA" sz="1000" u="none" cap="none" strike="noStrike">
                          <a:latin typeface="Arial"/>
                          <a:ea typeface="Arial"/>
                          <a:cs typeface="Arial"/>
                          <a:sym typeface="Arial"/>
                        </a:rPr>
                        <a:t>عالي</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rowSpan="3" h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vMerge="1"/>
                <a:tc hMerge="1" vMerge="1"/>
                <a:tc hMerge="1" vMerge="1"/>
                <a:tc vMerge="1"/>
                <a:tc vMerge="1"/>
                <a:tc gridSpan="2" vMerge="1"/>
                <a:tc hMerge="1" vMerge="1"/>
              </a:tr>
              <a:tr h="227625">
                <a:tc vMerge="1"/>
                <a:tc gridSpan="3">
                  <a:txBody>
                    <a:bodyPr/>
                    <a:lstStyle/>
                    <a:p>
                      <a:pPr indent="-107950" lvl="0" marL="171450" marR="0" rtl="1" algn="l">
                        <a:spcBef>
                          <a:spcPts val="0"/>
                        </a:spcBef>
                        <a:spcAft>
                          <a:spcPts val="0"/>
                        </a:spcAft>
                        <a:buClr>
                          <a:schemeClr val="dk1"/>
                        </a:buClr>
                        <a:buSzPts val="1000"/>
                        <a:buFont typeface="Arial"/>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a:txBody>
                    <a:bodyPr/>
                    <a:lstStyle/>
                    <a:p>
                      <a:pPr indent="0" lvl="0" marL="0" marR="0" rtl="1" algn="ctr">
                        <a:spcBef>
                          <a:spcPts val="0"/>
                        </a:spcBef>
                        <a:spcAft>
                          <a:spcPts val="0"/>
                        </a:spcAft>
                        <a:buClr>
                          <a:schemeClr val="dk1"/>
                        </a:buClr>
                        <a:buSzPts val="1000"/>
                        <a:buFont typeface="Arial"/>
                        <a:buNone/>
                      </a:pPr>
                      <a:r>
                        <a:rPr b="1" lang="ar-SA" sz="1000" u="none" cap="none" strike="noStrike">
                          <a:latin typeface="Arial"/>
                          <a:ea typeface="Arial"/>
                          <a:cs typeface="Arial"/>
                          <a:sym typeface="Arial"/>
                        </a:rPr>
                        <a:t>H</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M</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ar-SA" sz="1000" u="none" cap="none" strike="noStrike">
                          <a:solidFill>
                            <a:srgbClr val="000000"/>
                          </a:solidFill>
                          <a:latin typeface="Arial"/>
                          <a:ea typeface="Arial"/>
                          <a:cs typeface="Arial"/>
                          <a:sym typeface="Arial"/>
                        </a:rPr>
                        <a:t>L</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gridSpan="3" vMerge="1"/>
                <a:tc hMerge="1" vMerge="1"/>
                <a:tc hMerge="1" vMerge="1"/>
                <a:tc vMerge="1"/>
                <a:tc vMerge="1"/>
                <a:tc gridSpan="2" vMerge="1"/>
                <a:tc hMerge="1" vMerge="1"/>
              </a:tr>
              <a:tr h="365750">
                <a:tc gridSpan="14">
                  <a:txBody>
                    <a:bodyPr/>
                    <a:lstStyle/>
                    <a:p>
                      <a:pPr indent="0" lvl="0" marL="0" marR="0" rtl="1" algn="ctr">
                        <a:spcBef>
                          <a:spcPts val="0"/>
                        </a:spcBef>
                        <a:spcAft>
                          <a:spcPts val="0"/>
                        </a:spcAft>
                        <a:buNone/>
                      </a:pPr>
                      <a:r>
                        <a:rPr lang="ar-SA" sz="1400" u="none" cap="none" strike="noStrike">
                          <a:solidFill>
                            <a:schemeClr val="dk1"/>
                          </a:solidFill>
                          <a:latin typeface="Arial"/>
                          <a:ea typeface="Arial"/>
                          <a:cs typeface="Arial"/>
                          <a:sym typeface="Arial"/>
                        </a:rPr>
                        <a:t>إجراءات تقليل التكرار</a:t>
                      </a:r>
                      <a:endParaRPr sz="1400" u="none" cap="none" strike="noStrike">
                        <a:solidFill>
                          <a:schemeClr val="dk1"/>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hMerge="1"/>
                <a:tc hMerge="1"/>
                <a:tc hMerge="1"/>
                <a:tc hMerge="1"/>
                <a:tc hMerge="1"/>
                <a:tc hMerge="1"/>
                <a:tc hMerge="1"/>
                <a:tc hMerge="1"/>
                <a:tc hMerge="1"/>
                <a:tc hMerge="1"/>
                <a:tc hMerge="1"/>
                <a:tc hMerge="1"/>
                <a:tc hMerge="1"/>
              </a:tr>
              <a:tr h="822950">
                <a:tc gridSpan="2">
                  <a:txBody>
                    <a:bodyPr/>
                    <a:lstStyle/>
                    <a:p>
                      <a:pPr indent="0" lvl="0" marL="0" marR="0" rtl="1" algn="r">
                        <a:spcBef>
                          <a:spcPts val="0"/>
                        </a:spcBef>
                        <a:spcAft>
                          <a:spcPts val="0"/>
                        </a:spcAft>
                        <a:buNone/>
                      </a:pPr>
                      <a:r>
                        <a:t/>
                      </a:r>
                      <a:endParaRPr sz="1000" u="none" cap="none" strike="noStrike">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a:txBody>
                    <a:bodyPr/>
                    <a:lstStyle/>
                    <a:p>
                      <a:pPr indent="0" lvl="0" marL="0" marR="0" rtl="1" algn="ctr">
                        <a:spcBef>
                          <a:spcPts val="0"/>
                        </a:spcBef>
                        <a:spcAft>
                          <a:spcPts val="0"/>
                        </a:spcAft>
                        <a:buNone/>
                      </a:pPr>
                      <a:r>
                        <a:t/>
                      </a:r>
                      <a:endParaRPr sz="10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gridSpan="5">
                  <a:txBody>
                    <a:bodyPr/>
                    <a:lstStyle/>
                    <a:p>
                      <a:pPr indent="0" lvl="0" marL="0" marR="0" rtl="1" algn="ctr">
                        <a:spcBef>
                          <a:spcPts val="0"/>
                        </a:spcBef>
                        <a:spcAft>
                          <a:spcPts val="0"/>
                        </a:spcAft>
                        <a:buNone/>
                      </a:pPr>
                      <a:r>
                        <a:rPr lang="ar-SA" sz="1000"/>
                        <a:t>نشر "قصص نجاح" لمتطوعين استفادوا من المأسسة في تطوير مسارهم المهني</a:t>
                      </a:r>
                      <a:endParaRPr sz="10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hMerge="1"/>
                <a:tc hMerge="1"/>
                <a:tc>
                  <a:txBody>
                    <a:bodyPr/>
                    <a:lstStyle/>
                    <a:p>
                      <a:pPr indent="0" lvl="0" marL="0" marR="0" rtl="1" algn="ctr">
                        <a:spcBef>
                          <a:spcPts val="0"/>
                        </a:spcBef>
                        <a:spcAft>
                          <a:spcPts val="0"/>
                        </a:spcAft>
                        <a:buNone/>
                      </a:pPr>
                      <a:r>
                        <a:t/>
                      </a:r>
                      <a:endParaRPr sz="10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c gridSpan="4">
                  <a:txBody>
                    <a:bodyPr/>
                    <a:lstStyle/>
                    <a:p>
                      <a:pPr indent="0" lvl="0" marL="0" marR="0" rtl="1" algn="ctr">
                        <a:spcBef>
                          <a:spcPts val="0"/>
                        </a:spcBef>
                        <a:spcAft>
                          <a:spcPts val="0"/>
                        </a:spcAft>
                        <a:buNone/>
                      </a:pPr>
                      <a:r>
                        <a:rPr lang="ar-SA" sz="1000"/>
                        <a:t>وضع ميثاق تطوعي واضح يوقع عليه المتطوع قبل البدء</a:t>
                      </a:r>
                      <a:endParaRPr sz="10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hMerge="1"/>
                <a:tc hMerge="1"/>
                <a:tc hMerge="1"/>
                <a:tc>
                  <a:txBody>
                    <a:bodyPr/>
                    <a:lstStyle/>
                    <a:p>
                      <a:pPr indent="0" lvl="0" marL="0" marR="0" rtl="1" algn="ctr">
                        <a:spcBef>
                          <a:spcPts val="0"/>
                        </a:spcBef>
                        <a:spcAft>
                          <a:spcPts val="0"/>
                        </a:spcAft>
                        <a:buNone/>
                      </a:pPr>
                      <a:r>
                        <a:t/>
                      </a:r>
                      <a:endParaRPr sz="10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96CC4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9"/>
          <p:cNvSpPr txBox="1"/>
          <p:nvPr/>
        </p:nvSpPr>
        <p:spPr>
          <a:xfrm>
            <a:off x="4522343" y="390338"/>
            <a:ext cx="7180032" cy="733791"/>
          </a:xfrm>
          <a:prstGeom prst="rect">
            <a:avLst/>
          </a:prstGeom>
          <a:noFill/>
          <a:ln>
            <a:noFill/>
          </a:ln>
        </p:spPr>
        <p:txBody>
          <a:bodyPr anchorCtr="0" anchor="t" bIns="45700" lIns="91425" spcFirstLastPara="1" rIns="91425" wrap="square" tIns="45700">
            <a:spAutoFit/>
          </a:bodyPr>
          <a:lstStyle/>
          <a:p>
            <a:pPr indent="0" lvl="0" marL="0" marR="0" rtl="1" algn="r">
              <a:lnSpc>
                <a:spcPct val="150000"/>
              </a:lnSpc>
              <a:spcBef>
                <a:spcPts val="0"/>
              </a:spcBef>
              <a:spcAft>
                <a:spcPts val="0"/>
              </a:spcAft>
              <a:buClr>
                <a:srgbClr val="FFFFFF"/>
              </a:buClr>
              <a:buSzPts val="3200"/>
              <a:buFont typeface="Arial"/>
              <a:buNone/>
            </a:pPr>
            <a:r>
              <a:rPr b="0" i="0" lang="ar-SA" sz="3200" u="none" cap="none" strike="noStrike">
                <a:solidFill>
                  <a:srgbClr val="FFFFFF"/>
                </a:solidFill>
                <a:latin typeface="Arial"/>
                <a:ea typeface="Arial"/>
                <a:cs typeface="Arial"/>
                <a:sym typeface="Arial"/>
              </a:rPr>
              <a:t>خارطة الاستراتيجيات</a:t>
            </a:r>
            <a:endParaRPr/>
          </a:p>
        </p:txBody>
      </p:sp>
      <p:graphicFrame>
        <p:nvGraphicFramePr>
          <p:cNvPr id="172" name="Google Shape;172;p9"/>
          <p:cNvGraphicFramePr/>
          <p:nvPr/>
        </p:nvGraphicFramePr>
        <p:xfrm>
          <a:off x="573174" y="1360480"/>
          <a:ext cx="3000000" cy="3000000"/>
        </p:xfrm>
        <a:graphic>
          <a:graphicData uri="http://schemas.openxmlformats.org/drawingml/2006/table">
            <a:tbl>
              <a:tblPr>
                <a:noFill/>
                <a:tableStyleId>{E498DA62-9057-4D8C-BA5C-EEBBFE029288}</a:tableStyleId>
              </a:tblPr>
              <a:tblGrid>
                <a:gridCol w="1810775"/>
                <a:gridCol w="2435550"/>
                <a:gridCol w="1980200"/>
                <a:gridCol w="1980200"/>
                <a:gridCol w="2503725"/>
                <a:gridCol w="335200"/>
              </a:tblGrid>
              <a:tr h="284925">
                <a:tc gridSpan="4">
                  <a:txBody>
                    <a:bodyPr/>
                    <a:lstStyle/>
                    <a:p>
                      <a:pPr indent="0" lvl="0" marL="0" marR="0" rtl="1" algn="ctr">
                        <a:lnSpc>
                          <a:spcPct val="100000"/>
                        </a:lnSpc>
                        <a:spcBef>
                          <a:spcPts val="0"/>
                        </a:spcBef>
                        <a:spcAft>
                          <a:spcPts val="0"/>
                        </a:spcAft>
                        <a:buClr>
                          <a:srgbClr val="FFFFFF"/>
                        </a:buClr>
                        <a:buSzPts val="1400"/>
                        <a:buFont typeface="Sakkal Majalla"/>
                        <a:buNone/>
                      </a:pPr>
                      <a:r>
                        <a:rPr b="0" i="0" lang="ar-SA" sz="1600" u="none" cap="none" strike="noStrike">
                          <a:solidFill>
                            <a:srgbClr val="171717"/>
                          </a:solidFill>
                          <a:latin typeface="Arial"/>
                          <a:ea typeface="Arial"/>
                          <a:cs typeface="Arial"/>
                          <a:sym typeface="Arial"/>
                        </a:rPr>
                        <a:t>الاستراتيجيات</a:t>
                      </a:r>
                      <a:endParaRPr b="0" i="0"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8C656"/>
                    </a:solidFill>
                  </a:tcPr>
                </a:tc>
                <a:tc hMerge="1"/>
                <a:tc hMerge="1"/>
                <a:tc hMerge="1"/>
                <a:tc>
                  <a:txBody>
                    <a:bodyPr/>
                    <a:lstStyle/>
                    <a:p>
                      <a:pPr indent="0" lvl="0" marL="0" marR="0" rtl="1" algn="ctr">
                        <a:lnSpc>
                          <a:spcPct val="100000"/>
                        </a:lnSpc>
                        <a:spcBef>
                          <a:spcPts val="0"/>
                        </a:spcBef>
                        <a:spcAft>
                          <a:spcPts val="0"/>
                        </a:spcAft>
                        <a:buClr>
                          <a:srgbClr val="FFFFFF"/>
                        </a:buClr>
                        <a:buSzPts val="1400"/>
                        <a:buFont typeface="Sakkal Majalla"/>
                        <a:buNone/>
                      </a:pPr>
                      <a:r>
                        <a:rPr lang="ar-SA" sz="1600" u="none" cap="none" strike="noStrike">
                          <a:solidFill>
                            <a:schemeClr val="dk1"/>
                          </a:solidFill>
                          <a:latin typeface="Arial"/>
                          <a:ea typeface="Arial"/>
                          <a:cs typeface="Arial"/>
                          <a:sym typeface="Arial"/>
                        </a:rPr>
                        <a:t>مجال  الاستدامة</a:t>
                      </a:r>
                      <a:endParaRPr sz="16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8C656"/>
                    </a:solidFill>
                  </a:tcPr>
                </a:tc>
                <a:tc>
                  <a:txBody>
                    <a:bodyPr/>
                    <a:lstStyle/>
                    <a:p>
                      <a:pPr indent="0" lvl="0" marL="0" marR="0" rtl="1" algn="ctr">
                        <a:lnSpc>
                          <a:spcPct val="100000"/>
                        </a:lnSpc>
                        <a:spcBef>
                          <a:spcPts val="0"/>
                        </a:spcBef>
                        <a:spcAft>
                          <a:spcPts val="0"/>
                        </a:spcAft>
                        <a:buClr>
                          <a:srgbClr val="FFFFFF"/>
                        </a:buClr>
                        <a:buSzPts val="1400"/>
                        <a:buFont typeface="Sakkal Majalla"/>
                        <a:buNone/>
                      </a:pPr>
                      <a:r>
                        <a:rPr lang="ar-SA" sz="1600" u="none" cap="none" strike="noStrike">
                          <a:solidFill>
                            <a:schemeClr val="lt1"/>
                          </a:solidFill>
                          <a:latin typeface="Arial"/>
                          <a:ea typeface="Arial"/>
                          <a:cs typeface="Arial"/>
                          <a:sym typeface="Arial"/>
                        </a:rPr>
                        <a:t>م</a:t>
                      </a:r>
                      <a:endParaRPr sz="1600" u="none" cap="none" strike="noStrike">
                        <a:solidFill>
                          <a:schemeClr val="lt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8C656"/>
                    </a:solidFill>
                  </a:tcPr>
                </a:tc>
              </a:tr>
              <a:tr h="274325">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171717"/>
                          </a:solidFill>
                          <a:latin typeface="Arial"/>
                          <a:ea typeface="Arial"/>
                          <a:cs typeface="Arial"/>
                          <a:sym typeface="Arial"/>
                        </a:rPr>
                        <a:t>الرابعة</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gradFill>
                      <a:gsLst>
                        <a:gs pos="0">
                          <a:srgbClr val="9BEFEC"/>
                        </a:gs>
                        <a:gs pos="50000">
                          <a:srgbClr val="C1F3F3"/>
                        </a:gs>
                        <a:gs pos="100000">
                          <a:srgbClr val="E0F8F8"/>
                        </a:gs>
                      </a:gsLst>
                      <a:path path="circle">
                        <a:fillToRect b="100%" l="0%" r="100%" t="0%"/>
                      </a:path>
                      <a:tileRect b="0%" l="-100%" r="0%" t="-100%"/>
                    </a:gradFill>
                  </a:tcPr>
                </a:tc>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171717"/>
                          </a:solidFill>
                          <a:latin typeface="Arial"/>
                          <a:ea typeface="Arial"/>
                          <a:cs typeface="Arial"/>
                          <a:sym typeface="Arial"/>
                        </a:rPr>
                        <a:t>الثالثة</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gradFill>
                      <a:gsLst>
                        <a:gs pos="0">
                          <a:srgbClr val="9BEFEC"/>
                        </a:gs>
                        <a:gs pos="50000">
                          <a:srgbClr val="C1F3F3"/>
                        </a:gs>
                        <a:gs pos="100000">
                          <a:srgbClr val="E0F8F8"/>
                        </a:gs>
                      </a:gsLst>
                      <a:path path="circle">
                        <a:fillToRect b="100%" l="0%" r="100%" t="0%"/>
                      </a:path>
                      <a:tileRect b="0%" l="-100%" r="0%" t="-100%"/>
                    </a:gradFill>
                  </a:tcPr>
                </a:tc>
                <a:tc>
                  <a:txBody>
                    <a:bodyPr/>
                    <a:lstStyle/>
                    <a:p>
                      <a:pPr indent="0" lvl="0" marL="0" marR="0" rtl="1" algn="ctr">
                        <a:lnSpc>
                          <a:spcPct val="100000"/>
                        </a:lnSpc>
                        <a:spcBef>
                          <a:spcPts val="0"/>
                        </a:spcBef>
                        <a:spcAft>
                          <a:spcPts val="0"/>
                        </a:spcAft>
                        <a:buClr>
                          <a:srgbClr val="404040"/>
                        </a:buClr>
                        <a:buSzPts val="1200"/>
                        <a:buFont typeface="Sakkal Majalla"/>
                        <a:buNone/>
                      </a:pPr>
                      <a:r>
                        <a:rPr lang="ar-SA" sz="1600" u="none" cap="none" strike="noStrike">
                          <a:latin typeface="Arial"/>
                          <a:ea typeface="Arial"/>
                          <a:cs typeface="Arial"/>
                          <a:sym typeface="Arial"/>
                        </a:rPr>
                        <a:t>الثانية</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gradFill>
                      <a:gsLst>
                        <a:gs pos="0">
                          <a:srgbClr val="9BEFEC"/>
                        </a:gs>
                        <a:gs pos="50000">
                          <a:srgbClr val="C1F3F3"/>
                        </a:gs>
                        <a:gs pos="100000">
                          <a:srgbClr val="E0F8F8"/>
                        </a:gs>
                      </a:gsLst>
                      <a:path path="circle">
                        <a:fillToRect b="100%" l="0%" r="100%" t="0%"/>
                      </a:path>
                      <a:tileRect b="0%" l="-100%" r="0%" t="-100%"/>
                    </a:gradFill>
                  </a:tcPr>
                </a:tc>
                <a:tc>
                  <a:txBody>
                    <a:bodyPr/>
                    <a:lstStyle/>
                    <a:p>
                      <a:pPr indent="0" lvl="0" marL="0" marR="0" rtl="1" algn="ctr">
                        <a:lnSpc>
                          <a:spcPct val="100000"/>
                        </a:lnSpc>
                        <a:spcBef>
                          <a:spcPts val="0"/>
                        </a:spcBef>
                        <a:spcAft>
                          <a:spcPts val="0"/>
                        </a:spcAft>
                        <a:buClr>
                          <a:srgbClr val="404040"/>
                        </a:buClr>
                        <a:buSzPts val="1200"/>
                        <a:buFont typeface="Sakkal Majalla"/>
                        <a:buNone/>
                      </a:pPr>
                      <a:r>
                        <a:rPr lang="ar-SA" sz="1600" u="none" cap="none" strike="noStrike">
                          <a:latin typeface="Arial"/>
                          <a:ea typeface="Arial"/>
                          <a:cs typeface="Arial"/>
                          <a:sym typeface="Arial"/>
                        </a:rPr>
                        <a:t>الأولى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gradFill>
                      <a:gsLst>
                        <a:gs pos="0">
                          <a:srgbClr val="9BEFEC"/>
                        </a:gs>
                        <a:gs pos="50000">
                          <a:srgbClr val="C1F3F3"/>
                        </a:gs>
                        <a:gs pos="100000">
                          <a:srgbClr val="E0F8F8"/>
                        </a:gs>
                      </a:gsLst>
                      <a:path path="circle">
                        <a:fillToRect b="100%" l="0%" r="100%" t="0%"/>
                      </a:path>
                      <a:tileRect b="0%" l="-100%" r="0%" t="-100%"/>
                    </a:gradFill>
                  </a:tcPr>
                </a:tc>
                <a:tc rowSpan="2">
                  <a:txBody>
                    <a:bodyPr/>
                    <a:lstStyle/>
                    <a:p>
                      <a:pPr indent="0" lvl="0" marL="0" marR="0" rtl="1" algn="ctr">
                        <a:lnSpc>
                          <a:spcPct val="100000"/>
                        </a:lnSpc>
                        <a:spcBef>
                          <a:spcPts val="0"/>
                        </a:spcBef>
                        <a:spcAft>
                          <a:spcPts val="0"/>
                        </a:spcAft>
                        <a:buClr>
                          <a:srgbClr val="404040"/>
                        </a:buClr>
                        <a:buSzPts val="1200"/>
                        <a:buFont typeface="Sakkal Majalla"/>
                        <a:buNone/>
                      </a:pPr>
                      <a:r>
                        <a:rPr lang="ar-SA" sz="1600"/>
                        <a:t>التطوع</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8650">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rPr lang="ar-SA" sz="1100">
                          <a:solidFill>
                            <a:schemeClr val="dk1"/>
                          </a:solidFill>
                        </a:rPr>
                        <a:t>أتمتة دورة حياة المتطوع بالكامل واضافة فديوهات وادلة تعليمية</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r>
            </a:tbl>
          </a:graphicData>
        </a:graphic>
      </p:graphicFrame>
      <p:graphicFrame>
        <p:nvGraphicFramePr>
          <p:cNvPr id="173" name="Google Shape;173;p9"/>
          <p:cNvGraphicFramePr/>
          <p:nvPr/>
        </p:nvGraphicFramePr>
        <p:xfrm>
          <a:off x="573175" y="2682912"/>
          <a:ext cx="3000000" cy="3000000"/>
        </p:xfrm>
        <a:graphic>
          <a:graphicData uri="http://schemas.openxmlformats.org/drawingml/2006/table">
            <a:tbl>
              <a:tblPr>
                <a:noFill/>
                <a:tableStyleId>{E498DA62-9057-4D8C-BA5C-EEBBFE029288}</a:tableStyleId>
              </a:tblPr>
              <a:tblGrid>
                <a:gridCol w="1734625"/>
                <a:gridCol w="2516500"/>
                <a:gridCol w="1982450"/>
                <a:gridCol w="1982450"/>
                <a:gridCol w="2506550"/>
                <a:gridCol w="335575"/>
              </a:tblGrid>
              <a:tr h="262700">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000000"/>
                          </a:solidFill>
                          <a:latin typeface="Arial"/>
                          <a:ea typeface="Arial"/>
                          <a:cs typeface="Arial"/>
                          <a:sym typeface="Arial"/>
                        </a:rPr>
                        <a:t>التكلفة</a:t>
                      </a:r>
                      <a:endParaRPr sz="1600" u="none" cap="none" strike="noStrike">
                        <a:solidFill>
                          <a:srgbClr val="000000"/>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ECDCB"/>
                    </a:solidFill>
                  </a:tcPr>
                </a:tc>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000000"/>
                          </a:solidFill>
                          <a:latin typeface="Arial"/>
                          <a:ea typeface="Arial"/>
                          <a:cs typeface="Arial"/>
                          <a:sym typeface="Arial"/>
                        </a:rPr>
                        <a:t>المسؤول</a:t>
                      </a:r>
                      <a:endParaRPr sz="1600" u="none" cap="none" strike="noStrike">
                        <a:solidFill>
                          <a:srgbClr val="000000"/>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ECDCB"/>
                    </a:solidFill>
                  </a:tcPr>
                </a:tc>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000000"/>
                          </a:solidFill>
                          <a:latin typeface="Arial"/>
                          <a:ea typeface="Arial"/>
                          <a:cs typeface="Arial"/>
                          <a:sym typeface="Arial"/>
                        </a:rPr>
                        <a:t>تاريخ الانجاز</a:t>
                      </a:r>
                      <a:endParaRPr sz="1600" u="none" cap="none" strike="noStrike">
                        <a:solidFill>
                          <a:srgbClr val="000000"/>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ECDCB"/>
                    </a:solidFill>
                  </a:tcPr>
                </a:tc>
                <a:tc>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solidFill>
                            <a:srgbClr val="000000"/>
                          </a:solidFill>
                          <a:latin typeface="Arial"/>
                          <a:ea typeface="Arial"/>
                          <a:cs typeface="Arial"/>
                          <a:sym typeface="Arial"/>
                        </a:rPr>
                        <a:t>المستهدف</a:t>
                      </a:r>
                      <a:endParaRPr sz="1600" u="none" cap="none" strike="noStrike">
                        <a:solidFill>
                          <a:srgbClr val="000000"/>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ECDCB"/>
                    </a:solidFill>
                  </a:tcPr>
                </a:tc>
                <a:tc gridSpan="2">
                  <a:txBody>
                    <a:bodyPr/>
                    <a:lstStyle/>
                    <a:p>
                      <a:pPr indent="0" lvl="0" marL="0" marR="0" rtl="1" algn="ctr">
                        <a:lnSpc>
                          <a:spcPct val="100000"/>
                        </a:lnSpc>
                        <a:spcBef>
                          <a:spcPts val="0"/>
                        </a:spcBef>
                        <a:spcAft>
                          <a:spcPts val="0"/>
                        </a:spcAft>
                        <a:buClr>
                          <a:srgbClr val="404040"/>
                        </a:buClr>
                        <a:buSzPts val="1200"/>
                        <a:buFont typeface="Sakkal Majalla"/>
                        <a:buNone/>
                      </a:pPr>
                      <a:r>
                        <a:rPr lang="ar-SA" sz="1600" u="none" cap="none" strike="noStrike">
                          <a:solidFill>
                            <a:srgbClr val="000000"/>
                          </a:solidFill>
                          <a:latin typeface="Arial"/>
                          <a:ea typeface="Arial"/>
                          <a:cs typeface="Arial"/>
                          <a:sym typeface="Arial"/>
                        </a:rPr>
                        <a:t>المؤشر</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ECDCB"/>
                    </a:solidFill>
                  </a:tcPr>
                </a:tc>
                <a:tc hMerge="1"/>
              </a:tr>
              <a:tr h="453725">
                <a:tc>
                  <a:txBody>
                    <a:bodyPr/>
                    <a:lstStyle/>
                    <a:p>
                      <a:pPr indent="0" lvl="0" marL="0" marR="0" rtl="1" algn="r">
                        <a:lnSpc>
                          <a:spcPct val="100000"/>
                        </a:lnSpc>
                        <a:spcBef>
                          <a:spcPts val="0"/>
                        </a:spcBef>
                        <a:spcAft>
                          <a:spcPts val="0"/>
                        </a:spcAft>
                        <a:buClr>
                          <a:srgbClr val="404040"/>
                        </a:buClr>
                        <a:buSzPts val="1600"/>
                        <a:buFont typeface="Play"/>
                        <a:buNone/>
                      </a:pPr>
                      <a:r>
                        <a:rPr lang="ar-SA"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rPr lang="ar-SA" sz="1600"/>
                        <a:t>عبدالمجيد السفري - مسؤول التطوع</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rPr lang="ar-SA" sz="1600" u="none" cap="none" strike="noStrike">
                          <a:latin typeface="Arial"/>
                          <a:ea typeface="Arial"/>
                          <a:cs typeface="Arial"/>
                          <a:sym typeface="Arial"/>
                        </a:rPr>
                        <a:t>00/00/00</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rPr b="1" lang="ar-SA" sz="1100">
                          <a:solidFill>
                            <a:schemeClr val="dk1"/>
                          </a:solidFill>
                        </a:rPr>
                        <a:t>70%</a:t>
                      </a:r>
                      <a:r>
                        <a:rPr lang="ar-SA" sz="1100">
                          <a:solidFill>
                            <a:schemeClr val="dk1"/>
                          </a:solidFill>
                        </a:rPr>
                        <a:t> من دورة العمل الإداري</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200"/>
                        <a:buFont typeface="Sakkal Majalla"/>
                        <a:buNone/>
                      </a:pPr>
                      <a:r>
                        <a:rPr lang="ar-SA" sz="1600"/>
                        <a:t>نسبة العمليات التطوعية المؤتمتة</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rPr lang="ar-SA" sz="1600">
                          <a:solidFill>
                            <a:srgbClr val="171717"/>
                          </a:solidFill>
                        </a:rPr>
                        <a:t>1</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700">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700">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700">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700">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404040"/>
                        </a:buClr>
                        <a:buSzPts val="1200"/>
                        <a:buFont typeface="Sakkal Majalla"/>
                        <a:buNone/>
                      </a:pPr>
                      <a:r>
                        <a:t/>
                      </a:r>
                      <a:endParaRPr sz="1600" u="none" cap="none" strike="noStrike">
                        <a:solidFill>
                          <a:srgbClr val="171717"/>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2700">
                <a:tc gridSpan="3">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latin typeface="Arial"/>
                          <a:ea typeface="Arial"/>
                          <a:cs typeface="Arial"/>
                          <a:sym typeface="Arial"/>
                        </a:rPr>
                        <a:t>الحلول</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8C656"/>
                    </a:solidFill>
                  </a:tcPr>
                </a:tc>
                <a:tc hMerge="1"/>
                <a:tc hMerge="1"/>
                <a:tc gridSpan="3">
                  <a:txBody>
                    <a:bodyPr/>
                    <a:lstStyle/>
                    <a:p>
                      <a:pPr indent="0" lvl="0" marL="0" marR="0" rtl="1" algn="ctr">
                        <a:lnSpc>
                          <a:spcPct val="100000"/>
                        </a:lnSpc>
                        <a:spcBef>
                          <a:spcPts val="0"/>
                        </a:spcBef>
                        <a:spcAft>
                          <a:spcPts val="0"/>
                        </a:spcAft>
                        <a:buClr>
                          <a:srgbClr val="404040"/>
                        </a:buClr>
                        <a:buSzPts val="1600"/>
                        <a:buFont typeface="Play"/>
                        <a:buNone/>
                      </a:pPr>
                      <a:r>
                        <a:rPr lang="ar-SA" sz="1600" u="none" cap="none" strike="noStrike">
                          <a:latin typeface="Arial"/>
                          <a:ea typeface="Arial"/>
                          <a:cs typeface="Arial"/>
                          <a:sym typeface="Arial"/>
                        </a:rPr>
                        <a:t>المخاطر</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8C656"/>
                    </a:solidFill>
                  </a:tcPr>
                </a:tc>
                <a:tc hMerge="1"/>
                <a:tc hMerge="1"/>
              </a:tr>
              <a:tr h="453725">
                <a:tc gridSpan="3">
                  <a:txBody>
                    <a:bodyPr/>
                    <a:lstStyle/>
                    <a:p>
                      <a:pPr indent="0" lvl="0" marL="0" marR="0" rtl="1" algn="r">
                        <a:lnSpc>
                          <a:spcPct val="100000"/>
                        </a:lnSpc>
                        <a:spcBef>
                          <a:spcPts val="0"/>
                        </a:spcBef>
                        <a:spcAft>
                          <a:spcPts val="0"/>
                        </a:spcAft>
                        <a:buClr>
                          <a:srgbClr val="404040"/>
                        </a:buClr>
                        <a:buSzPts val="1600"/>
                        <a:buFont typeface="Play"/>
                        <a:buNone/>
                      </a:pPr>
                      <a:r>
                        <a:rPr lang="ar-SA" sz="1600"/>
                        <a:t>تفعيل "نظام التطوع المرن" وإتاحة مهام "عن بُعد" لتقليل العبء</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c gridSpan="3">
                  <a:txBody>
                    <a:bodyPr/>
                    <a:lstStyle/>
                    <a:p>
                      <a:pPr indent="0" lvl="0" marL="0" marR="0" rtl="1" algn="r">
                        <a:lnSpc>
                          <a:spcPct val="100000"/>
                        </a:lnSpc>
                        <a:spcBef>
                          <a:spcPts val="0"/>
                        </a:spcBef>
                        <a:spcAft>
                          <a:spcPts val="0"/>
                        </a:spcAft>
                        <a:buClr>
                          <a:srgbClr val="404040"/>
                        </a:buClr>
                        <a:buSzPts val="1600"/>
                        <a:buFont typeface="Play"/>
                        <a:buNone/>
                      </a:pPr>
                      <a:r>
                        <a:rPr lang="ar-SA" sz="1600"/>
                        <a:t>تسرب المتطوعين بسبب ضغوط الدراسة أو العمل</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r>
              <a:tr h="262700">
                <a:tc gridSpan="3">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c gridSpan="3">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r>
              <a:tr h="262700">
                <a:tc gridSpan="3">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c gridSpan="3">
                  <a:txBody>
                    <a:bodyPr/>
                    <a:lstStyle/>
                    <a:p>
                      <a:pPr indent="0" lvl="0" marL="0" marR="0" rtl="1" algn="r">
                        <a:lnSpc>
                          <a:spcPct val="100000"/>
                        </a:lnSpc>
                        <a:spcBef>
                          <a:spcPts val="0"/>
                        </a:spcBef>
                        <a:spcAft>
                          <a:spcPts val="0"/>
                        </a:spcAft>
                        <a:buClr>
                          <a:srgbClr val="404040"/>
                        </a:buClr>
                        <a:buSzPts val="1600"/>
                        <a:buFont typeface="Play"/>
                        <a:buNone/>
                      </a:pPr>
                      <a:r>
                        <a:t/>
                      </a:r>
                      <a:endParaRPr sz="1600" u="none" cap="none" strike="noStrike">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ctrTitle"/>
          </p:nvPr>
        </p:nvSpPr>
        <p:spPr>
          <a:xfrm>
            <a:off x="384930" y="185417"/>
            <a:ext cx="11071743" cy="681357"/>
          </a:xfrm>
          <a:prstGeom prst="rect">
            <a:avLst/>
          </a:prstGeom>
          <a:noFill/>
          <a:ln>
            <a:noFill/>
          </a:ln>
        </p:spPr>
        <p:txBody>
          <a:bodyPr anchorCtr="0" anchor="ctr" bIns="45700" lIns="91425" spcFirstLastPara="1" rIns="91425" wrap="square" tIns="45700">
            <a:noAutofit/>
          </a:bodyPr>
          <a:lstStyle/>
          <a:p>
            <a:pPr indent="0" lvl="0" marL="0" rtl="1" algn="r">
              <a:lnSpc>
                <a:spcPct val="90000"/>
              </a:lnSpc>
              <a:spcBef>
                <a:spcPts val="0"/>
              </a:spcBef>
              <a:spcAft>
                <a:spcPts val="0"/>
              </a:spcAft>
              <a:buClr>
                <a:srgbClr val="3A3838"/>
              </a:buClr>
              <a:buSzPts val="2000"/>
              <a:buFont typeface="Arial"/>
              <a:buNone/>
            </a:pPr>
            <a:r>
              <a:rPr lang="ar-SA">
                <a:latin typeface="Arial"/>
                <a:ea typeface="Arial"/>
                <a:cs typeface="Arial"/>
                <a:sym typeface="Arial"/>
              </a:rPr>
              <a:t>نظرية التغيير لإدارة الدعم </a:t>
            </a:r>
            <a:endParaRPr>
              <a:latin typeface="Arial"/>
              <a:ea typeface="Arial"/>
              <a:cs typeface="Arial"/>
              <a:sym typeface="Arial"/>
            </a:endParaRPr>
          </a:p>
        </p:txBody>
      </p:sp>
      <p:sp>
        <p:nvSpPr>
          <p:cNvPr id="180" name="Google Shape;180;p10"/>
          <p:cNvSpPr/>
          <p:nvPr/>
        </p:nvSpPr>
        <p:spPr>
          <a:xfrm>
            <a:off x="410133" y="146680"/>
            <a:ext cx="11315513" cy="681357"/>
          </a:xfrm>
          <a:prstGeom prst="rect">
            <a:avLst/>
          </a:prstGeom>
          <a:solidFill>
            <a:srgbClr val="F2F2F2"/>
          </a:solidFill>
          <a:ln>
            <a:noFill/>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713C66"/>
              </a:buClr>
              <a:buSzPts val="2400"/>
              <a:buFont typeface="Arial"/>
              <a:buNone/>
            </a:pPr>
            <a:r>
              <a:rPr b="1" i="0" lang="ar-SA" sz="2400" u="none" cap="none" strike="noStrike">
                <a:solidFill>
                  <a:srgbClr val="713C66"/>
                </a:solidFill>
                <a:latin typeface="Arial"/>
                <a:ea typeface="Arial"/>
                <a:cs typeface="Arial"/>
                <a:sym typeface="Arial"/>
              </a:rPr>
              <a:t>خارطة النتيجة طويلة المدى 6.1</a:t>
            </a:r>
            <a:endParaRPr b="1" i="0" sz="2400" u="none" cap="none" strike="noStrike">
              <a:solidFill>
                <a:srgbClr val="713C66"/>
              </a:solidFill>
              <a:latin typeface="Arial"/>
              <a:ea typeface="Arial"/>
              <a:cs typeface="Arial"/>
              <a:sym typeface="Arial"/>
            </a:endParaRPr>
          </a:p>
        </p:txBody>
      </p:sp>
      <p:graphicFrame>
        <p:nvGraphicFramePr>
          <p:cNvPr id="181" name="Google Shape;181;p10"/>
          <p:cNvGraphicFramePr/>
          <p:nvPr/>
        </p:nvGraphicFramePr>
        <p:xfrm>
          <a:off x="794859" y="3958023"/>
          <a:ext cx="3000000" cy="3000000"/>
        </p:xfrm>
        <a:graphic>
          <a:graphicData uri="http://schemas.openxmlformats.org/drawingml/2006/table">
            <a:tbl>
              <a:tblPr>
                <a:noFill/>
                <a:tableStyleId>{E498DA62-9057-4D8C-BA5C-EEBBFE029288}</a:tableStyleId>
              </a:tblPr>
              <a:tblGrid>
                <a:gridCol w="918150"/>
                <a:gridCol w="818575"/>
                <a:gridCol w="818575"/>
                <a:gridCol w="818575"/>
                <a:gridCol w="1042050"/>
                <a:gridCol w="832200"/>
                <a:gridCol w="5137600"/>
                <a:gridCol w="545050"/>
              </a:tblGrid>
              <a:tr h="363350">
                <a:tc gridSpan="8">
                  <a:txBody>
                    <a:bodyPr/>
                    <a:lstStyle/>
                    <a:p>
                      <a:pPr indent="0" lvl="0" marL="0" marR="0" rtl="1" algn="ctr">
                        <a:spcBef>
                          <a:spcPts val="0"/>
                        </a:spcBef>
                        <a:spcAft>
                          <a:spcPts val="0"/>
                        </a:spcAft>
                        <a:buNone/>
                      </a:pPr>
                      <a:r>
                        <a:rPr b="1" i="0" lang="ar-SA" sz="1400" u="none" cap="none" strike="noStrike">
                          <a:solidFill>
                            <a:schemeClr val="lt1"/>
                          </a:solidFill>
                          <a:latin typeface="Arial"/>
                          <a:ea typeface="Arial"/>
                          <a:cs typeface="Arial"/>
                          <a:sym typeface="Arial"/>
                        </a:rPr>
                        <a:t>مؤشرات الأداء</a:t>
                      </a:r>
                      <a:endParaRPr b="1" i="0" sz="14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hMerge="1"/>
                <a:tc hMerge="1"/>
                <a:tc hMerge="1"/>
                <a:tc hMerge="1"/>
                <a:tc hMerge="1"/>
              </a:tr>
              <a:tr h="327025">
                <a:tc gridSpan="6">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المستهدف</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hMerge="1"/>
                <a:tc hMerge="1"/>
                <a:tc hMerge="1"/>
                <a:tc rowSpan="2">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 المؤشر</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rowSpan="2">
                  <a:txBody>
                    <a:bodyPr/>
                    <a:lstStyle/>
                    <a:p>
                      <a:pPr indent="0" lvl="0" marL="0" marR="0" rtl="0" algn="ctr">
                        <a:lnSpc>
                          <a:spcPct val="100000"/>
                        </a:lnSpc>
                        <a:spcBef>
                          <a:spcPts val="0"/>
                        </a:spcBef>
                        <a:spcAft>
                          <a:spcPts val="0"/>
                        </a:spcAft>
                        <a:buNone/>
                      </a:pPr>
                      <a:r>
                        <a:rPr b="1" i="0" lang="ar-SA" sz="1200" u="none" cap="none" strike="noStrike">
                          <a:solidFill>
                            <a:schemeClr val="lt1"/>
                          </a:solidFill>
                          <a:latin typeface="Arial"/>
                          <a:ea typeface="Arial"/>
                          <a:cs typeface="Arial"/>
                          <a:sym typeface="Arial"/>
                        </a:rPr>
                        <a:t>م</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327025">
                <a:tc>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الإجمالي</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0" i="0" lang="ar-SA" sz="1200" u="none" cap="none" strike="noStrike">
                          <a:solidFill>
                            <a:srgbClr val="FFFFFF"/>
                          </a:solidFill>
                          <a:latin typeface="Calibri"/>
                          <a:ea typeface="Calibri"/>
                          <a:cs typeface="Calibri"/>
                          <a:sym typeface="Calibri"/>
                        </a:rPr>
                        <a:t>20</a:t>
                      </a:r>
                      <a:r>
                        <a:rPr lang="ar-SA" sz="1200">
                          <a:solidFill>
                            <a:srgbClr val="FFFFFF"/>
                          </a:solidFill>
                          <a:latin typeface="Calibri"/>
                          <a:ea typeface="Calibri"/>
                          <a:cs typeface="Calibri"/>
                          <a:sym typeface="Calibri"/>
                        </a:rPr>
                        <a:t>30</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rgbClr val="FFFFFF"/>
                        </a:buClr>
                        <a:buSzPts val="1200"/>
                        <a:buFont typeface="Calibri"/>
                        <a:buNone/>
                      </a:pPr>
                      <a:r>
                        <a:rPr b="0" i="0" lang="ar-SA" sz="1200" u="none" cap="none" strike="noStrike">
                          <a:solidFill>
                            <a:srgbClr val="FFFFFF"/>
                          </a:solidFill>
                          <a:latin typeface="Calibri"/>
                          <a:ea typeface="Calibri"/>
                          <a:cs typeface="Calibri"/>
                          <a:sym typeface="Calibri"/>
                        </a:rPr>
                        <a:t>202</a:t>
                      </a:r>
                      <a:r>
                        <a:rPr lang="ar-SA" sz="1200">
                          <a:solidFill>
                            <a:srgbClr val="FFFFFF"/>
                          </a:solidFill>
                          <a:latin typeface="Calibri"/>
                          <a:ea typeface="Calibri"/>
                          <a:cs typeface="Calibri"/>
                          <a:sym typeface="Calibri"/>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202</a:t>
                      </a:r>
                      <a:r>
                        <a:rPr b="1" lang="ar-SA" sz="1200">
                          <a:solidFill>
                            <a:schemeClr val="lt1"/>
                          </a:solidFill>
                        </a:rPr>
                        <a:t>8</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202</a:t>
                      </a:r>
                      <a:r>
                        <a:rPr b="1" lang="ar-SA" sz="1200">
                          <a:solidFill>
                            <a:schemeClr val="lt1"/>
                          </a:solidFill>
                        </a:rPr>
                        <a:t>7</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1" i="0" lang="ar-SA" sz="1200" u="none" cap="none" strike="noStrike">
                          <a:solidFill>
                            <a:schemeClr val="lt1"/>
                          </a:solidFill>
                          <a:latin typeface="Arial"/>
                          <a:ea typeface="Arial"/>
                          <a:cs typeface="Arial"/>
                          <a:sym typeface="Arial"/>
                        </a:rPr>
                        <a:t>202</a:t>
                      </a:r>
                      <a:r>
                        <a:rPr b="1" lang="ar-SA" sz="1200">
                          <a:solidFill>
                            <a:schemeClr val="lt1"/>
                          </a:solidFill>
                        </a:rPr>
                        <a:t>6</a:t>
                      </a:r>
                      <a:endParaRPr b="1" i="0" sz="12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vMerge="1"/>
                <a:tc vMerge="1"/>
              </a:tr>
              <a:tr h="617675">
                <a:tc>
                  <a:txBody>
                    <a:bodyPr/>
                    <a:lstStyle/>
                    <a:p>
                      <a:pPr indent="0" lvl="0" marL="0" marR="0" rtl="1" algn="ctr">
                        <a:spcBef>
                          <a:spcPts val="0"/>
                        </a:spcBef>
                        <a:spcAft>
                          <a:spcPts val="0"/>
                        </a:spcAft>
                        <a:buNone/>
                      </a:pPr>
                      <a:r>
                        <a:rPr lang="ar-SA" sz="1200">
                          <a:solidFill>
                            <a:schemeClr val="dk1"/>
                          </a:solidFill>
                          <a:latin typeface="Calibri"/>
                          <a:ea typeface="Calibri"/>
                          <a:cs typeface="Calibri"/>
                          <a:sym typeface="Calibri"/>
                        </a:rPr>
                        <a:t>500 متطوع</a:t>
                      </a:r>
                      <a:endParaRPr b="0" i="0" sz="1200" u="none" cap="none" strike="noStrike">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D3E3"/>
                    </a:solidFill>
                  </a:tcPr>
                </a:tc>
                <a:tc>
                  <a:txBody>
                    <a:bodyPr/>
                    <a:lstStyle/>
                    <a:p>
                      <a:pPr indent="0" lvl="0" marL="0" rtl="0" algn="l">
                        <a:spcBef>
                          <a:spcPts val="0"/>
                        </a:spcBef>
                        <a:spcAft>
                          <a:spcPts val="0"/>
                        </a:spcAft>
                        <a:buNone/>
                      </a:pPr>
                      <a:r>
                        <a:rPr lang="ar-SA" sz="1200"/>
                        <a:t>100 متطوع</a:t>
                      </a:r>
                      <a:endParaRPr sz="12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ar-SA" sz="1200"/>
                        <a:t>100 متطوع</a:t>
                      </a:r>
                      <a:endParaRPr sz="12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ar-SA" sz="1200"/>
                        <a:t>100 متطوع</a:t>
                      </a:r>
                      <a:endParaRPr sz="12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r">
                        <a:spcBef>
                          <a:spcPts val="0"/>
                        </a:spcBef>
                        <a:spcAft>
                          <a:spcPts val="0"/>
                        </a:spcAft>
                        <a:buNone/>
                      </a:pPr>
                      <a:r>
                        <a:rPr lang="ar-SA" sz="1200"/>
                        <a:t>100 متطوع</a:t>
                      </a:r>
                      <a:endParaRPr sz="12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r">
                        <a:spcBef>
                          <a:spcPts val="0"/>
                        </a:spcBef>
                        <a:spcAft>
                          <a:spcPts val="0"/>
                        </a:spcAft>
                        <a:buNone/>
                      </a:pPr>
                      <a:r>
                        <a:rPr lang="ar-SA" sz="1200"/>
                        <a:t>100 متطوع</a:t>
                      </a:r>
                      <a:endParaRPr sz="12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just">
                        <a:lnSpc>
                          <a:spcPct val="115000"/>
                        </a:lnSpc>
                        <a:spcBef>
                          <a:spcPts val="0"/>
                        </a:spcBef>
                        <a:spcAft>
                          <a:spcPts val="0"/>
                        </a:spcAft>
                        <a:buClr>
                          <a:schemeClr val="dk1"/>
                        </a:buClr>
                        <a:buSzPts val="1200"/>
                        <a:buFont typeface="Readex Pro SemiBold"/>
                        <a:buNone/>
                      </a:pPr>
                      <a:r>
                        <a:rPr lang="ar-SA" sz="1200">
                          <a:solidFill>
                            <a:schemeClr val="dk1"/>
                          </a:solidFill>
                          <a:latin typeface="Calibri"/>
                          <a:ea typeface="Calibri"/>
                          <a:cs typeface="Calibri"/>
                          <a:sym typeface="Calibri"/>
                        </a:rPr>
                        <a:t>عدد المتطوعين الفاعلين الجدد المستقطبين </a:t>
                      </a:r>
                      <a:endParaRPr/>
                    </a:p>
                  </a:txBody>
                  <a:tcPr marT="8900" marB="8900" marR="13350" marL="13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i="0" lang="ar-SA" sz="1200" u="none" cap="none" strike="noStrike">
                          <a:solidFill>
                            <a:schemeClr val="lt1"/>
                          </a:solidFill>
                          <a:latin typeface="Calibri"/>
                          <a:ea typeface="Calibri"/>
                          <a:cs typeface="Calibri"/>
                          <a:sym typeface="Calibri"/>
                        </a:rPr>
                        <a:t>ط 1</a:t>
                      </a:r>
                      <a:endParaRPr b="0" i="0" sz="1200" u="none" cap="none" strike="noStrike">
                        <a:solidFill>
                          <a:schemeClr val="lt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327025">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sz="120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D3E3"/>
                    </a:solidFill>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sz="120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4</a:t>
                      </a:r>
                      <a:r>
                        <a:rPr lang="ar-SA" sz="1200">
                          <a:solidFill>
                            <a:schemeClr val="dk1"/>
                          </a:solidFill>
                          <a:latin typeface="Calibri"/>
                          <a:ea typeface="Calibri"/>
                          <a:cs typeface="Calibri"/>
                          <a:sym typeface="Calibri"/>
                        </a:rPr>
                        <a:t>0%</a:t>
                      </a:r>
                      <a:endParaRPr sz="120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3</a:t>
                      </a:r>
                      <a:r>
                        <a:rPr lang="ar-SA" sz="1200">
                          <a:solidFill>
                            <a:schemeClr val="dk1"/>
                          </a:solidFill>
                          <a:latin typeface="Calibri"/>
                          <a:ea typeface="Calibri"/>
                          <a:cs typeface="Calibri"/>
                          <a:sym typeface="Calibri"/>
                        </a:rPr>
                        <a:t>0%</a:t>
                      </a:r>
                      <a:endParaRPr sz="1200">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000000"/>
                        </a:buClr>
                        <a:buSzPts val="1200"/>
                        <a:buFont typeface="Calibri"/>
                        <a:buNone/>
                      </a:pPr>
                      <a:r>
                        <a:rPr lang="ar-SA" sz="1200">
                          <a:latin typeface="Calibri"/>
                          <a:ea typeface="Calibri"/>
                          <a:cs typeface="Calibri"/>
                          <a:sym typeface="Calibri"/>
                        </a:rPr>
                        <a:t>2</a:t>
                      </a:r>
                      <a:r>
                        <a:rPr b="0" i="0" lang="ar-SA" sz="1200" u="none" cap="none" strike="noStrike">
                          <a:solidFill>
                            <a:srgbClr val="000000"/>
                          </a:solidFill>
                          <a:latin typeface="Calibri"/>
                          <a:ea typeface="Calibri"/>
                          <a:cs typeface="Calibri"/>
                          <a:sym typeface="Calibri"/>
                        </a:rPr>
                        <a:t>0%</a:t>
                      </a:r>
                      <a:endParaRPr b="0" i="0"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spcBef>
                          <a:spcPts val="0"/>
                        </a:spcBef>
                        <a:spcAft>
                          <a:spcPts val="0"/>
                        </a:spcAft>
                        <a:buNone/>
                      </a:pPr>
                      <a:r>
                        <a:rPr lang="ar-SA" sz="1200">
                          <a:solidFill>
                            <a:schemeClr val="dk1"/>
                          </a:solidFill>
                          <a:latin typeface="Calibri"/>
                          <a:ea typeface="Calibri"/>
                          <a:cs typeface="Calibri"/>
                          <a:sym typeface="Calibri"/>
                        </a:rPr>
                        <a:t>1</a:t>
                      </a:r>
                      <a:r>
                        <a:rPr b="0" i="0" lang="ar-SA" sz="1200" u="none" cap="none" strike="noStrike">
                          <a:solidFill>
                            <a:schemeClr val="dk1"/>
                          </a:solidFill>
                          <a:latin typeface="Calibri"/>
                          <a:ea typeface="Calibri"/>
                          <a:cs typeface="Calibri"/>
                          <a:sym typeface="Calibri"/>
                        </a:rPr>
                        <a:t>0%</a:t>
                      </a:r>
                      <a:endParaRPr b="0" i="0" sz="1200" u="none" cap="none" strike="noStrike">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just">
                        <a:lnSpc>
                          <a:spcPct val="115000"/>
                        </a:lnSpc>
                        <a:spcBef>
                          <a:spcPts val="0"/>
                        </a:spcBef>
                        <a:spcAft>
                          <a:spcPts val="0"/>
                        </a:spcAft>
                        <a:buClr>
                          <a:schemeClr val="dk1"/>
                        </a:buClr>
                        <a:buSzPts val="1200"/>
                        <a:buFont typeface="Readex Pro SemiBold"/>
                        <a:buNone/>
                      </a:pPr>
                      <a:r>
                        <a:rPr lang="ar-SA" sz="1200">
                          <a:solidFill>
                            <a:schemeClr val="dk1"/>
                          </a:solidFill>
                          <a:latin typeface="Calibri"/>
                          <a:ea typeface="Calibri"/>
                          <a:cs typeface="Calibri"/>
                          <a:sym typeface="Calibri"/>
                        </a:rPr>
                        <a:t>نسبة الاستبقاء </a:t>
                      </a:r>
                      <a:r>
                        <a:rPr lang="ar-SA" sz="1200">
                          <a:solidFill>
                            <a:schemeClr val="dk1"/>
                          </a:solidFill>
                          <a:latin typeface="Calibri"/>
                          <a:ea typeface="Calibri"/>
                          <a:cs typeface="Calibri"/>
                          <a:sym typeface="Calibri"/>
                        </a:rPr>
                        <a:t>للمتطوعين</a:t>
                      </a:r>
                      <a:endParaRPr/>
                    </a:p>
                  </a:txBody>
                  <a:tcPr marT="8900" marB="8900" marR="13350" marL="13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i="0" lang="ar-SA" sz="1200" u="none" cap="none" strike="noStrike">
                          <a:solidFill>
                            <a:schemeClr val="lt1"/>
                          </a:solidFill>
                          <a:latin typeface="Calibri"/>
                          <a:ea typeface="Calibri"/>
                          <a:cs typeface="Calibri"/>
                          <a:sym typeface="Calibri"/>
                        </a:rPr>
                        <a:t>ط 2</a:t>
                      </a:r>
                      <a:endParaRPr b="0" i="0" sz="1200" u="none" cap="none" strike="noStrike">
                        <a:solidFill>
                          <a:schemeClr val="lt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327025">
                <a:tc>
                  <a:txBody>
                    <a:bodyPr/>
                    <a:lstStyle/>
                    <a:p>
                      <a:pPr indent="0" lvl="0" marL="0" marR="0" rtl="1" algn="ctr">
                        <a:spcBef>
                          <a:spcPts val="0"/>
                        </a:spcBef>
                        <a:spcAft>
                          <a:spcPts val="0"/>
                        </a:spcAft>
                        <a:buNone/>
                      </a:pPr>
                      <a:r>
                        <a:rPr lang="ar-SA" sz="1200">
                          <a:solidFill>
                            <a:schemeClr val="dk1"/>
                          </a:solidFill>
                          <a:latin typeface="Calibri"/>
                          <a:ea typeface="Calibri"/>
                          <a:cs typeface="Calibri"/>
                          <a:sym typeface="Calibri"/>
                        </a:rPr>
                        <a:t>250</a:t>
                      </a:r>
                      <a:endParaRPr b="0" i="0" sz="1200" u="none" cap="none" strike="noStrike">
                        <a:solidFill>
                          <a:schemeClr val="dk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D3E3"/>
                    </a:solidFill>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lang="ar-SA" sz="1200">
                          <a:solidFill>
                            <a:schemeClr val="dk1"/>
                          </a:solidFill>
                          <a:latin typeface="Calibri"/>
                          <a:ea typeface="Calibri"/>
                          <a:cs typeface="Calibri"/>
                          <a:sym typeface="Calibri"/>
                        </a:rPr>
                        <a:t>50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000000"/>
                        </a:buClr>
                        <a:buSzPts val="1200"/>
                        <a:buFont typeface="Calibri"/>
                        <a:buNone/>
                      </a:pPr>
                      <a:r>
                        <a:rPr lang="ar-SA" sz="1200">
                          <a:latin typeface="Calibri"/>
                          <a:ea typeface="Calibri"/>
                          <a:cs typeface="Calibri"/>
                          <a:sym typeface="Calibri"/>
                        </a:rPr>
                        <a:t>50</a:t>
                      </a:r>
                      <a:endParaRPr b="0" i="0" sz="1200" u="none" cap="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just">
                        <a:lnSpc>
                          <a:spcPct val="115000"/>
                        </a:lnSpc>
                        <a:spcBef>
                          <a:spcPts val="0"/>
                        </a:spcBef>
                        <a:spcAft>
                          <a:spcPts val="0"/>
                        </a:spcAft>
                        <a:buClr>
                          <a:schemeClr val="dk1"/>
                        </a:buClr>
                        <a:buSzPts val="1200"/>
                        <a:buFont typeface="Readex Pro SemiBold"/>
                        <a:buNone/>
                      </a:pPr>
                      <a:r>
                        <a:rPr lang="ar-SA" sz="1200">
                          <a:solidFill>
                            <a:schemeClr val="dk1"/>
                          </a:solidFill>
                          <a:latin typeface="Calibri"/>
                          <a:ea typeface="Calibri"/>
                          <a:cs typeface="Calibri"/>
                          <a:sym typeface="Calibri"/>
                        </a:rPr>
                        <a:t>إجمالي عدد المتطوعين الفاعلين (تراكمي)</a:t>
                      </a:r>
                      <a:endParaRPr/>
                    </a:p>
                  </a:txBody>
                  <a:tcPr marT="8900" marB="8900" marR="13350" marL="133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i="0" lang="ar-SA" sz="1200" u="none" cap="none" strike="noStrike">
                          <a:solidFill>
                            <a:schemeClr val="lt1"/>
                          </a:solidFill>
                          <a:latin typeface="Calibri"/>
                          <a:ea typeface="Calibri"/>
                          <a:cs typeface="Calibri"/>
                          <a:sym typeface="Calibri"/>
                        </a:rPr>
                        <a:t>ط 3</a:t>
                      </a:r>
                      <a:endParaRPr b="0" i="0" sz="1200" u="none" cap="none" strike="noStrike">
                        <a:solidFill>
                          <a:schemeClr val="lt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bl>
          </a:graphicData>
        </a:graphic>
      </p:graphicFrame>
      <p:graphicFrame>
        <p:nvGraphicFramePr>
          <p:cNvPr id="182" name="Google Shape;182;p10"/>
          <p:cNvGraphicFramePr/>
          <p:nvPr/>
        </p:nvGraphicFramePr>
        <p:xfrm>
          <a:off x="806971" y="746006"/>
          <a:ext cx="3000000" cy="3000000"/>
        </p:xfrm>
        <a:graphic>
          <a:graphicData uri="http://schemas.openxmlformats.org/drawingml/2006/table">
            <a:tbl>
              <a:tblPr>
                <a:noFill/>
                <a:tableStyleId>{E498DA62-9057-4D8C-BA5C-EEBBFE029288}</a:tableStyleId>
              </a:tblPr>
              <a:tblGrid>
                <a:gridCol w="1600900"/>
                <a:gridCol w="1600900"/>
                <a:gridCol w="1600900"/>
                <a:gridCol w="1600900"/>
                <a:gridCol w="1555225"/>
                <a:gridCol w="1420000"/>
                <a:gridCol w="1533825"/>
              </a:tblGrid>
              <a:tr h="269825">
                <a:tc gridSpan="7">
                  <a:txBody>
                    <a:bodyPr/>
                    <a:lstStyle/>
                    <a:p>
                      <a:pPr indent="0" lvl="0" marL="0" marR="0" rtl="1" algn="ctr">
                        <a:lnSpc>
                          <a:spcPct val="100000"/>
                        </a:lnSpc>
                        <a:spcBef>
                          <a:spcPts val="0"/>
                        </a:spcBef>
                        <a:spcAft>
                          <a:spcPts val="0"/>
                        </a:spcAft>
                        <a:buClr>
                          <a:schemeClr val="dk1"/>
                        </a:buClr>
                        <a:buSzPts val="1400"/>
                        <a:buFont typeface="Arial"/>
                        <a:buNone/>
                      </a:pPr>
                      <a:r>
                        <a:rPr b="0" lang="ar-SA" sz="1400" u="none" cap="none" strike="noStrike">
                          <a:solidFill>
                            <a:schemeClr val="dk1"/>
                          </a:solidFill>
                          <a:latin typeface="Arial"/>
                          <a:ea typeface="Arial"/>
                          <a:cs typeface="Arial"/>
                          <a:sym typeface="Arial"/>
                        </a:rPr>
                        <a:t>بطاقة النتيجة</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hMerge="1"/>
                <a:tc hMerge="1"/>
                <a:tc hMerge="1"/>
                <a:tc hMerge="1"/>
                <a:tc hMerge="1"/>
                <a:tc hMerge="1"/>
              </a:tr>
              <a:tr h="512650">
                <a:tc gridSpan="6">
                  <a:txBody>
                    <a:bodyPr/>
                    <a:lstStyle/>
                    <a:p>
                      <a:pPr indent="0" lvl="0" marL="0" marR="0" rtl="1" algn="r">
                        <a:lnSpc>
                          <a:spcPct val="100000"/>
                        </a:lnSpc>
                        <a:spcBef>
                          <a:spcPts val="0"/>
                        </a:spcBef>
                        <a:spcAft>
                          <a:spcPts val="0"/>
                        </a:spcAft>
                        <a:buClr>
                          <a:schemeClr val="accent1"/>
                        </a:buClr>
                        <a:buSzPts val="1600"/>
                        <a:buFont typeface="Arial"/>
                        <a:buNone/>
                      </a:pPr>
                      <a:r>
                        <a:rPr lang="ar-SA" sz="1600">
                          <a:solidFill>
                            <a:schemeClr val="accent1"/>
                          </a:solidFill>
                        </a:rPr>
                        <a:t>التحول إلى وحدة تطوع رائدة ومستدامة (بيت خبرة) تخرّج كفاءات شبابية قيادية</a:t>
                      </a:r>
                      <a:endParaRPr/>
                    </a:p>
                  </a:txBody>
                  <a:tcPr marT="45725" marB="45725" marR="91450" marL="91450" anchor="ctr">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hMerge="1"/>
                <a:tc hMerge="1"/>
                <a:tc hMerge="1"/>
                <a:tc hMerge="1"/>
                <a:tc hMerge="1"/>
                <a:tc>
                  <a:txBody>
                    <a:bodyPr/>
                    <a:lstStyle/>
                    <a:p>
                      <a:pPr indent="0" lvl="0" marL="0" marR="0" rtl="1" algn="ctr">
                        <a:spcBef>
                          <a:spcPts val="0"/>
                        </a:spcBef>
                        <a:spcAft>
                          <a:spcPts val="0"/>
                        </a:spcAft>
                        <a:buNone/>
                      </a:pPr>
                      <a:r>
                        <a:rPr lang="ar-SA" sz="1600" u="none" cap="none" strike="noStrike"/>
                        <a:t>النتيجة طويلة المدى</a:t>
                      </a:r>
                      <a:endParaRPr sz="1600" u="none" cap="none" strike="noStrike">
                        <a:latin typeface="Arial"/>
                        <a:ea typeface="Arial"/>
                        <a:cs typeface="Arial"/>
                        <a:sym typeface="Arial"/>
                      </a:endParaRPr>
                    </a:p>
                  </a:txBody>
                  <a:tcPr marT="45725" marB="45725" marR="91450" marL="91450" anchor="ctr">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1025300">
                <a:tc gridSpan="6">
                  <a:txBody>
                    <a:bodyPr/>
                    <a:lstStyle/>
                    <a:p>
                      <a:pPr indent="0" lvl="0" marL="0" marR="0" rtl="1" algn="just">
                        <a:lnSpc>
                          <a:spcPct val="100000"/>
                        </a:lnSpc>
                        <a:spcBef>
                          <a:spcPts val="0"/>
                        </a:spcBef>
                        <a:spcAft>
                          <a:spcPts val="0"/>
                        </a:spcAft>
                        <a:buClr>
                          <a:schemeClr val="dk1"/>
                        </a:buClr>
                        <a:buSzPts val="1400"/>
                        <a:buFont typeface="Calibri"/>
                        <a:buNone/>
                      </a:pPr>
                      <a:r>
                        <a:rPr lang="ar-SA">
                          <a:solidFill>
                            <a:schemeClr val="dk1"/>
                          </a:solidFill>
                          <a:latin typeface="Calibri"/>
                          <a:ea typeface="Calibri"/>
                          <a:cs typeface="Calibri"/>
                          <a:sym typeface="Calibri"/>
                        </a:rPr>
                        <a:t>تحويل العمل التطوعي في الجمعية من عمل "مساند" إلى محرك أساسي للانجاز، بحيث يصبح المتطوع شريكاً في صناعة القرار وليس مجرد منفذ, من خلال</a:t>
                      </a:r>
                      <a:r>
                        <a:rPr b="1" lang="ar-SA">
                          <a:solidFill>
                            <a:schemeClr val="dk1"/>
                          </a:solidFill>
                          <a:latin typeface="Calibri"/>
                          <a:ea typeface="Calibri"/>
                          <a:cs typeface="Calibri"/>
                          <a:sym typeface="Calibri"/>
                        </a:rPr>
                        <a:t> </a:t>
                      </a:r>
                      <a:r>
                        <a:rPr b="1" lang="ar-SA">
                          <a:solidFill>
                            <a:schemeClr val="dk1"/>
                          </a:solidFill>
                        </a:rPr>
                        <a:t>بناء قاعدة بيانات تضم 500 متطوع فاعل (بمعدل استبقاء لا يقل عن 50%)</a:t>
                      </a:r>
                      <a:endParaRPr b="1"/>
                    </a:p>
                  </a:txBody>
                  <a:tcPr marT="45725" marB="45725" marR="91450" marL="91450" anchor="ctr">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hMerge="1"/>
                <a:tc hMerge="1"/>
                <a:tc hMerge="1"/>
                <a:tc hMerge="1"/>
                <a:tc hMerge="1"/>
                <a:tc>
                  <a:txBody>
                    <a:bodyPr/>
                    <a:lstStyle/>
                    <a:p>
                      <a:pPr indent="0" lvl="0" marL="0" marR="0" rtl="1" algn="ctr">
                        <a:lnSpc>
                          <a:spcPct val="100000"/>
                        </a:lnSpc>
                        <a:spcBef>
                          <a:spcPts val="0"/>
                        </a:spcBef>
                        <a:spcAft>
                          <a:spcPts val="0"/>
                        </a:spcAft>
                        <a:buClr>
                          <a:srgbClr val="000000"/>
                        </a:buClr>
                        <a:buSzPts val="1600"/>
                        <a:buFont typeface="Arial"/>
                        <a:buNone/>
                      </a:pPr>
                      <a:r>
                        <a:rPr b="1" i="0" lang="ar-SA" sz="1600" u="none" cap="none" strike="noStrike">
                          <a:solidFill>
                            <a:schemeClr val="lt1"/>
                          </a:solidFill>
                          <a:latin typeface="Calibri"/>
                          <a:ea typeface="Calibri"/>
                          <a:cs typeface="Calibri"/>
                          <a:sym typeface="Calibri"/>
                        </a:rPr>
                        <a:t>وصف النتيجة</a:t>
                      </a:r>
                      <a:endParaRPr/>
                    </a:p>
                  </a:txBody>
                  <a:tcPr marT="45725" marB="45725" marR="91450" marL="91450" anchor="ctr">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269825">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المجموع</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20</a:t>
                      </a:r>
                      <a:r>
                        <a:rPr lang="ar-SA">
                          <a:solidFill>
                            <a:schemeClr val="lt1"/>
                          </a:solidFill>
                          <a:latin typeface="Calibri"/>
                          <a:ea typeface="Calibri"/>
                          <a:cs typeface="Calibri"/>
                          <a:sym typeface="Calibri"/>
                        </a:rPr>
                        <a:t>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202</a:t>
                      </a:r>
                      <a:r>
                        <a:rPr lang="ar-SA">
                          <a:solidFill>
                            <a:schemeClr val="lt1"/>
                          </a:solidFill>
                          <a:latin typeface="Calibri"/>
                          <a:ea typeface="Calibri"/>
                          <a:cs typeface="Calibri"/>
                          <a:sym typeface="Calibri"/>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202</a:t>
                      </a:r>
                      <a:r>
                        <a:rPr lang="ar-SA">
                          <a:solidFill>
                            <a:schemeClr val="lt1"/>
                          </a:solidFill>
                          <a:latin typeface="Calibri"/>
                          <a:ea typeface="Calibri"/>
                          <a:cs typeface="Calibri"/>
                          <a:sym typeface="Calibri"/>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202</a:t>
                      </a:r>
                      <a:r>
                        <a:rPr lang="ar-SA">
                          <a:solidFill>
                            <a:schemeClr val="lt1"/>
                          </a:solidFill>
                          <a:latin typeface="Calibri"/>
                          <a:ea typeface="Calibri"/>
                          <a:cs typeface="Calibri"/>
                          <a:sym typeface="Calibri"/>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lnSpc>
                          <a:spcPct val="100000"/>
                        </a:lnSpc>
                        <a:spcBef>
                          <a:spcPts val="0"/>
                        </a:spcBef>
                        <a:spcAft>
                          <a:spcPts val="0"/>
                        </a:spcAft>
                        <a:buClr>
                          <a:schemeClr val="lt1"/>
                        </a:buClr>
                        <a:buSzPts val="1400"/>
                        <a:buFont typeface="Calibri"/>
                        <a:buNone/>
                      </a:pPr>
                      <a:r>
                        <a:rPr b="0" i="0" lang="ar-SA" sz="1400" u="none" cap="none" strike="noStrike">
                          <a:solidFill>
                            <a:schemeClr val="lt1"/>
                          </a:solidFill>
                          <a:latin typeface="Calibri"/>
                          <a:ea typeface="Calibri"/>
                          <a:cs typeface="Calibri"/>
                          <a:sym typeface="Calibri"/>
                        </a:rPr>
                        <a:t>202</a:t>
                      </a:r>
                      <a:r>
                        <a:rPr lang="ar-SA">
                          <a:solidFill>
                            <a:schemeClr val="lt1"/>
                          </a:solidFill>
                          <a:latin typeface="Calibri"/>
                          <a:ea typeface="Calibri"/>
                          <a:cs typeface="Calibri"/>
                          <a:sym typeface="Calibri"/>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rowSpan="2">
                  <a:txBody>
                    <a:bodyPr/>
                    <a:lstStyle/>
                    <a:p>
                      <a:pPr indent="0" lvl="0" marL="0" marR="0" rtl="1" algn="ctr">
                        <a:lnSpc>
                          <a:spcPct val="100000"/>
                        </a:lnSpc>
                        <a:spcBef>
                          <a:spcPts val="0"/>
                        </a:spcBef>
                        <a:spcAft>
                          <a:spcPts val="0"/>
                        </a:spcAft>
                        <a:buClr>
                          <a:srgbClr val="000000"/>
                        </a:buClr>
                        <a:buSzPts val="1600"/>
                        <a:buFont typeface="Arial"/>
                        <a:buNone/>
                      </a:pPr>
                      <a:r>
                        <a:rPr b="1" i="0" lang="ar-SA" sz="1600" u="none" cap="none" strike="noStrike">
                          <a:solidFill>
                            <a:schemeClr val="lt1"/>
                          </a:solidFill>
                          <a:latin typeface="Calibri"/>
                          <a:ea typeface="Calibri"/>
                          <a:cs typeface="Calibri"/>
                          <a:sym typeface="Calibri"/>
                        </a:rPr>
                        <a:t>العدد المستهدف من </a:t>
                      </a:r>
                      <a:r>
                        <a:rPr b="1" lang="ar-SA" sz="1600">
                          <a:solidFill>
                            <a:schemeClr val="lt1"/>
                          </a:solidFill>
                          <a:latin typeface="Calibri"/>
                          <a:ea typeface="Calibri"/>
                          <a:cs typeface="Calibri"/>
                          <a:sym typeface="Calibri"/>
                        </a:rPr>
                        <a:t>المتطوعين</a:t>
                      </a:r>
                      <a:r>
                        <a:rPr b="1" lang="ar-SA" sz="1600">
                          <a:solidFill>
                            <a:schemeClr val="lt1"/>
                          </a:solidFill>
                          <a:latin typeface="Calibri"/>
                          <a:ea typeface="Calibri"/>
                          <a:cs typeface="Calibri"/>
                          <a:sym typeface="Calibri"/>
                        </a:rPr>
                        <a:t> الفاعلين</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269825">
                <a:tc>
                  <a:txBody>
                    <a:bodyPr/>
                    <a:lstStyle/>
                    <a:p>
                      <a:pPr indent="0" lvl="0" marL="0" rtl="1" algn="ctr">
                        <a:spcBef>
                          <a:spcPts val="0"/>
                        </a:spcBef>
                        <a:spcAft>
                          <a:spcPts val="0"/>
                        </a:spcAft>
                        <a:buClr>
                          <a:schemeClr val="dk1"/>
                        </a:buClr>
                        <a:buSzPts val="1400"/>
                        <a:buFont typeface="Calibri"/>
                        <a:buNone/>
                      </a:pPr>
                      <a:r>
                        <a:rPr lang="ar-SA">
                          <a:solidFill>
                            <a:schemeClr val="dk1"/>
                          </a:solidFill>
                          <a:latin typeface="Calibri"/>
                          <a:ea typeface="Calibri"/>
                          <a:cs typeface="Calibri"/>
                          <a:sym typeface="Calibri"/>
                        </a:rPr>
                        <a:t>5</a:t>
                      </a:r>
                      <a:r>
                        <a:rPr lang="ar-SA">
                          <a:solidFill>
                            <a:schemeClr val="dk1"/>
                          </a:solidFill>
                          <a:latin typeface="Calibri"/>
                          <a:ea typeface="Calibri"/>
                          <a:cs typeface="Calibri"/>
                          <a:sym typeface="Calibri"/>
                        </a:rPr>
                        <a:t>00 متطوع</a:t>
                      </a:r>
                      <a:endParaRPr>
                        <a:solidFill>
                          <a:schemeClr val="lt1"/>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rtl="1" algn="ctr">
                        <a:spcBef>
                          <a:spcPts val="0"/>
                        </a:spcBef>
                        <a:spcAft>
                          <a:spcPts val="0"/>
                        </a:spcAft>
                        <a:buNone/>
                      </a:pPr>
                      <a:r>
                        <a:rPr lang="ar-SA">
                          <a:solidFill>
                            <a:schemeClr val="dk1"/>
                          </a:solidFill>
                          <a:latin typeface="Calibri"/>
                          <a:ea typeface="Calibri"/>
                          <a:cs typeface="Calibri"/>
                          <a:sym typeface="Calibri"/>
                        </a:rPr>
                        <a:t>100 متطوع</a:t>
                      </a:r>
                      <a:endParaRPr>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None/>
                      </a:pPr>
                      <a:r>
                        <a:rPr lang="ar-SA">
                          <a:solidFill>
                            <a:schemeClr val="dk1"/>
                          </a:solidFill>
                          <a:latin typeface="Calibri"/>
                          <a:ea typeface="Calibri"/>
                          <a:cs typeface="Calibri"/>
                          <a:sym typeface="Calibri"/>
                        </a:rPr>
                        <a:t>100 متطوع</a:t>
                      </a:r>
                      <a:endParaRPr>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None/>
                      </a:pPr>
                      <a:r>
                        <a:rPr lang="ar-SA">
                          <a:solidFill>
                            <a:schemeClr val="dk1"/>
                          </a:solidFill>
                          <a:latin typeface="Calibri"/>
                          <a:ea typeface="Calibri"/>
                          <a:cs typeface="Calibri"/>
                          <a:sym typeface="Calibri"/>
                        </a:rPr>
                        <a:t>100 متطوع</a:t>
                      </a:r>
                      <a:endParaRPr>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rtl="1" algn="ctr">
                        <a:spcBef>
                          <a:spcPts val="0"/>
                        </a:spcBef>
                        <a:spcAft>
                          <a:spcPts val="0"/>
                        </a:spcAft>
                        <a:buNone/>
                      </a:pPr>
                      <a:r>
                        <a:rPr lang="ar-SA">
                          <a:solidFill>
                            <a:schemeClr val="dk1"/>
                          </a:solidFill>
                          <a:latin typeface="Calibri"/>
                          <a:ea typeface="Calibri"/>
                          <a:cs typeface="Calibri"/>
                          <a:sym typeface="Calibri"/>
                        </a:rPr>
                        <a:t>1</a:t>
                      </a:r>
                      <a:r>
                        <a:rPr lang="ar-SA">
                          <a:solidFill>
                            <a:schemeClr val="dk1"/>
                          </a:solidFill>
                          <a:latin typeface="Calibri"/>
                          <a:ea typeface="Calibri"/>
                          <a:cs typeface="Calibri"/>
                          <a:sym typeface="Calibri"/>
                        </a:rPr>
                        <a:t>00 متطوع</a:t>
                      </a:r>
                      <a:endParaRPr>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1" algn="ctr">
                        <a:lnSpc>
                          <a:spcPct val="100000"/>
                        </a:lnSpc>
                        <a:spcBef>
                          <a:spcPts val="0"/>
                        </a:spcBef>
                        <a:spcAft>
                          <a:spcPts val="0"/>
                        </a:spcAft>
                        <a:buClr>
                          <a:schemeClr val="dk1"/>
                        </a:buClr>
                        <a:buSzPts val="1400"/>
                        <a:buFont typeface="Calibri"/>
                        <a:buNone/>
                      </a:pPr>
                      <a:r>
                        <a:rPr lang="ar-SA">
                          <a:solidFill>
                            <a:schemeClr val="dk1"/>
                          </a:solidFill>
                          <a:latin typeface="Calibri"/>
                          <a:ea typeface="Calibri"/>
                          <a:cs typeface="Calibri"/>
                          <a:sym typeface="Calibri"/>
                        </a:rPr>
                        <a:t>100 متطوع</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vMerge="1"/>
              </a:tr>
              <a:tr h="269825">
                <a:tc gridSpan="6">
                  <a:txBody>
                    <a:bodyPr/>
                    <a:lstStyle/>
                    <a:p>
                      <a:pPr indent="0" lvl="0" marL="0" marR="0" rtl="1" algn="ctr">
                        <a:lnSpc>
                          <a:spcPct val="100000"/>
                        </a:lnSpc>
                        <a:spcBef>
                          <a:spcPts val="0"/>
                        </a:spcBef>
                        <a:spcAft>
                          <a:spcPts val="0"/>
                        </a:spcAft>
                        <a:buClr>
                          <a:schemeClr val="accent2"/>
                        </a:buClr>
                        <a:buSzPts val="1200"/>
                        <a:buFont typeface="Calibri"/>
                        <a:buNone/>
                      </a:pPr>
                      <a:r>
                        <a:rPr b="1" lang="ar-SA" sz="1200">
                          <a:solidFill>
                            <a:schemeClr val="accent2"/>
                          </a:solidFill>
                          <a:latin typeface="Calibri"/>
                          <a:ea typeface="Calibri"/>
                          <a:cs typeface="Calibri"/>
                          <a:sym typeface="Calibri"/>
                        </a:rPr>
                        <a:t>50</a:t>
                      </a:r>
                      <a:r>
                        <a:rPr b="1" i="0" lang="ar-SA" sz="1200" u="none" cap="none" strike="noStrike">
                          <a:solidFill>
                            <a:schemeClr val="accent2"/>
                          </a:solidFill>
                          <a:latin typeface="Calibri"/>
                          <a:ea typeface="Calibri"/>
                          <a:cs typeface="Calibri"/>
                          <a:sym typeface="Calibri"/>
                        </a:rPr>
                        <a:t>0</a:t>
                      </a:r>
                      <a:r>
                        <a:rPr b="0" i="0" lang="ar-SA" sz="1200" u="none" cap="none" strike="noStrike">
                          <a:solidFill>
                            <a:srgbClr val="000000"/>
                          </a:solidFill>
                          <a:latin typeface="Calibri"/>
                          <a:ea typeface="Calibri"/>
                          <a:cs typeface="Calibri"/>
                          <a:sym typeface="Calibri"/>
                        </a:rPr>
                        <a:t> </a:t>
                      </a:r>
                      <a:r>
                        <a:rPr lang="ar-SA" sz="1200">
                          <a:latin typeface="Calibri"/>
                          <a:ea typeface="Calibri"/>
                          <a:cs typeface="Calibri"/>
                          <a:sym typeface="Calibri"/>
                        </a:rPr>
                        <a:t>متطوع فاعل</a:t>
                      </a:r>
                      <a:endParaRPr b="0" i="0" sz="1200" u="none" cap="none" strike="noStrike">
                        <a:solidFill>
                          <a:srgbClr val="713C66"/>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hMerge="1"/>
                <a:tc hMerge="1"/>
                <a:tc hMerge="1"/>
                <a:tc hMerge="1"/>
                <a:tc hMerge="1"/>
                <a:tc>
                  <a:txBody>
                    <a:bodyPr/>
                    <a:lstStyle/>
                    <a:p>
                      <a:pPr indent="0" lvl="0" marL="0" marR="0" rtl="1" algn="ctr">
                        <a:lnSpc>
                          <a:spcPct val="100000"/>
                        </a:lnSpc>
                        <a:spcBef>
                          <a:spcPts val="0"/>
                        </a:spcBef>
                        <a:spcAft>
                          <a:spcPts val="0"/>
                        </a:spcAft>
                        <a:buClr>
                          <a:srgbClr val="000000"/>
                        </a:buClr>
                        <a:buSzPts val="1600"/>
                        <a:buFont typeface="Arial"/>
                        <a:buNone/>
                      </a:pPr>
                      <a:r>
                        <a:rPr b="1" i="0" lang="ar-SA" sz="1600" u="none" cap="none" strike="noStrike">
                          <a:solidFill>
                            <a:schemeClr val="lt1"/>
                          </a:solidFill>
                          <a:latin typeface="Calibri"/>
                          <a:ea typeface="Calibri"/>
                          <a:cs typeface="Calibri"/>
                          <a:sym typeface="Calibri"/>
                        </a:rPr>
                        <a:t>التصنيف</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bl>
          </a:graphicData>
        </a:graphic>
      </p:graphicFrame>
      <p:sp>
        <p:nvSpPr>
          <p:cNvPr id="183" name="Google Shape;183;p10"/>
          <p:cNvSpPr txBox="1"/>
          <p:nvPr/>
        </p:nvSpPr>
        <p:spPr>
          <a:xfrm>
            <a:off x="794859" y="6303251"/>
            <a:ext cx="10924731" cy="415498"/>
          </a:xfrm>
          <a:prstGeom prst="rect">
            <a:avLst/>
          </a:prstGeom>
          <a:noFill/>
          <a:ln>
            <a:noFill/>
          </a:ln>
        </p:spPr>
        <p:txBody>
          <a:bodyPr anchorCtr="0" anchor="t" bIns="45700" lIns="91425" spcFirstLastPara="1" rIns="91425" wrap="square" tIns="45700">
            <a:spAutoFit/>
          </a:bodyPr>
          <a:lstStyle/>
          <a:p>
            <a:pPr indent="0" lvl="0" marL="0" marR="0" rtl="1" algn="r">
              <a:lnSpc>
                <a:spcPct val="100000"/>
              </a:lnSpc>
              <a:spcBef>
                <a:spcPts val="0"/>
              </a:spcBef>
              <a:spcAft>
                <a:spcPts val="0"/>
              </a:spcAft>
              <a:buClr>
                <a:srgbClr val="000000"/>
              </a:buClr>
              <a:buSzPts val="1050"/>
              <a:buFont typeface="Arial"/>
              <a:buNone/>
            </a:pPr>
            <a:r>
              <a:rPr b="0" i="0" lang="ar-SA" sz="1050" u="none" cap="none" strike="noStrike">
                <a:solidFill>
                  <a:srgbClr val="000000"/>
                </a:solidFill>
                <a:latin typeface="Arial"/>
                <a:ea typeface="Arial"/>
                <a:cs typeface="Arial"/>
                <a:sym typeface="Arial"/>
              </a:rPr>
              <a:t>* المؤشرات توضح حجم الإسهام الذي يسهم فيه الصندوق في النتيجة بعيدة المدى  لأن النتيجة بعيدة المدى تحقيقها دوما ليست مسئولية جهة واحدة بل يساهم فيها عدد من الجهات الأخرى غير الصندوق ممن لهم علاقة وصلة بالاستدامة المالية للجمعيات وتعظيم أثرها</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ctrTitle"/>
          </p:nvPr>
        </p:nvSpPr>
        <p:spPr>
          <a:xfrm>
            <a:off x="384930" y="185417"/>
            <a:ext cx="11071743" cy="681357"/>
          </a:xfrm>
          <a:prstGeom prst="rect">
            <a:avLst/>
          </a:prstGeom>
          <a:noFill/>
          <a:ln>
            <a:noFill/>
          </a:ln>
        </p:spPr>
        <p:txBody>
          <a:bodyPr anchorCtr="0" anchor="ctr" bIns="45700" lIns="91425" spcFirstLastPara="1" rIns="91425" wrap="square" tIns="45700">
            <a:noAutofit/>
          </a:bodyPr>
          <a:lstStyle/>
          <a:p>
            <a:pPr indent="0" lvl="0" marL="0" rtl="1" algn="r">
              <a:lnSpc>
                <a:spcPct val="90000"/>
              </a:lnSpc>
              <a:spcBef>
                <a:spcPts val="0"/>
              </a:spcBef>
              <a:spcAft>
                <a:spcPts val="0"/>
              </a:spcAft>
              <a:buClr>
                <a:srgbClr val="3A3838"/>
              </a:buClr>
              <a:buSzPts val="2000"/>
              <a:buFont typeface="Arial"/>
              <a:buNone/>
            </a:pPr>
            <a:r>
              <a:rPr lang="ar-SA">
                <a:latin typeface="Arial"/>
                <a:ea typeface="Arial"/>
                <a:cs typeface="Arial"/>
                <a:sym typeface="Arial"/>
              </a:rPr>
              <a:t>نظرية التغيير لإدارة الدعم </a:t>
            </a:r>
            <a:endParaRPr>
              <a:latin typeface="Arial"/>
              <a:ea typeface="Arial"/>
              <a:cs typeface="Arial"/>
              <a:sym typeface="Arial"/>
            </a:endParaRPr>
          </a:p>
        </p:txBody>
      </p:sp>
      <p:sp>
        <p:nvSpPr>
          <p:cNvPr id="190" name="Google Shape;190;p11"/>
          <p:cNvSpPr/>
          <p:nvPr/>
        </p:nvSpPr>
        <p:spPr>
          <a:xfrm>
            <a:off x="410133" y="146680"/>
            <a:ext cx="11315513" cy="681357"/>
          </a:xfrm>
          <a:prstGeom prst="rect">
            <a:avLst/>
          </a:prstGeom>
          <a:solidFill>
            <a:srgbClr val="F2F2F2"/>
          </a:solidFill>
          <a:ln>
            <a:noFill/>
          </a:ln>
        </p:spPr>
        <p:txBody>
          <a:bodyPr anchorCtr="0" anchor="ctr" bIns="45700" lIns="91425" spcFirstLastPara="1" rIns="91425" wrap="square" tIns="45700">
            <a:noAutofit/>
          </a:bodyPr>
          <a:lstStyle/>
          <a:p>
            <a:pPr indent="0" lvl="0" marL="0" marR="0" rtl="1" algn="r">
              <a:lnSpc>
                <a:spcPct val="100000"/>
              </a:lnSpc>
              <a:spcBef>
                <a:spcPts val="0"/>
              </a:spcBef>
              <a:spcAft>
                <a:spcPts val="0"/>
              </a:spcAft>
              <a:buClr>
                <a:srgbClr val="713C66"/>
              </a:buClr>
              <a:buSzPts val="2400"/>
              <a:buFont typeface="Arial"/>
              <a:buNone/>
            </a:pPr>
            <a:r>
              <a:rPr b="1" i="0" lang="ar-SA" sz="2400" u="none" cap="none" strike="noStrike">
                <a:solidFill>
                  <a:srgbClr val="713C66"/>
                </a:solidFill>
                <a:latin typeface="Arial"/>
                <a:ea typeface="Arial"/>
                <a:cs typeface="Arial"/>
                <a:sym typeface="Arial"/>
              </a:rPr>
              <a:t>خارطة النتيجة طويلة المدى 6.2</a:t>
            </a:r>
            <a:endParaRPr b="1" i="0" sz="2400" u="none" cap="none" strike="noStrike">
              <a:solidFill>
                <a:srgbClr val="713C66"/>
              </a:solidFill>
              <a:latin typeface="Arial"/>
              <a:ea typeface="Arial"/>
              <a:cs typeface="Arial"/>
              <a:sym typeface="Arial"/>
            </a:endParaRPr>
          </a:p>
        </p:txBody>
      </p:sp>
      <p:graphicFrame>
        <p:nvGraphicFramePr>
          <p:cNvPr id="191" name="Google Shape;191;p11"/>
          <p:cNvGraphicFramePr/>
          <p:nvPr/>
        </p:nvGraphicFramePr>
        <p:xfrm>
          <a:off x="518241" y="1014297"/>
          <a:ext cx="3000000" cy="3000000"/>
        </p:xfrm>
        <a:graphic>
          <a:graphicData uri="http://schemas.openxmlformats.org/drawingml/2006/table">
            <a:tbl>
              <a:tblPr>
                <a:noFill/>
                <a:tableStyleId>{E498DA62-9057-4D8C-BA5C-EEBBFE029288}</a:tableStyleId>
              </a:tblPr>
              <a:tblGrid>
                <a:gridCol w="1494150"/>
                <a:gridCol w="1044825"/>
                <a:gridCol w="1044825"/>
                <a:gridCol w="1044825"/>
                <a:gridCol w="503500"/>
                <a:gridCol w="773600"/>
                <a:gridCol w="767325"/>
                <a:gridCol w="372400"/>
                <a:gridCol w="1247900"/>
                <a:gridCol w="285825"/>
                <a:gridCol w="555400"/>
                <a:gridCol w="526775"/>
                <a:gridCol w="612325"/>
                <a:gridCol w="881825"/>
              </a:tblGrid>
              <a:tr h="207525">
                <a:tc gridSpan="14">
                  <a:txBody>
                    <a:bodyPr/>
                    <a:lstStyle/>
                    <a:p>
                      <a:pPr indent="0" lvl="0" marL="0" marR="0" rtl="1" algn="ctr">
                        <a:lnSpc>
                          <a:spcPct val="115000"/>
                        </a:lnSpc>
                        <a:spcBef>
                          <a:spcPts val="0"/>
                        </a:spcBef>
                        <a:spcAft>
                          <a:spcPts val="0"/>
                        </a:spcAft>
                        <a:buClr>
                          <a:srgbClr val="000000"/>
                        </a:buClr>
                        <a:buSzPts val="1200"/>
                        <a:buFont typeface="Readex Pro SemiBold"/>
                        <a:buNone/>
                      </a:pPr>
                      <a:r>
                        <a:rPr b="0" lang="ar-SA" sz="1200" u="none" cap="none" strike="noStrike">
                          <a:solidFill>
                            <a:schemeClr val="dk1"/>
                          </a:solidFill>
                          <a:latin typeface="Arial"/>
                          <a:ea typeface="Arial"/>
                          <a:cs typeface="Arial"/>
                          <a:sym typeface="Arial"/>
                        </a:rPr>
                        <a:t>بطاقة المؤشر</a:t>
                      </a:r>
                      <a:endParaRPr/>
                    </a:p>
                  </a:txBody>
                  <a:tcPr marT="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hMerge="1"/>
                <a:tc hMerge="1"/>
                <a:tc hMerge="1"/>
                <a:tc hMerge="1"/>
                <a:tc hMerge="1"/>
                <a:tc hMerge="1"/>
                <a:tc hMerge="1"/>
                <a:tc hMerge="1"/>
                <a:tc hMerge="1"/>
                <a:tc hMerge="1"/>
                <a:tc hMerge="1"/>
                <a:tc hMerge="1"/>
                <a:tc hMerge="1"/>
              </a:tr>
              <a:tr h="327100">
                <a:tc gridSpan="10">
                  <a:txBody>
                    <a:bodyPr/>
                    <a:lstStyle/>
                    <a:p>
                      <a:pPr indent="0" lvl="0" marL="0" rtl="1" algn="just">
                        <a:lnSpc>
                          <a:spcPct val="115000"/>
                        </a:lnSpc>
                        <a:spcBef>
                          <a:spcPts val="0"/>
                        </a:spcBef>
                        <a:spcAft>
                          <a:spcPts val="0"/>
                        </a:spcAft>
                        <a:buSzPts val="1200"/>
                        <a:buNone/>
                      </a:pPr>
                      <a:r>
                        <a:rPr lang="ar-SA" sz="1200">
                          <a:solidFill>
                            <a:schemeClr val="dk1"/>
                          </a:solidFill>
                          <a:latin typeface="Calibri"/>
                          <a:ea typeface="Calibri"/>
                          <a:cs typeface="Calibri"/>
                          <a:sym typeface="Calibri"/>
                        </a:rPr>
                        <a:t>نسبة الاستبقاء للمتطوعون</a:t>
                      </a:r>
                      <a:endParaRPr sz="1200">
                        <a:solidFill>
                          <a:schemeClr val="dk1"/>
                        </a:solidFill>
                        <a:latin typeface="Calibri"/>
                        <a:ea typeface="Calibri"/>
                        <a:cs typeface="Calibri"/>
                        <a:sym typeface="Calibri"/>
                      </a:endParaRPr>
                    </a:p>
                  </a:txBody>
                  <a:tcPr marT="0" marB="0" marR="91450" marL="91450" anchor="ctr">
                    <a:lnL cap="flat" cmpd="sng" w="12700">
                      <a:solidFill>
                        <a:schemeClr val="dk1"/>
                      </a:solidFill>
                      <a:prstDash val="solid"/>
                      <a:round/>
                      <a:headEnd len="sm" w="sm" type="none"/>
                      <a:tailEnd len="sm" w="sm" type="none"/>
                    </a:lnL>
                    <a:lnR cap="flat" cmpd="sng" w="12700">
                      <a:solidFill>
                        <a:srgbClr val="F7CAAC"/>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2">
                  <a:txBody>
                    <a:bodyPr/>
                    <a:lstStyle/>
                    <a:p>
                      <a:pPr indent="0" lvl="0" marL="0" marR="0" rtl="1" algn="ctr">
                        <a:spcBef>
                          <a:spcPts val="0"/>
                        </a:spcBef>
                        <a:spcAft>
                          <a:spcPts val="0"/>
                        </a:spcAft>
                        <a:buNone/>
                      </a:pPr>
                      <a:r>
                        <a:rPr b="0" lang="ar-SA" sz="1200" u="none" cap="none" strike="noStrike">
                          <a:solidFill>
                            <a:schemeClr val="lt1"/>
                          </a:solidFill>
                          <a:latin typeface="Arial"/>
                          <a:ea typeface="Arial"/>
                          <a:cs typeface="Arial"/>
                          <a:sym typeface="Arial"/>
                        </a:rPr>
                        <a:t>المؤشر</a:t>
                      </a:r>
                      <a:endParaRPr b="0" sz="1600" u="none" cap="none" strike="noStrike"/>
                    </a:p>
                  </a:txBody>
                  <a:tcPr marT="0" marB="0" marR="91450" marL="91450" anchor="ctr">
                    <a:lnL cap="flat" cmpd="sng" w="12700">
                      <a:solidFill>
                        <a:srgbClr val="F7CAAC"/>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a:txBody>
                    <a:bodyPr/>
                    <a:lstStyle/>
                    <a:p>
                      <a:pPr indent="0" lvl="0" marL="0" marR="0" rtl="0" algn="ctr">
                        <a:spcBef>
                          <a:spcPts val="0"/>
                        </a:spcBef>
                        <a:spcAft>
                          <a:spcPts val="0"/>
                        </a:spcAft>
                        <a:buNone/>
                      </a:pPr>
                      <a:r>
                        <a:rPr b="0" lang="ar-SA" sz="1200" u="none" cap="none" strike="noStrike">
                          <a:solidFill>
                            <a:schemeClr val="dk1"/>
                          </a:solidFill>
                          <a:latin typeface="Arial"/>
                          <a:ea typeface="Arial"/>
                          <a:cs typeface="Arial"/>
                          <a:sym typeface="Arial"/>
                        </a:rPr>
                        <a:t> ط </a:t>
                      </a:r>
                      <a:r>
                        <a:rPr lang="ar-SA" sz="1200">
                          <a:solidFill>
                            <a:schemeClr val="dk1"/>
                          </a:solidFill>
                        </a:rPr>
                        <a:t>2 </a:t>
                      </a:r>
                      <a:endParaRPr/>
                    </a:p>
                  </a:txBody>
                  <a:tcPr marT="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0000"/>
                        </a:lnSpc>
                        <a:spcBef>
                          <a:spcPts val="0"/>
                        </a:spcBef>
                        <a:spcAft>
                          <a:spcPts val="0"/>
                        </a:spcAft>
                        <a:buClr>
                          <a:srgbClr val="000000"/>
                        </a:buClr>
                        <a:buSzPts val="1200"/>
                        <a:buFont typeface="Arial"/>
                        <a:buNone/>
                      </a:pPr>
                      <a:r>
                        <a:rPr b="0" lang="ar-SA" sz="1200" u="none" cap="none" strike="noStrike">
                          <a:solidFill>
                            <a:schemeClr val="lt1"/>
                          </a:solidFill>
                        </a:rPr>
                        <a:t>رمز المؤشر</a:t>
                      </a:r>
                      <a:endParaRPr b="0" sz="1200" u="none" cap="none" strike="noStrike">
                        <a:solidFill>
                          <a:schemeClr val="lt1"/>
                        </a:solidFill>
                        <a:latin typeface="Arial"/>
                        <a:ea typeface="Arial"/>
                        <a:cs typeface="Arial"/>
                        <a:sym typeface="Arial"/>
                      </a:endParaRPr>
                    </a:p>
                  </a:txBody>
                  <a:tcPr marT="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303725">
                <a:tc gridSpan="12">
                  <a:txBody>
                    <a:bodyPr/>
                    <a:lstStyle/>
                    <a:p>
                      <a:pPr indent="0" lvl="0" marL="0" marR="0" rtl="1" algn="r">
                        <a:lnSpc>
                          <a:spcPct val="115000"/>
                        </a:lnSpc>
                        <a:spcBef>
                          <a:spcPts val="0"/>
                        </a:spcBef>
                        <a:spcAft>
                          <a:spcPts val="0"/>
                        </a:spcAft>
                        <a:buClr>
                          <a:schemeClr val="dk1"/>
                        </a:buClr>
                        <a:buSzPts val="1200"/>
                        <a:buFont typeface="Readex Pro SemiBold"/>
                        <a:buNone/>
                      </a:pPr>
                      <a:r>
                        <a:rPr lang="ar-SA" sz="1200">
                          <a:solidFill>
                            <a:schemeClr val="dk1"/>
                          </a:solidFill>
                        </a:rPr>
                        <a:t>ضمان استمرارية الكفاءات التطوعية وتقليل تكاليف الاستقطاب والتدريب المتكرر</a:t>
                      </a:r>
                      <a:endParaRPr/>
                    </a:p>
                  </a:txBody>
                  <a:tcPr marT="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hMerge="1"/>
                <a:tc hMerge="1"/>
                <a:tc gridSpan="2">
                  <a:txBody>
                    <a:bodyPr/>
                    <a:lstStyle/>
                    <a:p>
                      <a:pPr indent="0" lvl="0" marL="0" marR="0" rtl="1" algn="ctr">
                        <a:spcBef>
                          <a:spcPts val="0"/>
                        </a:spcBef>
                        <a:spcAft>
                          <a:spcPts val="0"/>
                        </a:spcAft>
                        <a:buNone/>
                      </a:pPr>
                      <a:r>
                        <a:rPr b="0" lang="ar-SA" sz="1200" u="none" cap="none" strike="noStrike">
                          <a:solidFill>
                            <a:schemeClr val="lt1"/>
                          </a:solidFill>
                          <a:latin typeface="Arial"/>
                          <a:ea typeface="Arial"/>
                          <a:cs typeface="Arial"/>
                          <a:sym typeface="Arial"/>
                        </a:rPr>
                        <a:t>النتيجة</a:t>
                      </a:r>
                      <a:endParaRPr b="0" sz="12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r>
              <a:tr h="303725">
                <a:tc gridSpan="12">
                  <a:txBody>
                    <a:bodyPr/>
                    <a:lstStyle/>
                    <a:p>
                      <a:pPr indent="0" lvl="0" marL="0" marR="0" rtl="1" algn="r">
                        <a:spcBef>
                          <a:spcPts val="0"/>
                        </a:spcBef>
                        <a:spcAft>
                          <a:spcPts val="0"/>
                        </a:spcAft>
                        <a:buNone/>
                      </a:pPr>
                      <a:r>
                        <a:rPr lang="ar-SA" sz="1100">
                          <a:solidFill>
                            <a:schemeClr val="dk1"/>
                          </a:solidFill>
                        </a:rPr>
                        <a:t>يقيس النسبة المئوية للمتطوعين الذين استمروا في العمل مع الجمعية أو عادوا للمشاركة في فرص أخرى خلال فترة زمنية محددة</a:t>
                      </a:r>
                      <a:endParaRPr/>
                    </a:p>
                  </a:txBody>
                  <a:tcPr marT="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hMerge="1"/>
                <a:tc hMerge="1"/>
                <a:tc gridSpan="2">
                  <a:txBody>
                    <a:bodyPr/>
                    <a:lstStyle/>
                    <a:p>
                      <a:pPr indent="0" lvl="0" marL="0" marR="0" rtl="1" algn="ctr">
                        <a:spcBef>
                          <a:spcPts val="0"/>
                        </a:spcBef>
                        <a:spcAft>
                          <a:spcPts val="0"/>
                        </a:spcAft>
                        <a:buNone/>
                      </a:pPr>
                      <a:r>
                        <a:rPr b="0" lang="ar-SA" sz="1200" u="none" cap="none" strike="noStrike">
                          <a:solidFill>
                            <a:schemeClr val="lt1"/>
                          </a:solidFill>
                        </a:rPr>
                        <a:t>وصف المؤشر</a:t>
                      </a:r>
                      <a:endParaRPr b="0" sz="12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r>
              <a:tr h="0">
                <a:tc gridSpan="14">
                  <a:txBody>
                    <a:bodyPr/>
                    <a:lstStyle/>
                    <a:p>
                      <a:pPr indent="0" lvl="0" marL="0" marR="0" rtl="1" algn="r">
                        <a:spcBef>
                          <a:spcPts val="0"/>
                        </a:spcBef>
                        <a:spcAft>
                          <a:spcPts val="0"/>
                        </a:spcAft>
                        <a:buNone/>
                      </a:pPr>
                      <a:r>
                        <a:t/>
                      </a:r>
                      <a:endParaRPr b="0" sz="400" u="none" cap="none" strike="noStrike">
                        <a:solidFill>
                          <a:schemeClr val="dk1"/>
                        </a:solidFill>
                        <a:latin typeface="Arial"/>
                        <a:ea typeface="Arial"/>
                        <a:cs typeface="Arial"/>
                        <a:sym typeface="Aria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c hMerge="1"/>
              </a:tr>
              <a:tr h="280375">
                <a:tc>
                  <a:txBody>
                    <a:bodyPr/>
                    <a:lstStyle/>
                    <a:p>
                      <a:pPr indent="0" lvl="0" marL="0" marR="0" rtl="1" algn="ctr">
                        <a:spcBef>
                          <a:spcPts val="0"/>
                        </a:spcBef>
                        <a:spcAft>
                          <a:spcPts val="0"/>
                        </a:spcAft>
                        <a:buNone/>
                      </a:pPr>
                      <a:r>
                        <a:rPr b="0" lang="ar-SA" sz="1100" u="none" cap="none" strike="noStrike">
                          <a:solidFill>
                            <a:schemeClr val="lt1"/>
                          </a:solidFill>
                          <a:latin typeface="Readex Pro SemiBold"/>
                          <a:ea typeface="Readex Pro SemiBold"/>
                          <a:cs typeface="Readex Pro SemiBold"/>
                          <a:sym typeface="Readex Pro SemiBold"/>
                        </a:rPr>
                        <a:t>الإجمالي</a:t>
                      </a:r>
                      <a:endParaRPr/>
                    </a:p>
                  </a:txBody>
                  <a:tcPr marT="91450" marB="91450"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0" lang="ar-SA" sz="1100" u="none" cap="none" strike="noStrike">
                          <a:solidFill>
                            <a:schemeClr val="lt1"/>
                          </a:solidFill>
                          <a:latin typeface="Readex Pro SemiBold"/>
                          <a:ea typeface="Readex Pro SemiBold"/>
                          <a:cs typeface="Readex Pro SemiBold"/>
                          <a:sym typeface="Readex Pro SemiBold"/>
                        </a:rPr>
                        <a:t>20</a:t>
                      </a:r>
                      <a:r>
                        <a:rPr lang="ar-SA" sz="1100">
                          <a:solidFill>
                            <a:schemeClr val="lt1"/>
                          </a:solidFill>
                          <a:latin typeface="Readex Pro SemiBold"/>
                          <a:ea typeface="Readex Pro SemiBold"/>
                          <a:cs typeface="Readex Pro SemiBold"/>
                          <a:sym typeface="Readex Pro SemiBold"/>
                        </a:rPr>
                        <a:t>30</a:t>
                      </a:r>
                      <a:endParaRPr/>
                    </a:p>
                  </a:txBody>
                  <a:tcPr marT="91450" marB="91450"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1" algn="ctr">
                        <a:spcBef>
                          <a:spcPts val="0"/>
                        </a:spcBef>
                        <a:spcAft>
                          <a:spcPts val="0"/>
                        </a:spcAft>
                        <a:buNone/>
                      </a:pPr>
                      <a:r>
                        <a:rPr b="0" lang="ar-SA" sz="1100" u="none" cap="none" strike="noStrike">
                          <a:solidFill>
                            <a:schemeClr val="lt1"/>
                          </a:solidFill>
                          <a:latin typeface="Readex Pro SemiBold"/>
                          <a:ea typeface="Readex Pro SemiBold"/>
                          <a:cs typeface="Readex Pro SemiBold"/>
                          <a:sym typeface="Readex Pro SemiBold"/>
                        </a:rPr>
                        <a:t>202</a:t>
                      </a:r>
                      <a:r>
                        <a:rPr lang="ar-SA" sz="1100">
                          <a:solidFill>
                            <a:schemeClr val="lt1"/>
                          </a:solidFill>
                          <a:latin typeface="Readex Pro SemiBold"/>
                          <a:ea typeface="Readex Pro SemiBold"/>
                          <a:cs typeface="Readex Pro SemiBold"/>
                          <a:sym typeface="Readex Pro SemiBold"/>
                        </a:rPr>
                        <a:t>9</a:t>
                      </a:r>
                      <a:endParaRPr/>
                    </a:p>
                  </a:txBody>
                  <a:tcPr marT="91450" marB="91450"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gridSpan="2">
                  <a:txBody>
                    <a:bodyPr/>
                    <a:lstStyle/>
                    <a:p>
                      <a:pPr indent="0" lvl="0" marL="0" marR="0" rtl="1" algn="ctr">
                        <a:spcBef>
                          <a:spcPts val="0"/>
                        </a:spcBef>
                        <a:spcAft>
                          <a:spcPts val="0"/>
                        </a:spcAft>
                        <a:buNone/>
                      </a:pPr>
                      <a:r>
                        <a:rPr b="0" lang="ar-SA" sz="1100" u="none" cap="none" strike="noStrike">
                          <a:solidFill>
                            <a:schemeClr val="lt1"/>
                          </a:solidFill>
                        </a:rPr>
                        <a:t>202</a:t>
                      </a:r>
                      <a:r>
                        <a:rPr lang="ar-SA" sz="1100">
                          <a:solidFill>
                            <a:schemeClr val="lt1"/>
                          </a:solidFill>
                        </a:rPr>
                        <a:t>8</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gridSpan="2">
                  <a:txBody>
                    <a:bodyPr/>
                    <a:lstStyle/>
                    <a:p>
                      <a:pPr indent="0" lvl="0" marL="0" marR="0" rtl="1" algn="ctr">
                        <a:spcBef>
                          <a:spcPts val="0"/>
                        </a:spcBef>
                        <a:spcAft>
                          <a:spcPts val="0"/>
                        </a:spcAft>
                        <a:buNone/>
                      </a:pPr>
                      <a:r>
                        <a:rPr b="0" lang="ar-SA" sz="1100" u="none" cap="none" strike="noStrike">
                          <a:solidFill>
                            <a:schemeClr val="lt1"/>
                          </a:solidFill>
                        </a:rPr>
                        <a:t>202</a:t>
                      </a:r>
                      <a:r>
                        <a:rPr lang="ar-SA" sz="1100">
                          <a:solidFill>
                            <a:schemeClr val="lt1"/>
                          </a:solidFill>
                        </a:rPr>
                        <a:t>7</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gridSpan="2">
                  <a:txBody>
                    <a:bodyPr/>
                    <a:lstStyle/>
                    <a:p>
                      <a:pPr indent="0" lvl="0" marL="0" marR="0" rtl="1" algn="ctr">
                        <a:spcBef>
                          <a:spcPts val="0"/>
                        </a:spcBef>
                        <a:spcAft>
                          <a:spcPts val="0"/>
                        </a:spcAft>
                        <a:buNone/>
                      </a:pPr>
                      <a:r>
                        <a:rPr b="0" lang="ar-SA" sz="1100" u="none" cap="none" strike="noStrike">
                          <a:solidFill>
                            <a:schemeClr val="lt1"/>
                          </a:solidFill>
                        </a:rPr>
                        <a:t>202</a:t>
                      </a:r>
                      <a:r>
                        <a:rPr lang="ar-SA" sz="1100">
                          <a:solidFill>
                            <a:schemeClr val="lt1"/>
                          </a:solidFill>
                        </a:rPr>
                        <a:t>6</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gridSpan="3">
                  <a:txBody>
                    <a:bodyPr/>
                    <a:lstStyle/>
                    <a:p>
                      <a:pPr indent="0" lvl="0" marL="0" marR="0" rtl="1" algn="ctr">
                        <a:spcBef>
                          <a:spcPts val="0"/>
                        </a:spcBef>
                        <a:spcAft>
                          <a:spcPts val="0"/>
                        </a:spcAft>
                        <a:buNone/>
                      </a:pPr>
                      <a:r>
                        <a:rPr b="0" lang="ar-SA" sz="1100" u="none" cap="none" strike="noStrike">
                          <a:solidFill>
                            <a:schemeClr val="lt1"/>
                          </a:solidFill>
                        </a:rPr>
                        <a:t>خط الأساس</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gridSpan="2" rowSpan="2">
                  <a:txBody>
                    <a:bodyPr/>
                    <a:lstStyle/>
                    <a:p>
                      <a:pPr indent="0" lvl="0" marL="0" marR="0" rtl="1" algn="ctr">
                        <a:spcBef>
                          <a:spcPts val="0"/>
                        </a:spcBef>
                        <a:spcAft>
                          <a:spcPts val="0"/>
                        </a:spcAft>
                        <a:buNone/>
                      </a:pPr>
                      <a:r>
                        <a:rPr b="0" lang="ar-SA" sz="1600" u="none" cap="none" strike="noStrike">
                          <a:solidFill>
                            <a:schemeClr val="dk1"/>
                          </a:solidFill>
                          <a:latin typeface="Arial"/>
                          <a:ea typeface="Arial"/>
                          <a:cs typeface="Arial"/>
                          <a:sym typeface="Arial"/>
                        </a:rPr>
                        <a:t>5 سنوات </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8CBAD"/>
                    </a:solidFill>
                  </a:tcPr>
                </a:tc>
                <a:tc rowSpan="2" hMerge="1"/>
              </a:tr>
              <a:tr h="303725">
                <a:tc>
                  <a:txBody>
                    <a:bodyPr/>
                    <a:lstStyle/>
                    <a:p>
                      <a:pPr indent="0" lvl="0" marL="0" rtl="1" algn="ctr">
                        <a:spcBef>
                          <a:spcPts val="0"/>
                        </a:spcBef>
                        <a:spcAft>
                          <a:spcPts val="0"/>
                        </a:spcAft>
                        <a:buNone/>
                      </a:pPr>
                      <a:r>
                        <a:rPr b="1" lang="ar-SA" sz="1200">
                          <a:solidFill>
                            <a:schemeClr val="dk1"/>
                          </a:solidFill>
                          <a:latin typeface="Calibri"/>
                          <a:ea typeface="Calibri"/>
                          <a:cs typeface="Calibri"/>
                          <a:sym typeface="Calibri"/>
                        </a:rPr>
                        <a:t>50%</a:t>
                      </a:r>
                      <a:endParaRPr>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D3E3"/>
                    </a:solidFill>
                  </a:tcPr>
                </a:tc>
                <a:tc>
                  <a:txBody>
                    <a:bodyPr/>
                    <a:lstStyle/>
                    <a:p>
                      <a:pPr indent="0" lvl="0" marL="0" rtl="1" algn="ctr">
                        <a:spcBef>
                          <a:spcPts val="0"/>
                        </a:spcBef>
                        <a:spcAft>
                          <a:spcPts val="0"/>
                        </a:spcAft>
                        <a:buNone/>
                      </a:pPr>
                      <a:r>
                        <a:rPr b="1" lang="ar-SA" sz="1200">
                          <a:solidFill>
                            <a:schemeClr val="dk1"/>
                          </a:solidFill>
                          <a:latin typeface="Calibri"/>
                          <a:ea typeface="Calibri"/>
                          <a:cs typeface="Calibri"/>
                          <a:sym typeface="Calibri"/>
                        </a:rPr>
                        <a:t>50%</a:t>
                      </a:r>
                      <a:endParaRPr>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1" algn="ctr">
                        <a:spcBef>
                          <a:spcPts val="0"/>
                        </a:spcBef>
                        <a:spcAft>
                          <a:spcPts val="0"/>
                        </a:spcAft>
                        <a:buNone/>
                      </a:pPr>
                      <a:r>
                        <a:rPr b="1" lang="ar-SA" sz="1200">
                          <a:solidFill>
                            <a:schemeClr val="dk1"/>
                          </a:solidFill>
                          <a:latin typeface="Calibri"/>
                          <a:ea typeface="Calibri"/>
                          <a:cs typeface="Calibri"/>
                          <a:sym typeface="Calibri"/>
                        </a:rPr>
                        <a:t>4</a:t>
                      </a:r>
                      <a:r>
                        <a:rPr b="1" lang="ar-SA" sz="1200">
                          <a:solidFill>
                            <a:schemeClr val="dk1"/>
                          </a:solidFill>
                          <a:latin typeface="Calibri"/>
                          <a:ea typeface="Calibri"/>
                          <a:cs typeface="Calibri"/>
                          <a:sym typeface="Calibri"/>
                        </a:rPr>
                        <a:t>0%</a:t>
                      </a:r>
                      <a:endParaRPr>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rtl="1" algn="ctr">
                        <a:spcBef>
                          <a:spcPts val="0"/>
                        </a:spcBef>
                        <a:spcAft>
                          <a:spcPts val="0"/>
                        </a:spcAft>
                        <a:buNone/>
                      </a:pPr>
                      <a:r>
                        <a:rPr b="1" lang="ar-SA" sz="1200">
                          <a:solidFill>
                            <a:schemeClr val="dk1"/>
                          </a:solidFill>
                          <a:latin typeface="Calibri"/>
                          <a:ea typeface="Calibri"/>
                          <a:cs typeface="Calibri"/>
                          <a:sym typeface="Calibri"/>
                        </a:rPr>
                        <a:t>3</a:t>
                      </a:r>
                      <a:r>
                        <a:rPr b="1" lang="ar-SA" sz="1200">
                          <a:solidFill>
                            <a:schemeClr val="dk1"/>
                          </a:solidFill>
                          <a:latin typeface="Calibri"/>
                          <a:ea typeface="Calibri"/>
                          <a:cs typeface="Calibri"/>
                          <a:sym typeface="Calibri"/>
                        </a:rPr>
                        <a:t>0%</a:t>
                      </a:r>
                      <a:endParaRPr>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rtl="1" algn="ctr">
                        <a:spcBef>
                          <a:spcPts val="0"/>
                        </a:spcBef>
                        <a:spcAft>
                          <a:spcPts val="0"/>
                        </a:spcAft>
                        <a:buNone/>
                      </a:pPr>
                      <a:r>
                        <a:rPr b="1" lang="ar-SA" sz="1200">
                          <a:solidFill>
                            <a:schemeClr val="dk1"/>
                          </a:solidFill>
                          <a:latin typeface="Calibri"/>
                          <a:ea typeface="Calibri"/>
                          <a:cs typeface="Calibri"/>
                          <a:sym typeface="Calibri"/>
                        </a:rPr>
                        <a:t>2</a:t>
                      </a:r>
                      <a:r>
                        <a:rPr b="1" lang="ar-SA" sz="1200">
                          <a:solidFill>
                            <a:schemeClr val="dk1"/>
                          </a:solidFill>
                          <a:latin typeface="Calibri"/>
                          <a:ea typeface="Calibri"/>
                          <a:cs typeface="Calibri"/>
                          <a:sym typeface="Calibri"/>
                        </a:rPr>
                        <a:t>0%</a:t>
                      </a:r>
                      <a:endParaRPr>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F7CAAC"/>
                      </a:solidFill>
                      <a:prstDash val="solid"/>
                      <a:round/>
                      <a:headEnd len="sm" w="sm" type="none"/>
                      <a:tailEnd len="sm" w="sm" type="none"/>
                    </a:lnB>
                  </a:tcPr>
                </a:tc>
                <a:tc hMerge="1"/>
                <a:tc gridSpan="2">
                  <a:txBody>
                    <a:bodyPr/>
                    <a:lstStyle/>
                    <a:p>
                      <a:pPr indent="0" lvl="0" marL="0" marR="0" rtl="1" algn="ctr">
                        <a:spcBef>
                          <a:spcPts val="0"/>
                        </a:spcBef>
                        <a:spcAft>
                          <a:spcPts val="0"/>
                        </a:spcAft>
                        <a:buNone/>
                      </a:pPr>
                      <a:r>
                        <a:rPr b="1" lang="ar-SA" sz="1200">
                          <a:solidFill>
                            <a:schemeClr val="dk1"/>
                          </a:solidFill>
                          <a:latin typeface="Calibri"/>
                          <a:ea typeface="Calibri"/>
                          <a:cs typeface="Calibri"/>
                          <a:sym typeface="Calibri"/>
                        </a:rPr>
                        <a:t>1</a:t>
                      </a:r>
                      <a:r>
                        <a:rPr b="1" i="0" lang="ar-SA" sz="1200" u="none" cap="none" strike="noStrike">
                          <a:solidFill>
                            <a:schemeClr val="dk1"/>
                          </a:solidFill>
                          <a:latin typeface="Calibri"/>
                          <a:ea typeface="Calibri"/>
                          <a:cs typeface="Calibri"/>
                          <a:sym typeface="Calibri"/>
                        </a:rPr>
                        <a:t>0%</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F7CAAC"/>
                      </a:solidFill>
                      <a:prstDash val="solid"/>
                      <a:round/>
                      <a:headEnd len="sm" w="sm" type="none"/>
                      <a:tailEnd len="sm" w="sm" type="none"/>
                    </a:lnB>
                  </a:tcPr>
                </a:tc>
                <a:tc hMerge="1"/>
                <a:tc gridSpan="3">
                  <a:txBody>
                    <a:bodyPr/>
                    <a:lstStyle/>
                    <a:p>
                      <a:pPr indent="0" lvl="0" marL="0" marR="0" rtl="1" algn="ctr">
                        <a:spcBef>
                          <a:spcPts val="0"/>
                        </a:spcBef>
                        <a:spcAft>
                          <a:spcPts val="0"/>
                        </a:spcAft>
                        <a:buNone/>
                      </a:pPr>
                      <a:r>
                        <a:rPr lang="ar-SA" sz="1200">
                          <a:solidFill>
                            <a:schemeClr val="dk1"/>
                          </a:solidFill>
                        </a:rPr>
                        <a:t>0</a:t>
                      </a:r>
                      <a:endParaRPr b="0" sz="1200" u="none" cap="none" strike="noStrike">
                        <a:solidFill>
                          <a:schemeClr val="dk1"/>
                        </a:solidFill>
                        <a:latin typeface="Arial"/>
                        <a:ea typeface="Arial"/>
                        <a:cs typeface="Arial"/>
                        <a:sym typeface="Aria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gridSpan="2" vMerge="1"/>
                <a:tc hMerge="1" vMerge="1"/>
              </a:tr>
              <a:tr h="467275">
                <a:tc gridSpan="4">
                  <a:txBody>
                    <a:bodyPr/>
                    <a:lstStyle/>
                    <a:p>
                      <a:pPr indent="0" lvl="0" marL="0" marR="0" rtl="1" algn="ctr">
                        <a:spcBef>
                          <a:spcPts val="0"/>
                        </a:spcBef>
                        <a:spcAft>
                          <a:spcPts val="0"/>
                        </a:spcAft>
                        <a:buNone/>
                      </a:pPr>
                      <a:r>
                        <a:rPr b="0" i="0" lang="ar-SA" sz="1200" u="none" cap="none" strike="noStrike">
                          <a:solidFill>
                            <a:schemeClr val="lt1"/>
                          </a:solidFill>
                          <a:latin typeface="Arial"/>
                          <a:ea typeface="Arial"/>
                          <a:cs typeface="Arial"/>
                          <a:sym typeface="Arial"/>
                        </a:rPr>
                        <a:t>محددات دقة البيانات وصحتها</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hMerge="1"/>
                <a:tc gridSpan="4">
                  <a:txBody>
                    <a:bodyPr/>
                    <a:lstStyle/>
                    <a:p>
                      <a:pPr indent="0" lvl="0" marL="0" marR="0" rtl="1" algn="ctr">
                        <a:lnSpc>
                          <a:spcPct val="100000"/>
                        </a:lnSpc>
                        <a:spcBef>
                          <a:spcPts val="0"/>
                        </a:spcBef>
                        <a:spcAft>
                          <a:spcPts val="0"/>
                        </a:spcAft>
                        <a:buClr>
                          <a:srgbClr val="000000"/>
                        </a:buClr>
                        <a:buSzPts val="1200"/>
                        <a:buFont typeface="Arial"/>
                        <a:buNone/>
                      </a:pPr>
                      <a:r>
                        <a:rPr b="0" i="0" lang="ar-SA" sz="1200" u="none" cap="none" strike="noStrike">
                          <a:solidFill>
                            <a:schemeClr val="lt1"/>
                          </a:solidFill>
                          <a:latin typeface="Arial"/>
                          <a:ea typeface="Arial"/>
                          <a:cs typeface="Arial"/>
                          <a:sym typeface="Arial"/>
                        </a:rPr>
                        <a:t>مصدر البيانات</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F7CAAC"/>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hMerge="1"/>
                <a:tc gridSpan="3">
                  <a:txBody>
                    <a:bodyPr/>
                    <a:lstStyle/>
                    <a:p>
                      <a:pPr indent="0" lvl="0" marL="0" marR="0" rtl="1" algn="ctr">
                        <a:lnSpc>
                          <a:spcPct val="100000"/>
                        </a:lnSpc>
                        <a:spcBef>
                          <a:spcPts val="0"/>
                        </a:spcBef>
                        <a:spcAft>
                          <a:spcPts val="0"/>
                        </a:spcAft>
                        <a:buClr>
                          <a:srgbClr val="000000"/>
                        </a:buClr>
                        <a:buSzPts val="1200"/>
                        <a:buFont typeface="Arial"/>
                        <a:buNone/>
                      </a:pPr>
                      <a:r>
                        <a:rPr b="0" i="0" lang="ar-SA" sz="1200" u="none" cap="none" strike="noStrike">
                          <a:solidFill>
                            <a:schemeClr val="lt1"/>
                          </a:solidFill>
                          <a:latin typeface="Arial"/>
                          <a:ea typeface="Arial"/>
                          <a:cs typeface="Arial"/>
                          <a:sym typeface="Arial"/>
                        </a:rPr>
                        <a:t>وقت الحصول على البيانات</a:t>
                      </a:r>
                      <a:endParaRPr sz="1600" u="none" cap="none" strike="noStrike">
                        <a:solidFill>
                          <a:schemeClr val="lt1"/>
                        </a:solidFill>
                        <a:latin typeface="Arial"/>
                        <a:ea typeface="Arial"/>
                        <a:cs typeface="Arial"/>
                        <a:sym typeface="Aria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c gridSpan="3">
                  <a:txBody>
                    <a:bodyPr/>
                    <a:lstStyle/>
                    <a:p>
                      <a:pPr indent="0" lvl="0" marL="0" marR="0" rtl="0" algn="ctr">
                        <a:lnSpc>
                          <a:spcPct val="100000"/>
                        </a:lnSpc>
                        <a:spcBef>
                          <a:spcPts val="0"/>
                        </a:spcBef>
                        <a:spcAft>
                          <a:spcPts val="0"/>
                        </a:spcAft>
                        <a:buClr>
                          <a:srgbClr val="000000"/>
                        </a:buClr>
                        <a:buSzPts val="1200"/>
                        <a:buFont typeface="Arial"/>
                        <a:buNone/>
                      </a:pPr>
                      <a:r>
                        <a:rPr b="0" i="0" lang="ar-SA" sz="1200" u="none" cap="none" strike="noStrike">
                          <a:solidFill>
                            <a:schemeClr val="lt1"/>
                          </a:solidFill>
                          <a:latin typeface="Arial"/>
                          <a:ea typeface="Arial"/>
                          <a:cs typeface="Arial"/>
                          <a:sym typeface="Arial"/>
                        </a:rPr>
                        <a:t>البيانات المطلوبة</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hMerge="1"/>
              </a:tr>
              <a:tr h="1285025">
                <a:tc gridSpan="4">
                  <a:txBody>
                    <a:bodyPr/>
                    <a:lstStyle/>
                    <a:p>
                      <a:pPr indent="0" lvl="0" marL="0" marR="0" rtl="1" algn="just">
                        <a:spcBef>
                          <a:spcPts val="0"/>
                        </a:spcBef>
                        <a:spcAft>
                          <a:spcPts val="0"/>
                        </a:spcAft>
                        <a:buNone/>
                      </a:pPr>
                      <a:br>
                        <a:rPr b="1" lang="ar-SA" sz="1100" u="none" cap="none" strike="noStrike"/>
                      </a:br>
                      <a:r>
                        <a:rPr b="0" lang="ar-SA" sz="1100" u="none" cap="none" strike="noStrike">
                          <a:solidFill>
                            <a:schemeClr val="accent1"/>
                          </a:solidFill>
                        </a:rPr>
                        <a:t>التدقيق </a:t>
                      </a:r>
                      <a:r>
                        <a:rPr lang="ar-SA" sz="1100">
                          <a:solidFill>
                            <a:schemeClr val="accent1"/>
                          </a:solidFill>
                        </a:rPr>
                        <a:t>في السجل</a:t>
                      </a:r>
                      <a:r>
                        <a:rPr lang="ar-SA" sz="1100" u="none" cap="none" strike="noStrike"/>
                        <a:t>: التأكد من صحة البيانات</a:t>
                      </a:r>
                      <a:r>
                        <a:rPr lang="ar-SA" sz="1100"/>
                        <a:t> </a:t>
                      </a:r>
                      <a:r>
                        <a:rPr lang="ar-SA" sz="1100" u="none" cap="none" strike="noStrike"/>
                        <a:t>من خلال مراجعات دورية للسجلات.</a:t>
                      </a:r>
                      <a:endParaRPr b="0" sz="1050" u="none" cap="none" strike="noStrike">
                        <a:latin typeface="Arial"/>
                        <a:ea typeface="Arial"/>
                        <a:cs typeface="Arial"/>
                        <a:sym typeface="Arial"/>
                      </a:endParaRPr>
                    </a:p>
                  </a:txBody>
                  <a:tcPr marT="91450" marB="9145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gridSpan="4">
                  <a:txBody>
                    <a:bodyPr/>
                    <a:lstStyle/>
                    <a:p>
                      <a:pPr indent="-285750" lvl="0" marL="285750" marR="0" rtl="1" algn="r">
                        <a:lnSpc>
                          <a:spcPct val="100000"/>
                        </a:lnSpc>
                        <a:spcBef>
                          <a:spcPts val="0"/>
                        </a:spcBef>
                        <a:spcAft>
                          <a:spcPts val="0"/>
                        </a:spcAft>
                        <a:buClr>
                          <a:schemeClr val="accent1"/>
                        </a:buClr>
                        <a:buSzPts val="1200"/>
                        <a:buFont typeface="Arial"/>
                        <a:buChar char="•"/>
                      </a:pPr>
                      <a:r>
                        <a:rPr lang="ar-SA" sz="1200">
                          <a:solidFill>
                            <a:schemeClr val="accent1"/>
                          </a:solidFill>
                        </a:rPr>
                        <a:t>سجلات التطوع</a:t>
                      </a:r>
                      <a:endParaRPr/>
                    </a:p>
                  </a:txBody>
                  <a:tcPr marT="91450" marB="9145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gridSpan="3">
                  <a:txBody>
                    <a:bodyPr/>
                    <a:lstStyle/>
                    <a:p>
                      <a:pPr indent="0" lvl="0" marL="0" marR="0" rtl="1" algn="ctr">
                        <a:spcBef>
                          <a:spcPts val="0"/>
                        </a:spcBef>
                        <a:spcAft>
                          <a:spcPts val="0"/>
                        </a:spcAft>
                        <a:buNone/>
                      </a:pPr>
                      <a:r>
                        <a:rPr lang="ar-SA" sz="1600" u="none" cap="none" strike="noStrike">
                          <a:latin typeface="Arial"/>
                          <a:ea typeface="Arial"/>
                          <a:cs typeface="Arial"/>
                          <a:sym typeface="Arial"/>
                        </a:rPr>
                        <a:t>سنوياً</a:t>
                      </a:r>
                      <a:endParaRPr sz="1600" u="none" cap="none" strike="noStrike"/>
                    </a:p>
                  </a:txBody>
                  <a:tcPr marT="91450" marB="9145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gridSpan="3">
                  <a:txBody>
                    <a:bodyPr/>
                    <a:lstStyle/>
                    <a:p>
                      <a:pPr indent="-298450" lvl="0" marL="457200" rtl="1" algn="r">
                        <a:spcBef>
                          <a:spcPts val="0"/>
                        </a:spcBef>
                        <a:spcAft>
                          <a:spcPts val="0"/>
                        </a:spcAft>
                        <a:buClr>
                          <a:schemeClr val="accent1"/>
                        </a:buClr>
                        <a:buSzPts val="1100"/>
                        <a:buChar char="•"/>
                      </a:pPr>
                      <a:r>
                        <a:rPr lang="ar-SA" sz="1100">
                          <a:solidFill>
                            <a:schemeClr val="dk1"/>
                          </a:solidFill>
                        </a:rPr>
                        <a:t>عدد المتطوعين الذين شاركوا في أكثر من فرصة خلال السنة</a:t>
                      </a:r>
                      <a:endParaRPr sz="1100">
                        <a:solidFill>
                          <a:schemeClr val="dk1"/>
                        </a:solidFill>
                      </a:endParaRPr>
                    </a:p>
                    <a:p>
                      <a:pPr indent="-298450" lvl="0" marL="457200" rtl="1" algn="r">
                        <a:spcBef>
                          <a:spcPts val="0"/>
                        </a:spcBef>
                        <a:spcAft>
                          <a:spcPts val="0"/>
                        </a:spcAft>
                        <a:buClr>
                          <a:schemeClr val="accent1"/>
                        </a:buClr>
                        <a:buSzPts val="1100"/>
                        <a:buChar char="•"/>
                      </a:pPr>
                      <a:r>
                        <a:rPr lang="ar-SA" sz="1100">
                          <a:solidFill>
                            <a:schemeClr val="dk1"/>
                          </a:solidFill>
                        </a:rPr>
                        <a:t>إجمالي عدد المتطوعين الذين شاركوا في الفرصة الأولى (بداية الفترة)</a:t>
                      </a:r>
                      <a:endParaRPr>
                        <a:solidFill>
                          <a:schemeClr val="dk1"/>
                        </a:solidFill>
                      </a:endParaRPr>
                    </a:p>
                    <a:p>
                      <a:pPr indent="0" lvl="0" marL="0" marR="0" rtl="1" algn="just">
                        <a:spcBef>
                          <a:spcPts val="0"/>
                        </a:spcBef>
                        <a:spcAft>
                          <a:spcPts val="0"/>
                        </a:spcAft>
                        <a:buNone/>
                      </a:pPr>
                      <a:r>
                        <a:t/>
                      </a:r>
                      <a:endParaRPr sz="1100">
                        <a:solidFill>
                          <a:schemeClr val="accent1"/>
                        </a:solidFill>
                      </a:endParaRPr>
                    </a:p>
                  </a:txBody>
                  <a:tcPr marT="91450" marB="9145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596625">
                <a:tc gridSpan="6">
                  <a:txBody>
                    <a:bodyPr/>
                    <a:lstStyle/>
                    <a:p>
                      <a:pPr indent="-171450" lvl="0" marL="171450" marR="0" rtl="1" algn="just">
                        <a:spcBef>
                          <a:spcPts val="0"/>
                        </a:spcBef>
                        <a:spcAft>
                          <a:spcPts val="0"/>
                        </a:spcAft>
                        <a:buClr>
                          <a:schemeClr val="accent1"/>
                        </a:buClr>
                        <a:buSzPts val="1000"/>
                        <a:buFont typeface="Arial"/>
                        <a:buChar char="•"/>
                      </a:pPr>
                      <a:r>
                        <a:rPr b="0" i="0" lang="ar-SA" sz="1000" u="none" cap="none" strike="noStrike">
                          <a:solidFill>
                            <a:schemeClr val="accent1"/>
                          </a:solidFill>
                          <a:latin typeface="Arial"/>
                          <a:ea typeface="Arial"/>
                          <a:cs typeface="Arial"/>
                          <a:sym typeface="Arial"/>
                        </a:rPr>
                        <a:t>إيجابية</a:t>
                      </a:r>
                      <a:r>
                        <a:rPr b="0" i="0" lang="ar-SA" sz="1000" u="none" cap="none" strike="noStrike">
                          <a:solidFill>
                            <a:schemeClr val="dk1"/>
                          </a:solidFill>
                          <a:latin typeface="Arial"/>
                          <a:ea typeface="Arial"/>
                          <a:cs typeface="Arial"/>
                          <a:sym typeface="Arial"/>
                        </a:rPr>
                        <a:t>: </a:t>
                      </a:r>
                      <a:r>
                        <a:rPr lang="ar-SA" sz="1100">
                          <a:solidFill>
                            <a:schemeClr val="dk1"/>
                          </a:solidFill>
                        </a:rPr>
                        <a:t>(كلما ارتفعت النسبة، دلّ ذلك على جودة بيئة العمل وقوة الارتباط بالجمعية)</a:t>
                      </a:r>
                      <a:endParaRPr/>
                    </a:p>
                  </a:txBody>
                  <a:tcPr marT="91450" marB="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gridSpan="2">
                  <a:txBody>
                    <a:bodyPr/>
                    <a:lstStyle/>
                    <a:p>
                      <a:pPr indent="0" lvl="0" marL="0" marR="0" rtl="1" algn="ctr">
                        <a:spcBef>
                          <a:spcPts val="0"/>
                        </a:spcBef>
                        <a:spcAft>
                          <a:spcPts val="0"/>
                        </a:spcAft>
                        <a:buNone/>
                      </a:pPr>
                      <a:r>
                        <a:rPr b="0" lang="ar-SA" sz="1100" u="none" cap="none" strike="noStrike">
                          <a:solidFill>
                            <a:schemeClr val="lt1"/>
                          </a:solidFill>
                          <a:latin typeface="Arial"/>
                          <a:ea typeface="Arial"/>
                          <a:cs typeface="Arial"/>
                          <a:sym typeface="Arial"/>
                        </a:rPr>
                        <a:t>القطبية</a:t>
                      </a:r>
                      <a:endParaRPr b="0" sz="1600" u="none" cap="none" strike="noStrike"/>
                    </a:p>
                  </a:txBody>
                  <a:tcPr marT="9145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006E62"/>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c gridSpan="4">
                  <a:txBody>
                    <a:bodyPr/>
                    <a:lstStyle/>
                    <a:p>
                      <a:pPr indent="0" lvl="0" marL="0" marR="0" rtl="1" algn="r">
                        <a:lnSpc>
                          <a:spcPct val="100000"/>
                        </a:lnSpc>
                        <a:spcBef>
                          <a:spcPts val="0"/>
                        </a:spcBef>
                        <a:spcAft>
                          <a:spcPts val="0"/>
                        </a:spcAft>
                        <a:buClr>
                          <a:srgbClr val="000000"/>
                        </a:buClr>
                        <a:buSzPts val="1100"/>
                        <a:buFont typeface="Arial"/>
                        <a:buNone/>
                      </a:pPr>
                      <a:r>
                        <a:rPr b="0" i="0" lang="ar-SA" sz="1100" u="none" cap="none" strike="noStrike">
                          <a:solidFill>
                            <a:schemeClr val="dk1"/>
                          </a:solidFill>
                          <a:latin typeface="Arial"/>
                          <a:ea typeface="Arial"/>
                          <a:cs typeface="Arial"/>
                          <a:sym typeface="Arial"/>
                        </a:rPr>
                        <a:t>سنوي</a:t>
                      </a:r>
                      <a:endParaRPr/>
                    </a:p>
                  </a:txBody>
                  <a:tcPr marT="9145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gridSpan="2">
                  <a:txBody>
                    <a:bodyPr/>
                    <a:lstStyle/>
                    <a:p>
                      <a:pPr indent="0" lvl="0" marL="0" marR="0" rtl="1" algn="ctr">
                        <a:spcBef>
                          <a:spcPts val="0"/>
                        </a:spcBef>
                        <a:spcAft>
                          <a:spcPts val="0"/>
                        </a:spcAft>
                        <a:buNone/>
                      </a:pPr>
                      <a:r>
                        <a:rPr b="0" lang="ar-SA" sz="1100" u="none" cap="none" strike="noStrike">
                          <a:solidFill>
                            <a:schemeClr val="lt1"/>
                          </a:solidFill>
                        </a:rPr>
                        <a:t>دورية القياس</a:t>
                      </a:r>
                      <a:endParaRPr b="0" sz="1100" u="none" cap="none" strike="noStrike">
                        <a:solidFill>
                          <a:schemeClr val="lt1"/>
                        </a:solidFill>
                        <a:latin typeface="Readex Pro SemiBold"/>
                        <a:ea typeface="Readex Pro SemiBold"/>
                        <a:cs typeface="Readex Pro SemiBold"/>
                        <a:sym typeface="Readex Pro SemiBold"/>
                      </a:endParaRPr>
                    </a:p>
                  </a:txBody>
                  <a:tcPr marT="91450" marB="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r>
              <a:tr h="360475">
                <a:tc gridSpan="12">
                  <a:txBody>
                    <a:bodyPr/>
                    <a:lstStyle/>
                    <a:p>
                      <a:pPr indent="0" lvl="0" marL="0" marR="0" rtl="1" algn="r">
                        <a:spcBef>
                          <a:spcPts val="0"/>
                        </a:spcBef>
                        <a:spcAft>
                          <a:spcPts val="0"/>
                        </a:spcAft>
                        <a:buClr>
                          <a:schemeClr val="dk1"/>
                        </a:buClr>
                        <a:buSzPts val="1100"/>
                        <a:buFont typeface="Arial"/>
                        <a:buNone/>
                      </a:pPr>
                      <a:r>
                        <a:rPr lang="ar-SA" sz="1100">
                          <a:solidFill>
                            <a:schemeClr val="dk1"/>
                          </a:solidFill>
                        </a:rPr>
                        <a:t>أ/ عدد المتطوعين الذين شاركوا في أكثر من فرصة خلال السنة - ب/ إجمالي عدد المتطوعين الذين شاركوا في الفرصة الأولى (بداية الفترة)</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hMerge="1"/>
                <a:tc hMerge="1"/>
                <a:tc gridSpan="2">
                  <a:txBody>
                    <a:bodyPr/>
                    <a:lstStyle/>
                    <a:p>
                      <a:pPr indent="0" lvl="0" marL="0" marR="0" rtl="1" algn="ctr">
                        <a:spcBef>
                          <a:spcPts val="0"/>
                        </a:spcBef>
                        <a:spcAft>
                          <a:spcPts val="0"/>
                        </a:spcAft>
                        <a:buNone/>
                      </a:pPr>
                      <a:r>
                        <a:rPr b="0" lang="ar-SA" sz="1100" u="none" cap="none" strike="noStrike">
                          <a:solidFill>
                            <a:schemeClr val="lt1"/>
                          </a:solidFill>
                        </a:rPr>
                        <a:t>مكونات المعادلة</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r>
              <a:tr h="280375">
                <a:tc gridSpan="12">
                  <a:txBody>
                    <a:bodyPr/>
                    <a:lstStyle/>
                    <a:p>
                      <a:pPr indent="0" lvl="0" marL="0" rtl="1" algn="r">
                        <a:lnSpc>
                          <a:spcPct val="115000"/>
                        </a:lnSpc>
                        <a:spcBef>
                          <a:spcPts val="0"/>
                        </a:spcBef>
                        <a:spcAft>
                          <a:spcPts val="0"/>
                        </a:spcAft>
                        <a:buClr>
                          <a:schemeClr val="dk1"/>
                        </a:buClr>
                        <a:buSzPts val="1100"/>
                        <a:buFont typeface="Arial"/>
                        <a:buNone/>
                      </a:pPr>
                      <a:r>
                        <a:rPr lang="ar-SA" sz="1100">
                          <a:solidFill>
                            <a:schemeClr val="dk1"/>
                          </a:solidFill>
                        </a:rPr>
                        <a:t>معدل الاستبقاء = أ تقسيم ب تضرب في الرقم 100</a:t>
                      </a:r>
                      <a:endParaRPr sz="1100">
                        <a:solidFill>
                          <a:schemeClr val="dk1"/>
                        </a:solidFill>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hMerge="1"/>
                <a:tc hMerge="1"/>
                <a:tc gridSpan="2">
                  <a:txBody>
                    <a:bodyPr/>
                    <a:lstStyle/>
                    <a:p>
                      <a:pPr indent="0" lvl="0" marL="0" marR="0" rtl="1" algn="ctr">
                        <a:spcBef>
                          <a:spcPts val="0"/>
                        </a:spcBef>
                        <a:spcAft>
                          <a:spcPts val="0"/>
                        </a:spcAft>
                        <a:buNone/>
                      </a:pPr>
                      <a:r>
                        <a:rPr b="0" lang="ar-SA" sz="1100" u="none" cap="none" strike="noStrike">
                          <a:solidFill>
                            <a:schemeClr val="lt1"/>
                          </a:solidFill>
                        </a:rPr>
                        <a:t>حساب المعادلة</a:t>
                      </a:r>
                      <a:endParaRPr b="0" sz="1100" u="none" cap="none" strike="noStrike">
                        <a:solidFill>
                          <a:schemeClr val="lt1"/>
                        </a:solidFill>
                        <a:latin typeface="Readex Pro SemiBold"/>
                        <a:ea typeface="Readex Pro SemiBold"/>
                        <a:cs typeface="Readex Pro SemiBold"/>
                        <a:sym typeface="Readex Pro SemiBold"/>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h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4_نسق الصندوق 01">
  <a:themeElements>
    <a:clrScheme name="ASF">
      <a:dk1>
        <a:srgbClr val="000000"/>
      </a:dk1>
      <a:lt1>
        <a:srgbClr val="FFFFFF"/>
      </a:lt1>
      <a:dk2>
        <a:srgbClr val="44546A"/>
      </a:dk2>
      <a:lt2>
        <a:srgbClr val="E7E6E6"/>
      </a:lt2>
      <a:accent1>
        <a:srgbClr val="713C6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نسق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نسق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2024-07-15T05:36:55Z</dcterms:created>
  <dc:creator>مريم اسامه عبدالله الصوفي العرفج</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0x0101002D25D66503ACC74E9ACCF61A02BBA683</vt:lpwstr>
  </property>
</Properties>
</file>