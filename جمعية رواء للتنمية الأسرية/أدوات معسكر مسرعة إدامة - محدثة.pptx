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4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1874500" cy="6845300"/>
  <p:notesSz cx="11874500" cy="6845300"/>
  <p:embeddedFontLst>
    <p:embeddedFont>
      <p:font typeface="Play" panose="020B0604020202020204" charset="0"/>
      <p:regular r:id="rId23"/>
      <p:bold r:id="rId24"/>
    </p:embeddedFont>
    <p:embeddedFont>
      <p:font typeface="ROG Fonts" panose="00000500000000000000" pitchFamily="50" charset="0"/>
      <p:regular r:id="rId25"/>
    </p:embeddedFont>
    <p:embeddedFont>
      <p:font typeface="Sakkal Majalla" panose="02000000000000000000" pitchFamily="2" charset="-78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hFIT9C89u4nZO72DtIbBspZu+m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410D8-3CFC-42BA-998A-B48A6FB24EE8}">
  <a:tblStyle styleId="{E2C410D8-3CFC-42BA-998A-B48A6FB24E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9" y="605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6729413" y="0"/>
            <a:ext cx="51450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175" y="0"/>
            <a:ext cx="51450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6729413" y="6502400"/>
            <a:ext cx="51450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175" y="6502400"/>
            <a:ext cx="51450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200"/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:notes"/>
          <p:cNvSpPr txBox="1">
            <a:spLocks noGrp="1"/>
          </p:cNvSpPr>
          <p:nvPr>
            <p:ph type="sldNum" idx="12"/>
          </p:nvPr>
        </p:nvSpPr>
        <p:spPr>
          <a:xfrm>
            <a:off x="3175" y="6502400"/>
            <a:ext cx="51450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ar-SA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/>
          <p:cNvSpPr txBox="1">
            <a:spLocks noGrp="1"/>
          </p:cNvSpPr>
          <p:nvPr>
            <p:ph type="sldNum" idx="12"/>
          </p:nvPr>
        </p:nvSpPr>
        <p:spPr>
          <a:xfrm>
            <a:off x="3175" y="6502400"/>
            <a:ext cx="51450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 txBox="1">
            <a:spLocks noGrp="1"/>
          </p:cNvSpPr>
          <p:nvPr>
            <p:ph type="sldNum" idx="12"/>
          </p:nvPr>
        </p:nvSpPr>
        <p:spPr>
          <a:xfrm>
            <a:off x="3175" y="6502400"/>
            <a:ext cx="51450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 txBox="1">
            <a:spLocks noGrp="1"/>
          </p:cNvSpPr>
          <p:nvPr>
            <p:ph type="sldNum" idx="12"/>
          </p:nvPr>
        </p:nvSpPr>
        <p:spPr>
          <a:xfrm>
            <a:off x="3175" y="6502400"/>
            <a:ext cx="51450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10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0:notes"/>
          <p:cNvSpPr txBox="1">
            <a:spLocks noGrp="1"/>
          </p:cNvSpPr>
          <p:nvPr>
            <p:ph type="sldNum" idx="12"/>
          </p:nvPr>
        </p:nvSpPr>
        <p:spPr>
          <a:xfrm>
            <a:off x="3175" y="6502400"/>
            <a:ext cx="51450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1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1:notes"/>
          <p:cNvSpPr txBox="1">
            <a:spLocks noGrp="1"/>
          </p:cNvSpPr>
          <p:nvPr>
            <p:ph type="sldNum" idx="12"/>
          </p:nvPr>
        </p:nvSpPr>
        <p:spPr>
          <a:xfrm>
            <a:off x="3175" y="6502400"/>
            <a:ext cx="51450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12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2:notes"/>
          <p:cNvSpPr txBox="1">
            <a:spLocks noGrp="1"/>
          </p:cNvSpPr>
          <p:nvPr>
            <p:ph type="sldNum" idx="12"/>
          </p:nvPr>
        </p:nvSpPr>
        <p:spPr>
          <a:xfrm>
            <a:off x="3175" y="6502400"/>
            <a:ext cx="51450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13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3:notes"/>
          <p:cNvSpPr txBox="1">
            <a:spLocks noGrp="1"/>
          </p:cNvSpPr>
          <p:nvPr>
            <p:ph type="sldNum" idx="12"/>
          </p:nvPr>
        </p:nvSpPr>
        <p:spPr>
          <a:xfrm>
            <a:off x="3175" y="6502400"/>
            <a:ext cx="51450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14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4:notes"/>
          <p:cNvSpPr txBox="1">
            <a:spLocks noGrp="1"/>
          </p:cNvSpPr>
          <p:nvPr>
            <p:ph type="sldNum" idx="12"/>
          </p:nvPr>
        </p:nvSpPr>
        <p:spPr>
          <a:xfrm>
            <a:off x="3175" y="6502400"/>
            <a:ext cx="51450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15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5:notes"/>
          <p:cNvSpPr txBox="1">
            <a:spLocks noGrp="1"/>
          </p:cNvSpPr>
          <p:nvPr>
            <p:ph type="sldNum" idx="12"/>
          </p:nvPr>
        </p:nvSpPr>
        <p:spPr>
          <a:xfrm>
            <a:off x="3175" y="6502400"/>
            <a:ext cx="51450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16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6:notes"/>
          <p:cNvSpPr txBox="1">
            <a:spLocks noGrp="1"/>
          </p:cNvSpPr>
          <p:nvPr>
            <p:ph type="sldNum" idx="12"/>
          </p:nvPr>
        </p:nvSpPr>
        <p:spPr>
          <a:xfrm>
            <a:off x="3175" y="6502400"/>
            <a:ext cx="51450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</a:pPr>
            <a:fld id="{00000000-1234-1234-1234-123412341234}" type="slidenum">
              <a:rPr lang="ar-SA" sz="1200" b="0" i="0" u="none" strike="noStrike" cap="none">
                <a:solidFill>
                  <a:srgbClr val="000000"/>
                </a:solidFill>
              </a:rPr>
              <a:t>15</a:t>
            </a:fld>
            <a:endParaRPr sz="1200" b="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17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7:notes"/>
          <p:cNvSpPr txBox="1">
            <a:spLocks noGrp="1"/>
          </p:cNvSpPr>
          <p:nvPr>
            <p:ph type="sldNum" idx="12"/>
          </p:nvPr>
        </p:nvSpPr>
        <p:spPr>
          <a:xfrm>
            <a:off x="3175" y="6502400"/>
            <a:ext cx="51450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</a:pPr>
            <a:fld id="{00000000-1234-1234-1234-123412341234}" type="slidenum">
              <a:rPr lang="ar-SA" sz="1200" b="0" i="0" u="none" strike="noStrike" cap="none">
                <a:solidFill>
                  <a:srgbClr val="000000"/>
                </a:solidFill>
              </a:rPr>
              <a:t>16</a:t>
            </a:fld>
            <a:endParaRPr sz="1200" b="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18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8:notes"/>
          <p:cNvSpPr txBox="1">
            <a:spLocks noGrp="1"/>
          </p:cNvSpPr>
          <p:nvPr>
            <p:ph type="sldNum" idx="12"/>
          </p:nvPr>
        </p:nvSpPr>
        <p:spPr>
          <a:xfrm>
            <a:off x="3175" y="6502400"/>
            <a:ext cx="51450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</a:pPr>
            <a:fld id="{00000000-1234-1234-1234-123412341234}" type="slidenum">
              <a:rPr lang="ar-SA" sz="1200" b="0" i="0" u="none" strike="noStrike" cap="none">
                <a:solidFill>
                  <a:srgbClr val="000000"/>
                </a:solidFill>
              </a:rPr>
              <a:t>17</a:t>
            </a:fld>
            <a:endParaRPr sz="1200" b="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19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9:notes"/>
          <p:cNvSpPr txBox="1">
            <a:spLocks noGrp="1"/>
          </p:cNvSpPr>
          <p:nvPr>
            <p:ph type="sldNum" idx="12"/>
          </p:nvPr>
        </p:nvSpPr>
        <p:spPr>
          <a:xfrm>
            <a:off x="3175" y="6502400"/>
            <a:ext cx="51450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</a:pPr>
            <a:fld id="{00000000-1234-1234-1234-123412341234}" type="slidenum">
              <a:rPr lang="ar-SA" sz="1200" b="0" i="0" u="none" strike="noStrike" cap="none">
                <a:solidFill>
                  <a:srgbClr val="000000"/>
                </a:solidFill>
              </a:rPr>
              <a:t>18</a:t>
            </a:fld>
            <a:endParaRPr sz="1200" b="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3825" y="855663"/>
            <a:ext cx="4006850" cy="2309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" name="Google Shape;414;p20:notes"/>
          <p:cNvSpPr txBox="1">
            <a:spLocks noGrp="1"/>
          </p:cNvSpPr>
          <p:nvPr>
            <p:ph type="body" idx="1"/>
          </p:nvPr>
        </p:nvSpPr>
        <p:spPr>
          <a:xfrm>
            <a:off x="1187450" y="3294063"/>
            <a:ext cx="9499600" cy="269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0:notes"/>
          <p:cNvSpPr txBox="1">
            <a:spLocks noGrp="1"/>
          </p:cNvSpPr>
          <p:nvPr>
            <p:ph type="sldNum" idx="12"/>
          </p:nvPr>
        </p:nvSpPr>
        <p:spPr>
          <a:xfrm>
            <a:off x="3175" y="6502400"/>
            <a:ext cx="51450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</a:pPr>
            <a:fld id="{00000000-1234-1234-1234-123412341234}" type="slidenum">
              <a:rPr lang="ar-SA" sz="1200" b="0" i="0" u="none" strike="noStrike" cap="none">
                <a:solidFill>
                  <a:srgbClr val="000000"/>
                </a:solidFill>
              </a:rPr>
              <a:t>19</a:t>
            </a:fld>
            <a:endParaRPr sz="1200" b="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title"/>
          </p:nvPr>
        </p:nvSpPr>
        <p:spPr>
          <a:xfrm>
            <a:off x="9770937" y="271611"/>
            <a:ext cx="1646568" cy="448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75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ftr" idx="11"/>
          </p:nvPr>
        </p:nvSpPr>
        <p:spPr>
          <a:xfrm>
            <a:off x="4039489" y="6366129"/>
            <a:ext cx="3801872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594042" y="6366129"/>
            <a:ext cx="2732595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sldNum" idx="12"/>
          </p:nvPr>
        </p:nvSpPr>
        <p:spPr>
          <a:xfrm>
            <a:off x="8554212" y="6366129"/>
            <a:ext cx="2732595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>
            <a:spLocks noGrp="1"/>
          </p:cNvSpPr>
          <p:nvPr>
            <p:ph type="ctrTitle"/>
          </p:nvPr>
        </p:nvSpPr>
        <p:spPr>
          <a:xfrm>
            <a:off x="891063" y="2122043"/>
            <a:ext cx="10098723" cy="143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75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5"/>
          <p:cNvSpPr txBox="1">
            <a:spLocks noGrp="1"/>
          </p:cNvSpPr>
          <p:nvPr>
            <p:ph type="subTitle" idx="1"/>
          </p:nvPr>
        </p:nvSpPr>
        <p:spPr>
          <a:xfrm>
            <a:off x="1782127" y="3833368"/>
            <a:ext cx="8316595" cy="171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ftr" idx="11"/>
          </p:nvPr>
        </p:nvSpPr>
        <p:spPr>
          <a:xfrm>
            <a:off x="4039489" y="6366129"/>
            <a:ext cx="3801872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594042" y="6366129"/>
            <a:ext cx="2732595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sldNum" idx="12"/>
          </p:nvPr>
        </p:nvSpPr>
        <p:spPr>
          <a:xfrm>
            <a:off x="8554212" y="6366129"/>
            <a:ext cx="2732595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/>
          <p:nvPr/>
        </p:nvSpPr>
        <p:spPr>
          <a:xfrm>
            <a:off x="660" y="2908"/>
            <a:ext cx="11879580" cy="6837680"/>
          </a:xfrm>
          <a:custGeom>
            <a:avLst/>
            <a:gdLst/>
            <a:ahLst/>
            <a:cxnLst/>
            <a:rect l="l" t="t" r="r" b="b"/>
            <a:pathLst>
              <a:path w="11879580" h="6837680" extrusionOk="0">
                <a:moveTo>
                  <a:pt x="11879338" y="0"/>
                </a:moveTo>
                <a:lnTo>
                  <a:pt x="0" y="0"/>
                </a:lnTo>
                <a:lnTo>
                  <a:pt x="0" y="6837095"/>
                </a:lnTo>
                <a:lnTo>
                  <a:pt x="11879338" y="6837095"/>
                </a:lnTo>
                <a:lnTo>
                  <a:pt x="11879338" y="0"/>
                </a:lnTo>
                <a:close/>
              </a:path>
            </a:pathLst>
          </a:custGeom>
          <a:solidFill>
            <a:srgbClr val="30BEB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8" name="Google Shape;28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91383" y="21666"/>
            <a:ext cx="5939088" cy="680481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6"/>
          <p:cNvSpPr txBox="1">
            <a:spLocks noGrp="1"/>
          </p:cNvSpPr>
          <p:nvPr>
            <p:ph type="title"/>
          </p:nvPr>
        </p:nvSpPr>
        <p:spPr>
          <a:xfrm>
            <a:off x="9770937" y="271611"/>
            <a:ext cx="1646568" cy="448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75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body" idx="1"/>
          </p:nvPr>
        </p:nvSpPr>
        <p:spPr>
          <a:xfrm>
            <a:off x="594042" y="1574419"/>
            <a:ext cx="10692765" cy="451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9489" y="6366129"/>
            <a:ext cx="3801872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dt" idx="10"/>
          </p:nvPr>
        </p:nvSpPr>
        <p:spPr>
          <a:xfrm>
            <a:off x="594042" y="6366129"/>
            <a:ext cx="2732595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sldNum" idx="12"/>
          </p:nvPr>
        </p:nvSpPr>
        <p:spPr>
          <a:xfrm>
            <a:off x="8554212" y="6366129"/>
            <a:ext cx="2732595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>
            <a:spLocks noGrp="1"/>
          </p:cNvSpPr>
          <p:nvPr>
            <p:ph type="title"/>
          </p:nvPr>
        </p:nvSpPr>
        <p:spPr>
          <a:xfrm>
            <a:off x="9770937" y="271611"/>
            <a:ext cx="1646568" cy="448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75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1"/>
          </p:nvPr>
        </p:nvSpPr>
        <p:spPr>
          <a:xfrm>
            <a:off x="594042" y="1574419"/>
            <a:ext cx="5168170" cy="451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body" idx="2"/>
          </p:nvPr>
        </p:nvSpPr>
        <p:spPr>
          <a:xfrm>
            <a:off x="6118637" y="1574419"/>
            <a:ext cx="5168170" cy="451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9489" y="6366129"/>
            <a:ext cx="3801872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dt" idx="10"/>
          </p:nvPr>
        </p:nvSpPr>
        <p:spPr>
          <a:xfrm>
            <a:off x="594042" y="6366129"/>
            <a:ext cx="2732595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sldNum" idx="12"/>
          </p:nvPr>
        </p:nvSpPr>
        <p:spPr>
          <a:xfrm>
            <a:off x="8554212" y="6366129"/>
            <a:ext cx="2732595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>
            <a:spLocks noGrp="1"/>
          </p:cNvSpPr>
          <p:nvPr>
            <p:ph type="ftr" idx="11"/>
          </p:nvPr>
        </p:nvSpPr>
        <p:spPr>
          <a:xfrm>
            <a:off x="4039489" y="6366129"/>
            <a:ext cx="3801872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dt" idx="10"/>
          </p:nvPr>
        </p:nvSpPr>
        <p:spPr>
          <a:xfrm>
            <a:off x="594042" y="6366129"/>
            <a:ext cx="2732595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sldNum" idx="12"/>
          </p:nvPr>
        </p:nvSpPr>
        <p:spPr>
          <a:xfrm>
            <a:off x="8554212" y="6366129"/>
            <a:ext cx="2732595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عنوان ومحتوى" type="obj">
  <p:cSld name="OBJEC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4"/>
          <p:cNvSpPr txBox="1">
            <a:spLocks noGrp="1"/>
          </p:cNvSpPr>
          <p:nvPr>
            <p:ph type="title"/>
          </p:nvPr>
        </p:nvSpPr>
        <p:spPr>
          <a:xfrm>
            <a:off x="816372" y="364449"/>
            <a:ext cx="10241756" cy="1323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body" idx="1"/>
          </p:nvPr>
        </p:nvSpPr>
        <p:spPr>
          <a:xfrm>
            <a:off x="816372" y="1822244"/>
            <a:ext cx="10241756" cy="434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dt" idx="10"/>
          </p:nvPr>
        </p:nvSpPr>
        <p:spPr>
          <a:xfrm>
            <a:off x="8386365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ftr" idx="11"/>
          </p:nvPr>
        </p:nvSpPr>
        <p:spPr>
          <a:xfrm>
            <a:off x="3933428" y="6344579"/>
            <a:ext cx="4007644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sldNum" idx="12"/>
          </p:nvPr>
        </p:nvSpPr>
        <p:spPr>
          <a:xfrm>
            <a:off x="816372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indent="0" algn="l">
              <a:spcBef>
                <a:spcPts val="0"/>
              </a:spcBef>
              <a:buNone/>
              <a:defRPr/>
            </a:lvl1pPr>
            <a:lvl2pPr lvl="1" indent="0" algn="l">
              <a:spcBef>
                <a:spcPts val="0"/>
              </a:spcBef>
              <a:buNone/>
              <a:defRPr/>
            </a:lvl2pPr>
            <a:lvl3pPr lvl="2" indent="0" algn="l">
              <a:spcBef>
                <a:spcPts val="0"/>
              </a:spcBef>
              <a:buNone/>
              <a:defRPr/>
            </a:lvl3pPr>
            <a:lvl4pPr lvl="3" indent="0" algn="l">
              <a:spcBef>
                <a:spcPts val="0"/>
              </a:spcBef>
              <a:buNone/>
              <a:defRPr/>
            </a:lvl4pPr>
            <a:lvl5pPr lvl="4" indent="0" algn="l">
              <a:spcBef>
                <a:spcPts val="0"/>
              </a:spcBef>
              <a:buNone/>
              <a:defRPr/>
            </a:lvl5pPr>
            <a:lvl6pPr lvl="5" indent="0" algn="l">
              <a:spcBef>
                <a:spcPts val="0"/>
              </a:spcBef>
              <a:buNone/>
              <a:defRPr/>
            </a:lvl6pPr>
            <a:lvl7pPr lvl="6" indent="0" algn="l">
              <a:spcBef>
                <a:spcPts val="0"/>
              </a:spcBef>
              <a:buNone/>
              <a:defRPr/>
            </a:lvl7pPr>
            <a:lvl8pPr lvl="7" indent="0" algn="l">
              <a:spcBef>
                <a:spcPts val="0"/>
              </a:spcBef>
              <a:buNone/>
              <a:defRPr/>
            </a:lvl8pPr>
            <a:lvl9pPr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شريحة عنوان" type="title">
  <p:cSld name="TITL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9"/>
          <p:cNvSpPr txBox="1">
            <a:spLocks noGrp="1"/>
          </p:cNvSpPr>
          <p:nvPr>
            <p:ph type="ctrTitle"/>
          </p:nvPr>
        </p:nvSpPr>
        <p:spPr>
          <a:xfrm>
            <a:off x="1484313" y="1120284"/>
            <a:ext cx="8905875" cy="238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44"/>
              <a:buFont typeface="Play"/>
              <a:buNone/>
              <a:defRPr sz="584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subTitle" idx="1"/>
          </p:nvPr>
        </p:nvSpPr>
        <p:spPr>
          <a:xfrm>
            <a:off x="1484313" y="3595367"/>
            <a:ext cx="8905875" cy="1652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2338"/>
              <a:buNone/>
              <a:defRPr sz="2338"/>
            </a:lvl1pPr>
            <a:lvl2pPr lvl="1" algn="ct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8"/>
              <a:buNone/>
              <a:defRPr sz="1948"/>
            </a:lvl2pPr>
            <a:lvl3pPr lvl="2" algn="ct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3"/>
              <a:buNone/>
              <a:defRPr sz="1753"/>
            </a:lvl3pPr>
            <a:lvl4pPr lvl="3" algn="ct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/>
            </a:lvl4pPr>
            <a:lvl5pPr lvl="4" algn="ct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/>
            </a:lvl5pPr>
            <a:lvl6pPr lvl="5" algn="ct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/>
            </a:lvl6pPr>
            <a:lvl7pPr lvl="6" algn="ct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/>
            </a:lvl7pPr>
            <a:lvl8pPr lvl="7" algn="ct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/>
            </a:lvl8pPr>
            <a:lvl9pPr lvl="8" algn="ct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dt" idx="10"/>
          </p:nvPr>
        </p:nvSpPr>
        <p:spPr>
          <a:xfrm>
            <a:off x="8386365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ftr" idx="11"/>
          </p:nvPr>
        </p:nvSpPr>
        <p:spPr>
          <a:xfrm>
            <a:off x="3933428" y="6344579"/>
            <a:ext cx="4007644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sldNum" idx="12"/>
          </p:nvPr>
        </p:nvSpPr>
        <p:spPr>
          <a:xfrm>
            <a:off x="816372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indent="0" algn="l">
              <a:spcBef>
                <a:spcPts val="0"/>
              </a:spcBef>
              <a:buNone/>
              <a:defRPr/>
            </a:lvl1pPr>
            <a:lvl2pPr lvl="1" indent="0" algn="l">
              <a:spcBef>
                <a:spcPts val="0"/>
              </a:spcBef>
              <a:buNone/>
              <a:defRPr/>
            </a:lvl2pPr>
            <a:lvl3pPr lvl="2" indent="0" algn="l">
              <a:spcBef>
                <a:spcPts val="0"/>
              </a:spcBef>
              <a:buNone/>
              <a:defRPr/>
            </a:lvl3pPr>
            <a:lvl4pPr lvl="3" indent="0" algn="l">
              <a:spcBef>
                <a:spcPts val="0"/>
              </a:spcBef>
              <a:buNone/>
              <a:defRPr/>
            </a:lvl4pPr>
            <a:lvl5pPr lvl="4" indent="0" algn="l">
              <a:spcBef>
                <a:spcPts val="0"/>
              </a:spcBef>
              <a:buNone/>
              <a:defRPr/>
            </a:lvl5pPr>
            <a:lvl6pPr lvl="5" indent="0" algn="l">
              <a:spcBef>
                <a:spcPts val="0"/>
              </a:spcBef>
              <a:buNone/>
              <a:defRPr/>
            </a:lvl6pPr>
            <a:lvl7pPr lvl="6" indent="0" algn="l">
              <a:spcBef>
                <a:spcPts val="0"/>
              </a:spcBef>
              <a:buNone/>
              <a:defRPr/>
            </a:lvl7pPr>
            <a:lvl8pPr lvl="7" indent="0" algn="l">
              <a:spcBef>
                <a:spcPts val="0"/>
              </a:spcBef>
              <a:buNone/>
              <a:defRPr/>
            </a:lvl8pPr>
            <a:lvl9pPr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عنوان المقطع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0"/>
          <p:cNvSpPr txBox="1">
            <a:spLocks noGrp="1"/>
          </p:cNvSpPr>
          <p:nvPr>
            <p:ph type="title"/>
          </p:nvPr>
        </p:nvSpPr>
        <p:spPr>
          <a:xfrm>
            <a:off x="810187" y="1706572"/>
            <a:ext cx="10241756" cy="284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44"/>
              <a:buFont typeface="Play"/>
              <a:buNone/>
              <a:defRPr sz="584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body" idx="1"/>
          </p:nvPr>
        </p:nvSpPr>
        <p:spPr>
          <a:xfrm>
            <a:off x="810187" y="4580964"/>
            <a:ext cx="10241756" cy="149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rgbClr val="757575"/>
              </a:buClr>
              <a:buSzPts val="2338"/>
              <a:buNone/>
              <a:defRPr sz="2338">
                <a:solidFill>
                  <a:srgbClr val="757575"/>
                </a:solidFill>
              </a:defRPr>
            </a:lvl1pPr>
            <a:lvl2pPr marL="914400" lvl="1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rgbClr val="757575"/>
              </a:buClr>
              <a:buSzPts val="1948"/>
              <a:buNone/>
              <a:defRPr sz="1948">
                <a:solidFill>
                  <a:srgbClr val="757575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rgbClr val="757575"/>
              </a:buClr>
              <a:buSzPts val="1753"/>
              <a:buNone/>
              <a:defRPr sz="1753">
                <a:solidFill>
                  <a:srgbClr val="757575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rgbClr val="757575"/>
              </a:buClr>
              <a:buSzPts val="1558"/>
              <a:buNone/>
              <a:defRPr sz="1558">
                <a:solidFill>
                  <a:srgbClr val="757575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rgbClr val="757575"/>
              </a:buClr>
              <a:buSzPts val="1558"/>
              <a:buNone/>
              <a:defRPr sz="1558">
                <a:solidFill>
                  <a:srgbClr val="757575"/>
                </a:solidFill>
              </a:defRPr>
            </a:lvl5pPr>
            <a:lvl6pPr marL="2743200" lvl="5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rgbClr val="757575"/>
              </a:buClr>
              <a:buSzPts val="1558"/>
              <a:buNone/>
              <a:defRPr sz="1558">
                <a:solidFill>
                  <a:srgbClr val="757575"/>
                </a:solidFill>
              </a:defRPr>
            </a:lvl6pPr>
            <a:lvl7pPr marL="3200400" lvl="6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rgbClr val="757575"/>
              </a:buClr>
              <a:buSzPts val="1558"/>
              <a:buNone/>
              <a:defRPr sz="1558">
                <a:solidFill>
                  <a:srgbClr val="757575"/>
                </a:solidFill>
              </a:defRPr>
            </a:lvl7pPr>
            <a:lvl8pPr marL="3657600" lvl="7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rgbClr val="757575"/>
              </a:buClr>
              <a:buSzPts val="1558"/>
              <a:buNone/>
              <a:defRPr sz="1558">
                <a:solidFill>
                  <a:srgbClr val="757575"/>
                </a:solidFill>
              </a:defRPr>
            </a:lvl8pPr>
            <a:lvl9pPr marL="4114800" lvl="8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rgbClr val="757575"/>
              </a:buClr>
              <a:buSzPts val="1558"/>
              <a:buNone/>
              <a:defRPr sz="1558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dt" idx="10"/>
          </p:nvPr>
        </p:nvSpPr>
        <p:spPr>
          <a:xfrm>
            <a:off x="8386365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ftr" idx="11"/>
          </p:nvPr>
        </p:nvSpPr>
        <p:spPr>
          <a:xfrm>
            <a:off x="3933428" y="6344579"/>
            <a:ext cx="4007644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0"/>
          <p:cNvSpPr txBox="1">
            <a:spLocks noGrp="1"/>
          </p:cNvSpPr>
          <p:nvPr>
            <p:ph type="sldNum" idx="12"/>
          </p:nvPr>
        </p:nvSpPr>
        <p:spPr>
          <a:xfrm>
            <a:off x="816372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indent="0" algn="l">
              <a:spcBef>
                <a:spcPts val="0"/>
              </a:spcBef>
              <a:buNone/>
              <a:defRPr/>
            </a:lvl1pPr>
            <a:lvl2pPr lvl="1" indent="0" algn="l">
              <a:spcBef>
                <a:spcPts val="0"/>
              </a:spcBef>
              <a:buNone/>
              <a:defRPr/>
            </a:lvl2pPr>
            <a:lvl3pPr lvl="2" indent="0" algn="l">
              <a:spcBef>
                <a:spcPts val="0"/>
              </a:spcBef>
              <a:buNone/>
              <a:defRPr/>
            </a:lvl3pPr>
            <a:lvl4pPr lvl="3" indent="0" algn="l">
              <a:spcBef>
                <a:spcPts val="0"/>
              </a:spcBef>
              <a:buNone/>
              <a:defRPr/>
            </a:lvl4pPr>
            <a:lvl5pPr lvl="4" indent="0" algn="l">
              <a:spcBef>
                <a:spcPts val="0"/>
              </a:spcBef>
              <a:buNone/>
              <a:defRPr/>
            </a:lvl5pPr>
            <a:lvl6pPr lvl="5" indent="0" algn="l">
              <a:spcBef>
                <a:spcPts val="0"/>
              </a:spcBef>
              <a:buNone/>
              <a:defRPr/>
            </a:lvl6pPr>
            <a:lvl7pPr lvl="6" indent="0" algn="l">
              <a:spcBef>
                <a:spcPts val="0"/>
              </a:spcBef>
              <a:buNone/>
              <a:defRPr/>
            </a:lvl7pPr>
            <a:lvl8pPr lvl="7" indent="0" algn="l">
              <a:spcBef>
                <a:spcPts val="0"/>
              </a:spcBef>
              <a:buNone/>
              <a:defRPr/>
            </a:lvl8pPr>
            <a:lvl9pPr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محتويان" type="twoObj">
  <p:cSld name="TWO_OBJEC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1"/>
          <p:cNvSpPr txBox="1">
            <a:spLocks noGrp="1"/>
          </p:cNvSpPr>
          <p:nvPr>
            <p:ph type="title"/>
          </p:nvPr>
        </p:nvSpPr>
        <p:spPr>
          <a:xfrm>
            <a:off x="816372" y="364449"/>
            <a:ext cx="10241756" cy="1323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body" idx="1"/>
          </p:nvPr>
        </p:nvSpPr>
        <p:spPr>
          <a:xfrm>
            <a:off x="816372" y="1822244"/>
            <a:ext cx="5046663" cy="434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body" idx="2"/>
          </p:nvPr>
        </p:nvSpPr>
        <p:spPr>
          <a:xfrm>
            <a:off x="6011465" y="1822244"/>
            <a:ext cx="5046663" cy="434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dt" idx="10"/>
          </p:nvPr>
        </p:nvSpPr>
        <p:spPr>
          <a:xfrm>
            <a:off x="8386365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ftr" idx="11"/>
          </p:nvPr>
        </p:nvSpPr>
        <p:spPr>
          <a:xfrm>
            <a:off x="3933428" y="6344579"/>
            <a:ext cx="4007644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sldNum" idx="12"/>
          </p:nvPr>
        </p:nvSpPr>
        <p:spPr>
          <a:xfrm>
            <a:off x="816372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indent="0" algn="l">
              <a:spcBef>
                <a:spcPts val="0"/>
              </a:spcBef>
              <a:buNone/>
              <a:defRPr/>
            </a:lvl1pPr>
            <a:lvl2pPr lvl="1" indent="0" algn="l">
              <a:spcBef>
                <a:spcPts val="0"/>
              </a:spcBef>
              <a:buNone/>
              <a:defRPr/>
            </a:lvl2pPr>
            <a:lvl3pPr lvl="2" indent="0" algn="l">
              <a:spcBef>
                <a:spcPts val="0"/>
              </a:spcBef>
              <a:buNone/>
              <a:defRPr/>
            </a:lvl3pPr>
            <a:lvl4pPr lvl="3" indent="0" algn="l">
              <a:spcBef>
                <a:spcPts val="0"/>
              </a:spcBef>
              <a:buNone/>
              <a:defRPr/>
            </a:lvl4pPr>
            <a:lvl5pPr lvl="4" indent="0" algn="l">
              <a:spcBef>
                <a:spcPts val="0"/>
              </a:spcBef>
              <a:buNone/>
              <a:defRPr/>
            </a:lvl5pPr>
            <a:lvl6pPr lvl="5" indent="0" algn="l">
              <a:spcBef>
                <a:spcPts val="0"/>
              </a:spcBef>
              <a:buNone/>
              <a:defRPr/>
            </a:lvl6pPr>
            <a:lvl7pPr lvl="6" indent="0" algn="l">
              <a:spcBef>
                <a:spcPts val="0"/>
              </a:spcBef>
              <a:buNone/>
              <a:defRPr/>
            </a:lvl7pPr>
            <a:lvl8pPr lvl="7" indent="0" algn="l">
              <a:spcBef>
                <a:spcPts val="0"/>
              </a:spcBef>
              <a:buNone/>
              <a:defRPr/>
            </a:lvl8pPr>
            <a:lvl9pPr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مقارنة" type="twoTxTwoObj">
  <p:cSld name="TWO_OBJECTS_WITH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2"/>
          <p:cNvSpPr txBox="1">
            <a:spLocks noGrp="1"/>
          </p:cNvSpPr>
          <p:nvPr>
            <p:ph type="title"/>
          </p:nvPr>
        </p:nvSpPr>
        <p:spPr>
          <a:xfrm>
            <a:off x="817919" y="364449"/>
            <a:ext cx="10241756" cy="1323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body" idx="1"/>
          </p:nvPr>
        </p:nvSpPr>
        <p:spPr>
          <a:xfrm>
            <a:off x="817919" y="1678050"/>
            <a:ext cx="5023470" cy="822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2338"/>
              <a:buNone/>
              <a:defRPr sz="2338" b="1"/>
            </a:lvl1pPr>
            <a:lvl2pPr marL="914400" lvl="1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8"/>
              <a:buNone/>
              <a:defRPr sz="1948" b="1"/>
            </a:lvl2pPr>
            <a:lvl3pPr marL="1371600" lvl="2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3"/>
              <a:buNone/>
              <a:defRPr sz="1753" b="1"/>
            </a:lvl3pPr>
            <a:lvl4pPr marL="1828800" lvl="3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 b="1"/>
            </a:lvl4pPr>
            <a:lvl5pPr marL="2286000" lvl="4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 b="1"/>
            </a:lvl5pPr>
            <a:lvl6pPr marL="2743200" lvl="5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 b="1"/>
            </a:lvl6pPr>
            <a:lvl7pPr marL="3200400" lvl="6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 b="1"/>
            </a:lvl7pPr>
            <a:lvl8pPr marL="3657600" lvl="7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 b="1"/>
            </a:lvl8pPr>
            <a:lvl9pPr marL="4114800" lvl="8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 b="1"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body" idx="2"/>
          </p:nvPr>
        </p:nvSpPr>
        <p:spPr>
          <a:xfrm>
            <a:off x="817919" y="2500436"/>
            <a:ext cx="5023470" cy="3677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3"/>
          </p:nvPr>
        </p:nvSpPr>
        <p:spPr>
          <a:xfrm>
            <a:off x="6011466" y="1678050"/>
            <a:ext cx="5048209" cy="822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2338"/>
              <a:buNone/>
              <a:defRPr sz="2338" b="1"/>
            </a:lvl1pPr>
            <a:lvl2pPr marL="914400" lvl="1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8"/>
              <a:buNone/>
              <a:defRPr sz="1948" b="1"/>
            </a:lvl2pPr>
            <a:lvl3pPr marL="1371600" lvl="2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3"/>
              <a:buNone/>
              <a:defRPr sz="1753" b="1"/>
            </a:lvl3pPr>
            <a:lvl4pPr marL="1828800" lvl="3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 b="1"/>
            </a:lvl4pPr>
            <a:lvl5pPr marL="2286000" lvl="4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 b="1"/>
            </a:lvl5pPr>
            <a:lvl6pPr marL="2743200" lvl="5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 b="1"/>
            </a:lvl6pPr>
            <a:lvl7pPr marL="3200400" lvl="6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 b="1"/>
            </a:lvl7pPr>
            <a:lvl8pPr marL="3657600" lvl="7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 b="1"/>
            </a:lvl8pPr>
            <a:lvl9pPr marL="4114800" lvl="8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 b="1"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body" idx="4"/>
          </p:nvPr>
        </p:nvSpPr>
        <p:spPr>
          <a:xfrm>
            <a:off x="6011466" y="2500436"/>
            <a:ext cx="5048209" cy="3677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dt" idx="10"/>
          </p:nvPr>
        </p:nvSpPr>
        <p:spPr>
          <a:xfrm>
            <a:off x="8386365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ftr" idx="11"/>
          </p:nvPr>
        </p:nvSpPr>
        <p:spPr>
          <a:xfrm>
            <a:off x="3933428" y="6344579"/>
            <a:ext cx="4007644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2"/>
          <p:cNvSpPr txBox="1">
            <a:spLocks noGrp="1"/>
          </p:cNvSpPr>
          <p:nvPr>
            <p:ph type="sldNum" idx="12"/>
          </p:nvPr>
        </p:nvSpPr>
        <p:spPr>
          <a:xfrm>
            <a:off x="816372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indent="0" algn="l">
              <a:spcBef>
                <a:spcPts val="0"/>
              </a:spcBef>
              <a:buNone/>
              <a:defRPr/>
            </a:lvl1pPr>
            <a:lvl2pPr lvl="1" indent="0" algn="l">
              <a:spcBef>
                <a:spcPts val="0"/>
              </a:spcBef>
              <a:buNone/>
              <a:defRPr/>
            </a:lvl2pPr>
            <a:lvl3pPr lvl="2" indent="0" algn="l">
              <a:spcBef>
                <a:spcPts val="0"/>
              </a:spcBef>
              <a:buNone/>
              <a:defRPr/>
            </a:lvl3pPr>
            <a:lvl4pPr lvl="3" indent="0" algn="l">
              <a:spcBef>
                <a:spcPts val="0"/>
              </a:spcBef>
              <a:buNone/>
              <a:defRPr/>
            </a:lvl4pPr>
            <a:lvl5pPr lvl="4" indent="0" algn="l">
              <a:spcBef>
                <a:spcPts val="0"/>
              </a:spcBef>
              <a:buNone/>
              <a:defRPr/>
            </a:lvl5pPr>
            <a:lvl6pPr lvl="5" indent="0" algn="l">
              <a:spcBef>
                <a:spcPts val="0"/>
              </a:spcBef>
              <a:buNone/>
              <a:defRPr/>
            </a:lvl6pPr>
            <a:lvl7pPr lvl="6" indent="0" algn="l">
              <a:spcBef>
                <a:spcPts val="0"/>
              </a:spcBef>
              <a:buNone/>
              <a:defRPr/>
            </a:lvl7pPr>
            <a:lvl8pPr lvl="7" indent="0" algn="l">
              <a:spcBef>
                <a:spcPts val="0"/>
              </a:spcBef>
              <a:buNone/>
              <a:defRPr/>
            </a:lvl8pPr>
            <a:lvl9pPr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عنوان فقط" type="titleOnly">
  <p:cSld name="TITLE_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3"/>
          <p:cNvSpPr txBox="1">
            <a:spLocks noGrp="1"/>
          </p:cNvSpPr>
          <p:nvPr>
            <p:ph type="title"/>
          </p:nvPr>
        </p:nvSpPr>
        <p:spPr>
          <a:xfrm>
            <a:off x="816372" y="364449"/>
            <a:ext cx="10241756" cy="1323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3"/>
          <p:cNvSpPr txBox="1">
            <a:spLocks noGrp="1"/>
          </p:cNvSpPr>
          <p:nvPr>
            <p:ph type="dt" idx="10"/>
          </p:nvPr>
        </p:nvSpPr>
        <p:spPr>
          <a:xfrm>
            <a:off x="8386365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3"/>
          <p:cNvSpPr txBox="1">
            <a:spLocks noGrp="1"/>
          </p:cNvSpPr>
          <p:nvPr>
            <p:ph type="ftr" idx="11"/>
          </p:nvPr>
        </p:nvSpPr>
        <p:spPr>
          <a:xfrm>
            <a:off x="3933428" y="6344579"/>
            <a:ext cx="4007644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3"/>
          <p:cNvSpPr txBox="1">
            <a:spLocks noGrp="1"/>
          </p:cNvSpPr>
          <p:nvPr>
            <p:ph type="sldNum" idx="12"/>
          </p:nvPr>
        </p:nvSpPr>
        <p:spPr>
          <a:xfrm>
            <a:off x="816372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indent="0" algn="l">
              <a:spcBef>
                <a:spcPts val="0"/>
              </a:spcBef>
              <a:buNone/>
              <a:defRPr/>
            </a:lvl1pPr>
            <a:lvl2pPr lvl="1" indent="0" algn="l">
              <a:spcBef>
                <a:spcPts val="0"/>
              </a:spcBef>
              <a:buNone/>
              <a:defRPr/>
            </a:lvl2pPr>
            <a:lvl3pPr lvl="2" indent="0" algn="l">
              <a:spcBef>
                <a:spcPts val="0"/>
              </a:spcBef>
              <a:buNone/>
              <a:defRPr/>
            </a:lvl3pPr>
            <a:lvl4pPr lvl="3" indent="0" algn="l">
              <a:spcBef>
                <a:spcPts val="0"/>
              </a:spcBef>
              <a:buNone/>
              <a:defRPr/>
            </a:lvl4pPr>
            <a:lvl5pPr lvl="4" indent="0" algn="l">
              <a:spcBef>
                <a:spcPts val="0"/>
              </a:spcBef>
              <a:buNone/>
              <a:defRPr/>
            </a:lvl5pPr>
            <a:lvl6pPr lvl="5" indent="0" algn="l">
              <a:spcBef>
                <a:spcPts val="0"/>
              </a:spcBef>
              <a:buNone/>
              <a:defRPr/>
            </a:lvl6pPr>
            <a:lvl7pPr lvl="6" indent="0" algn="l">
              <a:spcBef>
                <a:spcPts val="0"/>
              </a:spcBef>
              <a:buNone/>
              <a:defRPr/>
            </a:lvl7pPr>
            <a:lvl8pPr lvl="7" indent="0" algn="l">
              <a:spcBef>
                <a:spcPts val="0"/>
              </a:spcBef>
              <a:buNone/>
              <a:defRPr/>
            </a:lvl8pPr>
            <a:lvl9pPr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فارغ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4"/>
          <p:cNvSpPr txBox="1">
            <a:spLocks noGrp="1"/>
          </p:cNvSpPr>
          <p:nvPr>
            <p:ph type="dt" idx="10"/>
          </p:nvPr>
        </p:nvSpPr>
        <p:spPr>
          <a:xfrm>
            <a:off x="8386365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4"/>
          <p:cNvSpPr txBox="1">
            <a:spLocks noGrp="1"/>
          </p:cNvSpPr>
          <p:nvPr>
            <p:ph type="ftr" idx="11"/>
          </p:nvPr>
        </p:nvSpPr>
        <p:spPr>
          <a:xfrm>
            <a:off x="3933428" y="6344579"/>
            <a:ext cx="4007644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4"/>
          <p:cNvSpPr txBox="1">
            <a:spLocks noGrp="1"/>
          </p:cNvSpPr>
          <p:nvPr>
            <p:ph type="sldNum" idx="12"/>
          </p:nvPr>
        </p:nvSpPr>
        <p:spPr>
          <a:xfrm>
            <a:off x="816372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indent="0" algn="l">
              <a:spcBef>
                <a:spcPts val="0"/>
              </a:spcBef>
              <a:buNone/>
              <a:defRPr/>
            </a:lvl1pPr>
            <a:lvl2pPr lvl="1" indent="0" algn="l">
              <a:spcBef>
                <a:spcPts val="0"/>
              </a:spcBef>
              <a:buNone/>
              <a:defRPr/>
            </a:lvl2pPr>
            <a:lvl3pPr lvl="2" indent="0" algn="l">
              <a:spcBef>
                <a:spcPts val="0"/>
              </a:spcBef>
              <a:buNone/>
              <a:defRPr/>
            </a:lvl3pPr>
            <a:lvl4pPr lvl="3" indent="0" algn="l">
              <a:spcBef>
                <a:spcPts val="0"/>
              </a:spcBef>
              <a:buNone/>
              <a:defRPr/>
            </a:lvl4pPr>
            <a:lvl5pPr lvl="4" indent="0" algn="l">
              <a:spcBef>
                <a:spcPts val="0"/>
              </a:spcBef>
              <a:buNone/>
              <a:defRPr/>
            </a:lvl5pPr>
            <a:lvl6pPr lvl="5" indent="0" algn="l">
              <a:spcBef>
                <a:spcPts val="0"/>
              </a:spcBef>
              <a:buNone/>
              <a:defRPr/>
            </a:lvl6pPr>
            <a:lvl7pPr lvl="6" indent="0" algn="l">
              <a:spcBef>
                <a:spcPts val="0"/>
              </a:spcBef>
              <a:buNone/>
              <a:defRPr/>
            </a:lvl7pPr>
            <a:lvl8pPr lvl="7" indent="0" algn="l">
              <a:spcBef>
                <a:spcPts val="0"/>
              </a:spcBef>
              <a:buNone/>
              <a:defRPr/>
            </a:lvl8pPr>
            <a:lvl9pPr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محتوى مع تسمية توضيحية" type="objTx">
  <p:cSld name="OBJECT_WITH_CAPTION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5"/>
          <p:cNvSpPr txBox="1">
            <a:spLocks noGrp="1"/>
          </p:cNvSpPr>
          <p:nvPr>
            <p:ph type="title"/>
          </p:nvPr>
        </p:nvSpPr>
        <p:spPr>
          <a:xfrm>
            <a:off x="817919" y="456353"/>
            <a:ext cx="3829835" cy="1597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7"/>
              <a:buFont typeface="Play"/>
              <a:buNone/>
              <a:defRPr sz="311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5"/>
          <p:cNvSpPr txBox="1">
            <a:spLocks noGrp="1"/>
          </p:cNvSpPr>
          <p:nvPr>
            <p:ph type="body" idx="1"/>
          </p:nvPr>
        </p:nvSpPr>
        <p:spPr>
          <a:xfrm>
            <a:off x="5048209" y="985597"/>
            <a:ext cx="6011466" cy="48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26529" algn="r" rtl="1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3117"/>
              <a:buChar char="•"/>
              <a:defRPr sz="3117"/>
            </a:lvl1pPr>
            <a:lvl2pPr marL="914400" lvl="1" indent="-401764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727"/>
              <a:buChar char="•"/>
              <a:defRPr sz="2727"/>
            </a:lvl2pPr>
            <a:lvl3pPr marL="1371600" lvl="2" indent="-377063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338"/>
              <a:buChar char="•"/>
              <a:defRPr sz="2338"/>
            </a:lvl3pPr>
            <a:lvl4pPr marL="1828800" lvl="3" indent="-352297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8"/>
              <a:buChar char="•"/>
              <a:defRPr sz="1948"/>
            </a:lvl4pPr>
            <a:lvl5pPr marL="2286000" lvl="4" indent="-352298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8"/>
              <a:buChar char="•"/>
              <a:defRPr sz="1948"/>
            </a:lvl5pPr>
            <a:lvl6pPr marL="2743200" lvl="5" indent="-352298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8"/>
              <a:buChar char="•"/>
              <a:defRPr sz="1948"/>
            </a:lvl6pPr>
            <a:lvl7pPr marL="3200400" lvl="6" indent="-352298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8"/>
              <a:buChar char="•"/>
              <a:defRPr sz="1948"/>
            </a:lvl7pPr>
            <a:lvl8pPr marL="3657600" lvl="7" indent="-352297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8"/>
              <a:buChar char="•"/>
              <a:defRPr sz="1948"/>
            </a:lvl8pPr>
            <a:lvl9pPr marL="4114800" lvl="8" indent="-352297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8"/>
              <a:buChar char="•"/>
              <a:defRPr sz="1948"/>
            </a:lvl9pPr>
          </a:lstStyle>
          <a:p>
            <a:endParaRPr/>
          </a:p>
        </p:txBody>
      </p:sp>
      <p:sp>
        <p:nvSpPr>
          <p:cNvPr id="97" name="Google Shape;97;p35"/>
          <p:cNvSpPr txBox="1">
            <a:spLocks noGrp="1"/>
          </p:cNvSpPr>
          <p:nvPr>
            <p:ph type="body" idx="2"/>
          </p:nvPr>
        </p:nvSpPr>
        <p:spPr>
          <a:xfrm>
            <a:off x="817919" y="2053590"/>
            <a:ext cx="3829835" cy="380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/>
            </a:lvl1pPr>
            <a:lvl2pPr marL="914400" lvl="1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364"/>
              <a:buNone/>
              <a:defRPr sz="1364"/>
            </a:lvl2pPr>
            <a:lvl3pPr marL="1371600" lvl="2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169"/>
              <a:buNone/>
              <a:defRPr sz="1169"/>
            </a:lvl3pPr>
            <a:lvl4pPr marL="1828800" lvl="3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4pPr>
            <a:lvl5pPr marL="2286000" lvl="4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5pPr>
            <a:lvl6pPr marL="2743200" lvl="5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6pPr>
            <a:lvl7pPr marL="3200400" lvl="6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7pPr>
            <a:lvl8pPr marL="3657600" lvl="7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8pPr>
            <a:lvl9pPr marL="4114800" lvl="8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9pPr>
          </a:lstStyle>
          <a:p>
            <a:endParaRPr/>
          </a:p>
        </p:txBody>
      </p:sp>
      <p:sp>
        <p:nvSpPr>
          <p:cNvPr id="98" name="Google Shape;98;p35"/>
          <p:cNvSpPr txBox="1">
            <a:spLocks noGrp="1"/>
          </p:cNvSpPr>
          <p:nvPr>
            <p:ph type="dt" idx="10"/>
          </p:nvPr>
        </p:nvSpPr>
        <p:spPr>
          <a:xfrm>
            <a:off x="8386365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5"/>
          <p:cNvSpPr txBox="1">
            <a:spLocks noGrp="1"/>
          </p:cNvSpPr>
          <p:nvPr>
            <p:ph type="ftr" idx="11"/>
          </p:nvPr>
        </p:nvSpPr>
        <p:spPr>
          <a:xfrm>
            <a:off x="3933428" y="6344579"/>
            <a:ext cx="4007644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5"/>
          <p:cNvSpPr txBox="1">
            <a:spLocks noGrp="1"/>
          </p:cNvSpPr>
          <p:nvPr>
            <p:ph type="sldNum" idx="12"/>
          </p:nvPr>
        </p:nvSpPr>
        <p:spPr>
          <a:xfrm>
            <a:off x="816372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indent="0" algn="l">
              <a:spcBef>
                <a:spcPts val="0"/>
              </a:spcBef>
              <a:buNone/>
              <a:defRPr/>
            </a:lvl1pPr>
            <a:lvl2pPr lvl="1" indent="0" algn="l">
              <a:spcBef>
                <a:spcPts val="0"/>
              </a:spcBef>
              <a:buNone/>
              <a:defRPr/>
            </a:lvl2pPr>
            <a:lvl3pPr lvl="2" indent="0" algn="l">
              <a:spcBef>
                <a:spcPts val="0"/>
              </a:spcBef>
              <a:buNone/>
              <a:defRPr/>
            </a:lvl3pPr>
            <a:lvl4pPr lvl="3" indent="0" algn="l">
              <a:spcBef>
                <a:spcPts val="0"/>
              </a:spcBef>
              <a:buNone/>
              <a:defRPr/>
            </a:lvl4pPr>
            <a:lvl5pPr lvl="4" indent="0" algn="l">
              <a:spcBef>
                <a:spcPts val="0"/>
              </a:spcBef>
              <a:buNone/>
              <a:defRPr/>
            </a:lvl5pPr>
            <a:lvl6pPr lvl="5" indent="0" algn="l">
              <a:spcBef>
                <a:spcPts val="0"/>
              </a:spcBef>
              <a:buNone/>
              <a:defRPr/>
            </a:lvl6pPr>
            <a:lvl7pPr lvl="6" indent="0" algn="l">
              <a:spcBef>
                <a:spcPts val="0"/>
              </a:spcBef>
              <a:buNone/>
              <a:defRPr/>
            </a:lvl7pPr>
            <a:lvl8pPr lvl="7" indent="0" algn="l">
              <a:spcBef>
                <a:spcPts val="0"/>
              </a:spcBef>
              <a:buNone/>
              <a:defRPr/>
            </a:lvl8pPr>
            <a:lvl9pPr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صورة مع تسمية توضيحية" type="picTx">
  <p:cSld name="PICTURE_WITH_CAPTION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6"/>
          <p:cNvSpPr txBox="1">
            <a:spLocks noGrp="1"/>
          </p:cNvSpPr>
          <p:nvPr>
            <p:ph type="title"/>
          </p:nvPr>
        </p:nvSpPr>
        <p:spPr>
          <a:xfrm>
            <a:off x="817919" y="456353"/>
            <a:ext cx="3829835" cy="1597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7"/>
              <a:buFont typeface="Play"/>
              <a:buNone/>
              <a:defRPr sz="311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6"/>
          <p:cNvSpPr>
            <a:spLocks noGrp="1"/>
          </p:cNvSpPr>
          <p:nvPr>
            <p:ph type="pic" idx="2"/>
          </p:nvPr>
        </p:nvSpPr>
        <p:spPr>
          <a:xfrm>
            <a:off x="5048209" y="985597"/>
            <a:ext cx="6011466" cy="48646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36"/>
          <p:cNvSpPr txBox="1">
            <a:spLocks noGrp="1"/>
          </p:cNvSpPr>
          <p:nvPr>
            <p:ph type="body" idx="1"/>
          </p:nvPr>
        </p:nvSpPr>
        <p:spPr>
          <a:xfrm>
            <a:off x="817919" y="2053590"/>
            <a:ext cx="3829835" cy="380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558"/>
              <a:buNone/>
              <a:defRPr sz="1558"/>
            </a:lvl1pPr>
            <a:lvl2pPr marL="914400" lvl="1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364"/>
              <a:buNone/>
              <a:defRPr sz="1364"/>
            </a:lvl2pPr>
            <a:lvl3pPr marL="1371600" lvl="2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169"/>
              <a:buNone/>
              <a:defRPr sz="1169"/>
            </a:lvl3pPr>
            <a:lvl4pPr marL="1828800" lvl="3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4pPr>
            <a:lvl5pPr marL="2286000" lvl="4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5pPr>
            <a:lvl6pPr marL="2743200" lvl="5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6pPr>
            <a:lvl7pPr marL="3200400" lvl="6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7pPr>
            <a:lvl8pPr marL="3657600" lvl="7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8pPr>
            <a:lvl9pPr marL="4114800" lvl="8" indent="-2286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9pPr>
          </a:lstStyle>
          <a:p>
            <a:endParaRPr/>
          </a:p>
        </p:txBody>
      </p:sp>
      <p:sp>
        <p:nvSpPr>
          <p:cNvPr id="105" name="Google Shape;105;p36"/>
          <p:cNvSpPr txBox="1">
            <a:spLocks noGrp="1"/>
          </p:cNvSpPr>
          <p:nvPr>
            <p:ph type="dt" idx="10"/>
          </p:nvPr>
        </p:nvSpPr>
        <p:spPr>
          <a:xfrm>
            <a:off x="8386365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6"/>
          <p:cNvSpPr txBox="1">
            <a:spLocks noGrp="1"/>
          </p:cNvSpPr>
          <p:nvPr>
            <p:ph type="ftr" idx="11"/>
          </p:nvPr>
        </p:nvSpPr>
        <p:spPr>
          <a:xfrm>
            <a:off x="3933428" y="6344579"/>
            <a:ext cx="4007644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6"/>
          <p:cNvSpPr txBox="1">
            <a:spLocks noGrp="1"/>
          </p:cNvSpPr>
          <p:nvPr>
            <p:ph type="sldNum" idx="12"/>
          </p:nvPr>
        </p:nvSpPr>
        <p:spPr>
          <a:xfrm>
            <a:off x="816372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indent="0" algn="l">
              <a:spcBef>
                <a:spcPts val="0"/>
              </a:spcBef>
              <a:buNone/>
              <a:defRPr/>
            </a:lvl1pPr>
            <a:lvl2pPr lvl="1" indent="0" algn="l">
              <a:spcBef>
                <a:spcPts val="0"/>
              </a:spcBef>
              <a:buNone/>
              <a:defRPr/>
            </a:lvl2pPr>
            <a:lvl3pPr lvl="2" indent="0" algn="l">
              <a:spcBef>
                <a:spcPts val="0"/>
              </a:spcBef>
              <a:buNone/>
              <a:defRPr/>
            </a:lvl3pPr>
            <a:lvl4pPr lvl="3" indent="0" algn="l">
              <a:spcBef>
                <a:spcPts val="0"/>
              </a:spcBef>
              <a:buNone/>
              <a:defRPr/>
            </a:lvl4pPr>
            <a:lvl5pPr lvl="4" indent="0" algn="l">
              <a:spcBef>
                <a:spcPts val="0"/>
              </a:spcBef>
              <a:buNone/>
              <a:defRPr/>
            </a:lvl5pPr>
            <a:lvl6pPr lvl="5" indent="0" algn="l">
              <a:spcBef>
                <a:spcPts val="0"/>
              </a:spcBef>
              <a:buNone/>
              <a:defRPr/>
            </a:lvl6pPr>
            <a:lvl7pPr lvl="6" indent="0" algn="l">
              <a:spcBef>
                <a:spcPts val="0"/>
              </a:spcBef>
              <a:buNone/>
              <a:defRPr/>
            </a:lvl7pPr>
            <a:lvl8pPr lvl="7" indent="0" algn="l">
              <a:spcBef>
                <a:spcPts val="0"/>
              </a:spcBef>
              <a:buNone/>
              <a:defRPr/>
            </a:lvl8pPr>
            <a:lvl9pPr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عنوان ونص عمودي" type="vertTx">
  <p:cSld name="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7"/>
          <p:cNvSpPr txBox="1">
            <a:spLocks noGrp="1"/>
          </p:cNvSpPr>
          <p:nvPr>
            <p:ph type="title"/>
          </p:nvPr>
        </p:nvSpPr>
        <p:spPr>
          <a:xfrm>
            <a:off x="816372" y="364449"/>
            <a:ext cx="10241756" cy="1323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7"/>
          <p:cNvSpPr txBox="1">
            <a:spLocks noGrp="1"/>
          </p:cNvSpPr>
          <p:nvPr>
            <p:ph type="body" idx="1"/>
          </p:nvPr>
        </p:nvSpPr>
        <p:spPr>
          <a:xfrm rot="5400000">
            <a:off x="3765610" y="-1126994"/>
            <a:ext cx="4343280" cy="1024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37"/>
          <p:cNvSpPr txBox="1">
            <a:spLocks noGrp="1"/>
          </p:cNvSpPr>
          <p:nvPr>
            <p:ph type="dt" idx="10"/>
          </p:nvPr>
        </p:nvSpPr>
        <p:spPr>
          <a:xfrm>
            <a:off x="8386365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7"/>
          <p:cNvSpPr txBox="1">
            <a:spLocks noGrp="1"/>
          </p:cNvSpPr>
          <p:nvPr>
            <p:ph type="ftr" idx="11"/>
          </p:nvPr>
        </p:nvSpPr>
        <p:spPr>
          <a:xfrm>
            <a:off x="3933428" y="6344579"/>
            <a:ext cx="4007644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7"/>
          <p:cNvSpPr txBox="1">
            <a:spLocks noGrp="1"/>
          </p:cNvSpPr>
          <p:nvPr>
            <p:ph type="sldNum" idx="12"/>
          </p:nvPr>
        </p:nvSpPr>
        <p:spPr>
          <a:xfrm>
            <a:off x="816372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indent="0" algn="l">
              <a:spcBef>
                <a:spcPts val="0"/>
              </a:spcBef>
              <a:buNone/>
              <a:defRPr/>
            </a:lvl1pPr>
            <a:lvl2pPr lvl="1" indent="0" algn="l">
              <a:spcBef>
                <a:spcPts val="0"/>
              </a:spcBef>
              <a:buNone/>
              <a:defRPr/>
            </a:lvl2pPr>
            <a:lvl3pPr lvl="2" indent="0" algn="l">
              <a:spcBef>
                <a:spcPts val="0"/>
              </a:spcBef>
              <a:buNone/>
              <a:defRPr/>
            </a:lvl3pPr>
            <a:lvl4pPr lvl="3" indent="0" algn="l">
              <a:spcBef>
                <a:spcPts val="0"/>
              </a:spcBef>
              <a:buNone/>
              <a:defRPr/>
            </a:lvl4pPr>
            <a:lvl5pPr lvl="4" indent="0" algn="l">
              <a:spcBef>
                <a:spcPts val="0"/>
              </a:spcBef>
              <a:buNone/>
              <a:defRPr/>
            </a:lvl5pPr>
            <a:lvl6pPr lvl="5" indent="0" algn="l">
              <a:spcBef>
                <a:spcPts val="0"/>
              </a:spcBef>
              <a:buNone/>
              <a:defRPr/>
            </a:lvl6pPr>
            <a:lvl7pPr lvl="6" indent="0" algn="l">
              <a:spcBef>
                <a:spcPts val="0"/>
              </a:spcBef>
              <a:buNone/>
              <a:defRPr/>
            </a:lvl7pPr>
            <a:lvl8pPr lvl="7" indent="0" algn="l">
              <a:spcBef>
                <a:spcPts val="0"/>
              </a:spcBef>
              <a:buNone/>
              <a:defRPr/>
            </a:lvl8pPr>
            <a:lvl9pPr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عنوان ونص عموديان" type="vertTitleAndTx">
  <p:cSld name="VERTICAL_TITLE_AND_VERTICAL_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8"/>
          <p:cNvSpPr txBox="1">
            <a:spLocks noGrp="1"/>
          </p:cNvSpPr>
          <p:nvPr>
            <p:ph type="title"/>
          </p:nvPr>
        </p:nvSpPr>
        <p:spPr>
          <a:xfrm rot="5400000">
            <a:off x="6877371" y="1984767"/>
            <a:ext cx="5801075" cy="2560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8"/>
          <p:cNvSpPr txBox="1">
            <a:spLocks noGrp="1"/>
          </p:cNvSpPr>
          <p:nvPr>
            <p:ph type="body" idx="1"/>
          </p:nvPr>
        </p:nvSpPr>
        <p:spPr>
          <a:xfrm rot="5400000">
            <a:off x="1682278" y="-501457"/>
            <a:ext cx="5801075" cy="7532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38"/>
          <p:cNvSpPr txBox="1">
            <a:spLocks noGrp="1"/>
          </p:cNvSpPr>
          <p:nvPr>
            <p:ph type="dt" idx="10"/>
          </p:nvPr>
        </p:nvSpPr>
        <p:spPr>
          <a:xfrm>
            <a:off x="8386365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8"/>
          <p:cNvSpPr txBox="1">
            <a:spLocks noGrp="1"/>
          </p:cNvSpPr>
          <p:nvPr>
            <p:ph type="ftr" idx="11"/>
          </p:nvPr>
        </p:nvSpPr>
        <p:spPr>
          <a:xfrm>
            <a:off x="3933428" y="6344579"/>
            <a:ext cx="4007644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8"/>
          <p:cNvSpPr txBox="1">
            <a:spLocks noGrp="1"/>
          </p:cNvSpPr>
          <p:nvPr>
            <p:ph type="sldNum" idx="12"/>
          </p:nvPr>
        </p:nvSpPr>
        <p:spPr>
          <a:xfrm>
            <a:off x="816372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indent="0" algn="l">
              <a:spcBef>
                <a:spcPts val="0"/>
              </a:spcBef>
              <a:buNone/>
              <a:defRPr/>
            </a:lvl1pPr>
            <a:lvl2pPr lvl="1" indent="0" algn="l">
              <a:spcBef>
                <a:spcPts val="0"/>
              </a:spcBef>
              <a:buNone/>
              <a:defRPr/>
            </a:lvl2pPr>
            <a:lvl3pPr lvl="2" indent="0" algn="l">
              <a:spcBef>
                <a:spcPts val="0"/>
              </a:spcBef>
              <a:buNone/>
              <a:defRPr/>
            </a:lvl3pPr>
            <a:lvl4pPr lvl="3" indent="0" algn="l">
              <a:spcBef>
                <a:spcPts val="0"/>
              </a:spcBef>
              <a:buNone/>
              <a:defRPr/>
            </a:lvl4pPr>
            <a:lvl5pPr lvl="4" indent="0" algn="l">
              <a:spcBef>
                <a:spcPts val="0"/>
              </a:spcBef>
              <a:buNone/>
              <a:defRPr/>
            </a:lvl5pPr>
            <a:lvl6pPr lvl="5" indent="0" algn="l">
              <a:spcBef>
                <a:spcPts val="0"/>
              </a:spcBef>
              <a:buNone/>
              <a:defRPr/>
            </a:lvl6pPr>
            <a:lvl7pPr lvl="6" indent="0" algn="l">
              <a:spcBef>
                <a:spcPts val="0"/>
              </a:spcBef>
              <a:buNone/>
              <a:defRPr/>
            </a:lvl7pPr>
            <a:lvl8pPr lvl="7" indent="0" algn="l">
              <a:spcBef>
                <a:spcPts val="0"/>
              </a:spcBef>
              <a:buNone/>
              <a:defRPr/>
            </a:lvl8pPr>
            <a:lvl9pPr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9770937" y="271611"/>
            <a:ext cx="1646568" cy="448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594042" y="1574419"/>
            <a:ext cx="10692765" cy="451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ftr" idx="11"/>
          </p:nvPr>
        </p:nvSpPr>
        <p:spPr>
          <a:xfrm>
            <a:off x="4039489" y="6366129"/>
            <a:ext cx="3801872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dt" idx="10"/>
          </p:nvPr>
        </p:nvSpPr>
        <p:spPr>
          <a:xfrm>
            <a:off x="594042" y="6366129"/>
            <a:ext cx="2732595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8554212" y="6366129"/>
            <a:ext cx="2732595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>
            <a:spLocks noGrp="1"/>
          </p:cNvSpPr>
          <p:nvPr>
            <p:ph type="title"/>
          </p:nvPr>
        </p:nvSpPr>
        <p:spPr>
          <a:xfrm>
            <a:off x="816372" y="364449"/>
            <a:ext cx="10241756" cy="1323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86"/>
              <a:buFont typeface="Play"/>
              <a:buNone/>
              <a:defRPr sz="4286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body" idx="1"/>
          </p:nvPr>
        </p:nvSpPr>
        <p:spPr>
          <a:xfrm>
            <a:off x="816372" y="1822244"/>
            <a:ext cx="10241756" cy="434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1764" algn="r" rtl="1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2727"/>
              <a:buFont typeface="Arial"/>
              <a:buChar char="•"/>
              <a:defRPr sz="272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7062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2297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8"/>
              <a:buFont typeface="Arial"/>
              <a:buChar char="•"/>
              <a:defRPr sz="19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9915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3"/>
              <a:buFont typeface="Arial"/>
              <a:buChar char="•"/>
              <a:defRPr sz="175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9915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3"/>
              <a:buFont typeface="Arial"/>
              <a:buChar char="•"/>
              <a:defRPr sz="175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9915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3"/>
              <a:buFont typeface="Arial"/>
              <a:buChar char="•"/>
              <a:defRPr sz="175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9915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3"/>
              <a:buFont typeface="Arial"/>
              <a:buChar char="•"/>
              <a:defRPr sz="175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9915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3"/>
              <a:buFont typeface="Arial"/>
              <a:buChar char="•"/>
              <a:defRPr sz="175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9915" algn="r" rtl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3"/>
              <a:buFont typeface="Arial"/>
              <a:buChar char="•"/>
              <a:defRPr sz="175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dt" idx="10"/>
          </p:nvPr>
        </p:nvSpPr>
        <p:spPr>
          <a:xfrm>
            <a:off x="8386365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69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ftr" idx="11"/>
          </p:nvPr>
        </p:nvSpPr>
        <p:spPr>
          <a:xfrm>
            <a:off x="3933428" y="6344579"/>
            <a:ext cx="4007644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69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sldNum" idx="12"/>
          </p:nvPr>
        </p:nvSpPr>
        <p:spPr>
          <a:xfrm>
            <a:off x="816372" y="6344579"/>
            <a:ext cx="2671763" cy="3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indent="0" algn="l">
              <a:spcBef>
                <a:spcPts val="0"/>
              </a:spcBef>
              <a:buNone/>
              <a:defRPr sz="1169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l">
              <a:spcBef>
                <a:spcPts val="0"/>
              </a:spcBef>
              <a:buNone/>
              <a:defRPr sz="1169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indent="0" algn="l">
              <a:spcBef>
                <a:spcPts val="0"/>
              </a:spcBef>
              <a:buNone/>
              <a:defRPr sz="1169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indent="0" algn="l">
              <a:spcBef>
                <a:spcPts val="0"/>
              </a:spcBef>
              <a:buNone/>
              <a:defRPr sz="1169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indent="0" algn="l">
              <a:spcBef>
                <a:spcPts val="0"/>
              </a:spcBef>
              <a:buNone/>
              <a:defRPr sz="1169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indent="0" algn="l">
              <a:spcBef>
                <a:spcPts val="0"/>
              </a:spcBef>
              <a:buNone/>
              <a:defRPr sz="1169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indent="0" algn="l">
              <a:spcBef>
                <a:spcPts val="0"/>
              </a:spcBef>
              <a:buNone/>
              <a:defRPr sz="1169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indent="0" algn="l">
              <a:spcBef>
                <a:spcPts val="0"/>
              </a:spcBef>
              <a:buNone/>
              <a:defRPr sz="1169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indent="0" algn="l">
              <a:spcBef>
                <a:spcPts val="0"/>
              </a:spcBef>
              <a:buNone/>
              <a:defRPr sz="1169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"/>
          <p:cNvGrpSpPr/>
          <p:nvPr/>
        </p:nvGrpSpPr>
        <p:grpSpPr>
          <a:xfrm>
            <a:off x="2208653" y="312470"/>
            <a:ext cx="9478103" cy="6286820"/>
            <a:chOff x="2208653" y="312470"/>
            <a:chExt cx="9478103" cy="6286820"/>
          </a:xfrm>
        </p:grpSpPr>
        <p:sp>
          <p:nvSpPr>
            <p:cNvPr id="128" name="Google Shape;128;p1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</p:grpSp>
      <p:sp>
        <p:nvSpPr>
          <p:cNvPr id="130" name="Google Shape;130;p1"/>
          <p:cNvSpPr/>
          <p:nvPr/>
        </p:nvSpPr>
        <p:spPr>
          <a:xfrm>
            <a:off x="2862501" y="-956810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27">
              <a:solidFill>
                <a:srgbClr val="445469"/>
              </a:solidFill>
              <a:latin typeface="Sakkal Majalla" panose="02000000000000000000" pitchFamily="2" charset="-78"/>
              <a:cs typeface="Sakkal Majalla" panose="02000000000000000000" pitchFamily="2" charset="-78"/>
              <a:sym typeface="Arial"/>
            </a:endParaRPr>
          </a:p>
        </p:txBody>
      </p:sp>
      <p:grpSp>
        <p:nvGrpSpPr>
          <p:cNvPr id="131" name="Google Shape;131;p1"/>
          <p:cNvGrpSpPr/>
          <p:nvPr/>
        </p:nvGrpSpPr>
        <p:grpSpPr>
          <a:xfrm>
            <a:off x="739651" y="1023884"/>
            <a:ext cx="10621344" cy="5218676"/>
            <a:chOff x="2041467" y="1503565"/>
            <a:chExt cx="9159933" cy="4164079"/>
          </a:xfrm>
        </p:grpSpPr>
        <p:grpSp>
          <p:nvGrpSpPr>
            <p:cNvPr id="132" name="Google Shape;132;p1"/>
            <p:cNvGrpSpPr/>
            <p:nvPr/>
          </p:nvGrpSpPr>
          <p:grpSpPr>
            <a:xfrm>
              <a:off x="2041467" y="1503565"/>
              <a:ext cx="9159933" cy="4164079"/>
              <a:chOff x="1561339" y="1682401"/>
              <a:chExt cx="4831314" cy="1704011"/>
            </a:xfrm>
          </p:grpSpPr>
          <p:sp>
            <p:nvSpPr>
              <p:cNvPr id="133" name="Google Shape;133;p1"/>
              <p:cNvSpPr/>
              <p:nvPr/>
            </p:nvSpPr>
            <p:spPr>
              <a:xfrm>
                <a:off x="4050882" y="1871255"/>
                <a:ext cx="1998130" cy="592738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rgbClr val="5ECDC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>
                  <a:buClrTx/>
                  <a:defRPr/>
                </a:pPr>
                <a:r>
                  <a:rPr lang="ar-SA" dirty="0">
                    <a:solidFill>
                      <a:schemeClr val="tx1"/>
                    </a:solidFill>
                    <a:latin typeface="Neo Sans Arabic Medium" panose="020B0704030504040204" pitchFamily="34" charset="-78"/>
                    <a:cs typeface="Neo Sans Arabic Medium" panose="020B0704030504040204" pitchFamily="34" charset="-78"/>
                  </a:rPr>
                  <a:t>الإدارة العليا</a:t>
                </a:r>
              </a:p>
              <a:p>
                <a:pPr lvl="0" algn="ctr">
                  <a:buClrTx/>
                  <a:defRPr/>
                </a:pPr>
                <a:r>
                  <a:rPr lang="ar-SA" dirty="0">
                    <a:solidFill>
                      <a:schemeClr val="tx1"/>
                    </a:solidFill>
                    <a:latin typeface="Neo Sans Arabic Medium" panose="020B0704030504040204" pitchFamily="34" charset="-78"/>
                    <a:cs typeface="Neo Sans Arabic Medium" panose="020B0704030504040204" pitchFamily="34" charset="-78"/>
                  </a:rPr>
                  <a:t>الشركاء</a:t>
                </a:r>
              </a:p>
              <a:p>
                <a:pPr lvl="0" algn="ctr">
                  <a:buClrTx/>
                  <a:defRPr/>
                </a:pPr>
                <a:r>
                  <a:rPr lang="ar-SA" dirty="0">
                    <a:solidFill>
                      <a:schemeClr val="tx1"/>
                    </a:solidFill>
                    <a:latin typeface="Neo Sans Arabic Medium" panose="020B0704030504040204" pitchFamily="34" charset="-78"/>
                    <a:cs typeface="Neo Sans Arabic Medium" panose="020B0704030504040204" pitchFamily="34" charset="-78"/>
                  </a:rPr>
                  <a:t>الدوائر الحكومية</a:t>
                </a:r>
                <a:endParaRPr lang="en-US" dirty="0">
                  <a:solidFill>
                    <a:schemeClr val="tx1"/>
                  </a:solidFill>
                  <a:latin typeface="Neo Sans Arabic Medium" panose="020B0704030504040204" pitchFamily="34" charset="-78"/>
                  <a:cs typeface="Neo Sans Arabic Medium" panose="020B0704030504040204" pitchFamily="34" charset="-78"/>
                </a:endParaRPr>
              </a:p>
            </p:txBody>
          </p:sp>
          <p:sp>
            <p:nvSpPr>
              <p:cNvPr id="134" name="Google Shape;134;p1"/>
              <p:cNvSpPr/>
              <p:nvPr/>
            </p:nvSpPr>
            <p:spPr>
              <a:xfrm>
                <a:off x="1948965" y="1871255"/>
                <a:ext cx="1998130" cy="592738"/>
              </a:xfrm>
              <a:prstGeom prst="rect">
                <a:avLst/>
              </a:prstGeom>
              <a:solidFill>
                <a:schemeClr val="lt1"/>
              </a:solidFill>
              <a:ln w="28575" cap="flat" cmpd="sng">
                <a:solidFill>
                  <a:srgbClr val="88C65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Font typeface="Arial"/>
                  <a:buNone/>
                </a:pPr>
                <a:endParaRPr sz="1800" i="0" u="none" strike="noStrike" cap="none">
                  <a:solidFill>
                    <a:srgbClr val="FFFFFF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endParaRPr>
              </a:p>
            </p:txBody>
          </p:sp>
          <p:sp>
            <p:nvSpPr>
              <p:cNvPr id="135" name="Google Shape;135;p1"/>
              <p:cNvSpPr/>
              <p:nvPr/>
            </p:nvSpPr>
            <p:spPr>
              <a:xfrm>
                <a:off x="4050882" y="2522235"/>
                <a:ext cx="1998130" cy="592738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rgbClr val="5ECDC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>
                  <a:buSzPts val="1800"/>
                </a:pPr>
                <a:r>
                  <a:rPr lang="ar-SA" dirty="0">
                    <a:solidFill>
                      <a:schemeClr val="tx1"/>
                    </a:solidFill>
                    <a:latin typeface="Neo Sans Arabic Medium" panose="020B0704030504040204" pitchFamily="34" charset="-78"/>
                    <a:cs typeface="Neo Sans Arabic Medium" panose="020B0704030504040204" pitchFamily="34" charset="-78"/>
                  </a:rPr>
                  <a:t>المتطوعين</a:t>
                </a:r>
                <a:endParaRPr sz="1800" i="0" u="none" strike="noStrike" cap="none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endParaRPr>
              </a:p>
            </p:txBody>
          </p:sp>
          <p:sp>
            <p:nvSpPr>
              <p:cNvPr id="136" name="Google Shape;136;p1"/>
              <p:cNvSpPr/>
              <p:nvPr/>
            </p:nvSpPr>
            <p:spPr>
              <a:xfrm>
                <a:off x="1948965" y="2522235"/>
                <a:ext cx="1998130" cy="592738"/>
              </a:xfrm>
              <a:prstGeom prst="rect">
                <a:avLst/>
              </a:prstGeom>
              <a:solidFill>
                <a:schemeClr val="lt1"/>
              </a:solidFill>
              <a:ln w="28575" cap="flat" cmpd="sng">
                <a:solidFill>
                  <a:srgbClr val="88C65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>
                  <a:buSzPts val="1800"/>
                </a:pPr>
                <a:r>
                  <a:rPr lang="ar-SA" dirty="0">
                    <a:solidFill>
                      <a:schemeClr val="tx1"/>
                    </a:solidFill>
                    <a:latin typeface="Neo Sans Arabic Medium" panose="020B0704030504040204" pitchFamily="34" charset="-78"/>
                    <a:cs typeface="Neo Sans Arabic Medium" panose="020B0704030504040204" pitchFamily="34" charset="-78"/>
                  </a:rPr>
                  <a:t>المستفيدين</a:t>
                </a:r>
                <a:endParaRPr sz="1800" i="0" u="none" strike="noStrike" cap="none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endParaRPr>
              </a:p>
            </p:txBody>
          </p:sp>
          <p:sp>
            <p:nvSpPr>
              <p:cNvPr id="137" name="Google Shape;137;p1"/>
              <p:cNvSpPr/>
              <p:nvPr/>
            </p:nvSpPr>
            <p:spPr>
              <a:xfrm rot="-5400000">
                <a:off x="961926" y="2281814"/>
                <a:ext cx="1551908" cy="353082"/>
              </a:xfrm>
              <a:prstGeom prst="rightArrow">
                <a:avLst>
                  <a:gd name="adj1" fmla="val 66821"/>
                  <a:gd name="adj2" fmla="val 68222"/>
                </a:avLst>
              </a:prstGeom>
              <a:solidFill>
                <a:srgbClr val="104C5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lang="ar-SA" sz="2800" i="0" u="none" strike="noStrike" cap="none">
                    <a:solidFill>
                      <a:srgbClr val="FFFFFF"/>
                    </a:solidFill>
                    <a:latin typeface="Sakkal Majalla" panose="02000000000000000000" pitchFamily="2" charset="-78"/>
                    <a:cs typeface="Sakkal Majalla" panose="02000000000000000000" pitchFamily="2" charset="-78"/>
                    <a:sym typeface="Arial"/>
                  </a:rPr>
                  <a:t>التأثير</a:t>
                </a:r>
                <a:endParaRPr sz="3600" i="0" u="none" strike="noStrike" cap="none">
                  <a:solidFill>
                    <a:srgbClr val="FFFFFF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endParaRPr>
              </a:p>
            </p:txBody>
          </p:sp>
          <p:sp>
            <p:nvSpPr>
              <p:cNvPr id="138" name="Google Shape;138;p1"/>
              <p:cNvSpPr/>
              <p:nvPr/>
            </p:nvSpPr>
            <p:spPr>
              <a:xfrm>
                <a:off x="1618964" y="3162775"/>
                <a:ext cx="4773689" cy="223637"/>
              </a:xfrm>
              <a:prstGeom prst="rightArrow">
                <a:avLst>
                  <a:gd name="adj1" fmla="val 66821"/>
                  <a:gd name="adj2" fmla="val 89248"/>
                </a:avLst>
              </a:prstGeom>
              <a:solidFill>
                <a:srgbClr val="104C5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Arial"/>
                  <a:buNone/>
                </a:pPr>
                <a:r>
                  <a:rPr lang="ar-SA" sz="2400" i="0" u="none" strike="noStrike" cap="none">
                    <a:solidFill>
                      <a:srgbClr val="FFFFFF"/>
                    </a:solidFill>
                    <a:latin typeface="Sakkal Majalla" panose="02000000000000000000" pitchFamily="2" charset="-78"/>
                    <a:cs typeface="Sakkal Majalla" panose="02000000000000000000" pitchFamily="2" charset="-78"/>
                    <a:sym typeface="Arial"/>
                  </a:rPr>
                  <a:t>الاهتمام</a:t>
                </a:r>
                <a:r>
                  <a:rPr lang="ar-SA" sz="1050" i="0" u="none" strike="noStrike" cap="none">
                    <a:solidFill>
                      <a:srgbClr val="FFFFFF"/>
                    </a:solidFill>
                    <a:latin typeface="Sakkal Majalla" panose="02000000000000000000" pitchFamily="2" charset="-78"/>
                    <a:cs typeface="Sakkal Majalla" panose="02000000000000000000" pitchFamily="2" charset="-78"/>
                    <a:sym typeface="Arial"/>
                  </a:rPr>
                  <a:t> </a:t>
                </a:r>
                <a:endParaRPr sz="1050" i="0" u="none" strike="noStrike" cap="none" dirty="0">
                  <a:solidFill>
                    <a:srgbClr val="FFFFFF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endParaRPr>
              </a:p>
            </p:txBody>
          </p:sp>
        </p:grpSp>
        <p:sp>
          <p:nvSpPr>
            <p:cNvPr id="139" name="Google Shape;139;p1"/>
            <p:cNvSpPr/>
            <p:nvPr/>
          </p:nvSpPr>
          <p:spPr>
            <a:xfrm>
              <a:off x="10203687" y="3108530"/>
              <a:ext cx="304800" cy="2344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ar-SA" sz="1800" i="0" u="none" strike="noStrike" cap="none">
                  <a:solidFill>
                    <a:srgbClr val="00000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rPr>
                <a:t>1</a:t>
              </a:r>
              <a:endParaRPr sz="180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0203687" y="4689367"/>
              <a:ext cx="304800" cy="2344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ar-SA" sz="1800" i="0" u="none" strike="noStrike" cap="none">
                  <a:solidFill>
                    <a:srgbClr val="00000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rPr>
                <a:t>2</a:t>
              </a:r>
              <a:endParaRPr sz="180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6212583" y="3165336"/>
              <a:ext cx="304800" cy="2344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ar-SA" sz="1800" i="0" u="none" strike="noStrike" cap="none">
                  <a:solidFill>
                    <a:srgbClr val="00000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rPr>
                <a:t>3</a:t>
              </a:r>
              <a:endParaRPr sz="180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6236360" y="4759021"/>
              <a:ext cx="304800" cy="2344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ar-SA" sz="1800" i="0" u="none" strike="noStrike" cap="none">
                  <a:solidFill>
                    <a:srgbClr val="00000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rPr>
                <a:t>4</a:t>
              </a:r>
              <a:endParaRPr sz="180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</p:grpSp>
      <p:sp>
        <p:nvSpPr>
          <p:cNvPr id="5" name="مربع نص 4">
            <a:extLst>
              <a:ext uri="{FF2B5EF4-FFF2-40B4-BE49-F238E27FC236}">
                <a16:creationId xmlns:a16="http://schemas.microsoft.com/office/drawing/2014/main" id="{3F04208C-9E46-5051-2818-F8009E85F2D8}"/>
              </a:ext>
            </a:extLst>
          </p:cNvPr>
          <p:cNvSpPr txBox="1"/>
          <p:nvPr/>
        </p:nvSpPr>
        <p:spPr>
          <a:xfrm>
            <a:off x="1942707" y="2246958"/>
            <a:ext cx="33842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Tx/>
              <a:defRPr/>
            </a:pPr>
            <a:r>
              <a:rPr lang="ar-SA" dirty="0">
                <a:solidFill>
                  <a:schemeClr val="tx1"/>
                </a:solidFill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مدراء الأقسام</a:t>
            </a:r>
          </a:p>
          <a:p>
            <a:pPr lvl="0" algn="ctr">
              <a:buClrTx/>
              <a:defRPr/>
            </a:pPr>
            <a:r>
              <a:rPr lang="ar-SA" dirty="0">
                <a:solidFill>
                  <a:schemeClr val="tx1"/>
                </a:solidFill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الموظفين</a:t>
            </a:r>
            <a:endParaRPr lang="en-US" dirty="0">
              <a:solidFill>
                <a:schemeClr val="tx1"/>
              </a:solidFill>
              <a:latin typeface="Neo Sans Arabic Medium" panose="020B0704030504040204" pitchFamily="34" charset="-78"/>
              <a:cs typeface="Neo Sans Arabic Medium" panose="020B0704030504040204" pitchFamily="34" charset="-78"/>
            </a:endParaRPr>
          </a:p>
        </p:txBody>
      </p:sp>
      <p:pic>
        <p:nvPicPr>
          <p:cNvPr id="2" name="صورة 1">
            <a:extLst>
              <a:ext uri="{FF2B5EF4-FFF2-40B4-BE49-F238E27FC236}">
                <a16:creationId xmlns:a16="http://schemas.microsoft.com/office/drawing/2014/main" id="{869C2C4E-8071-51A7-7C6B-276474D335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/>
          <p:nvPr/>
        </p:nvSpPr>
        <p:spPr>
          <a:xfrm>
            <a:off x="4175974" y="388194"/>
            <a:ext cx="6993052" cy="811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117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نموذج إدارة المقاومة لصاحب المصلحة</a:t>
            </a:r>
            <a:endParaRPr sz="3117" dirty="0">
              <a:solidFill>
                <a:srgbClr val="FFFFFF"/>
              </a:solidFill>
              <a:latin typeface="Sakkal Majalla" panose="02000000000000000000" pitchFamily="2" charset="-78"/>
              <a:cs typeface="Sakkal Majalla" panose="02000000000000000000" pitchFamily="2" charset="-78"/>
              <a:sym typeface="Arial"/>
            </a:endParaRPr>
          </a:p>
        </p:txBody>
      </p:sp>
      <p:graphicFrame>
        <p:nvGraphicFramePr>
          <p:cNvPr id="150" name="Google Shape;150;p3"/>
          <p:cNvGraphicFramePr/>
          <p:nvPr>
            <p:extLst>
              <p:ext uri="{D42A27DB-BD31-4B8C-83A1-F6EECF244321}">
                <p14:modId xmlns:p14="http://schemas.microsoft.com/office/powerpoint/2010/main" val="978660671"/>
              </p:ext>
            </p:extLst>
          </p:nvPr>
        </p:nvGraphicFramePr>
        <p:xfrm>
          <a:off x="378500" y="1387327"/>
          <a:ext cx="11199100" cy="4694334"/>
        </p:xfrm>
        <a:graphic>
          <a:graphicData uri="http://schemas.openxmlformats.org/drawingml/2006/table">
            <a:tbl>
              <a:tblPr>
                <a:noFill/>
                <a:tableStyleId>{E2C410D8-3CFC-42BA-998A-B48A6FB24EE8}</a:tableStyleId>
              </a:tblPr>
              <a:tblGrid>
                <a:gridCol w="136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4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7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4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2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0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90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46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54421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 u="none" strike="noStrike" cap="none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نمط المقاومة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 u="none" strike="noStrike" cap="none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أسباب المقاومة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 u="none" strike="noStrike" cap="none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درجة المقاومة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 u="none" strike="noStrike" cap="none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استراتيجيات التغلب على المقاومة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 u="none" strike="noStrike" cap="none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التحول من مقاوم لداعم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941">
                <a:tc rowSpan="3">
                  <a:txBody>
                    <a:bodyPr/>
                    <a:lstStyle/>
                    <a:p>
                      <a:pPr algn="ctr"/>
                      <a:r>
                        <a:rPr lang="ar-SA" sz="1400" dirty="0">
                          <a:solidFill>
                            <a:schemeClr val="tx1"/>
                          </a:solidFill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ضمني</a:t>
                      </a:r>
                      <a:endParaRPr lang="en-US" sz="1400" dirty="0">
                        <a:solidFill>
                          <a:schemeClr val="tx1"/>
                        </a:solidFill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ar-SA" sz="1000" dirty="0"/>
                        <a:t>عدم فهم الهدف</a:t>
                      </a:r>
                      <a:endParaRPr lang="en-US" sz="1000" dirty="0">
                        <a:solidFill>
                          <a:schemeClr val="bg1"/>
                        </a:solidFill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b="1" i="0" u="none" strike="noStrike" cap="none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M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ar-SA" sz="1400" dirty="0"/>
                        <a:t>توضيح أهداف وفوائد العمل التطوعي</a:t>
                      </a:r>
                      <a:endParaRPr lang="en-US" sz="1400" dirty="0">
                        <a:solidFill>
                          <a:schemeClr val="bg1"/>
                        </a:solidFill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u="none" strike="noStrike" cap="none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منخفض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u="none" strike="noStrike" cap="none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متوسط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u="none" strike="noStrike" cap="none" dirty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عالي</a:t>
                      </a:r>
                      <a:endParaRPr sz="1000" u="none" strike="noStrike" cap="none" dirty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941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marR="0" lvl="0" indent="-10795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ar-SA" sz="1000" dirty="0"/>
                        <a:t>عدم إدراك الفائدة</a:t>
                      </a:r>
                      <a:endParaRPr lang="en-US" sz="1000" dirty="0">
                        <a:solidFill>
                          <a:schemeClr val="bg1"/>
                        </a:solidFill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b="1" i="0" u="none" strike="noStrike" cap="none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M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941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marR="0" lvl="0" indent="-107950" algn="l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 dirty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941">
                <a:tc row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فكري/عاطفي</a:t>
                      </a:r>
                      <a:endParaRPr lang="en-US" sz="1000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marR="0" lvl="0" indent="-10795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ar-SA" sz="1000" dirty="0"/>
                        <a:t>عدم توافق مع الاهتمامات</a:t>
                      </a:r>
                      <a:endParaRPr lang="en-US" sz="1000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b="1" i="0" u="none" strike="noStrike" cap="none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M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ar-SA" sz="1000" dirty="0"/>
                        <a:t>ربط الفرصة باهتمامات صاحب المصلحة</a:t>
                      </a:r>
                      <a:endParaRPr lang="en-US" sz="1000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منخفض</a:t>
                      </a:r>
                      <a:endParaRPr sz="10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متوسط</a:t>
                      </a:r>
                      <a:endParaRPr sz="10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عالي</a:t>
                      </a:r>
                      <a:endParaRPr sz="10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941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marR="0" lvl="0" indent="-10795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ar-SA" sz="1000" dirty="0"/>
                        <a:t>الشعور بعدم الملاءمة</a:t>
                      </a:r>
                      <a:endParaRPr lang="en-US" sz="1000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b="1" i="0" u="none" strike="noStrike" cap="none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M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941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marR="0" lvl="0" indent="-107950" algn="l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941">
                <a:tc row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فكري/عاطفي</a:t>
                      </a:r>
                      <a:endParaRPr lang="en-US" sz="1000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marR="0" lvl="0" indent="-10795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ar-SA" sz="1000" dirty="0"/>
                        <a:t>الخوف من الفشل</a:t>
                      </a:r>
                      <a:endParaRPr lang="en-US" sz="1000" dirty="0">
                        <a:solidFill>
                          <a:schemeClr val="bg1"/>
                        </a:solidFill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b="1" i="0" u="none" strike="noStrike" cap="none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M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ar-SA" sz="1000" dirty="0"/>
                        <a:t>تقديم نماذج نجاح وتجارب إيجابية</a:t>
                      </a:r>
                      <a:endParaRPr lang="en-US" sz="1000" dirty="0">
                        <a:solidFill>
                          <a:schemeClr val="bg1"/>
                        </a:solidFill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u="none" strike="noStrike" cap="none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منخفض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u="none" strike="noStrike" cap="none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متوسط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u="none" strike="noStrike" cap="none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عالي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941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marR="0" lvl="0" indent="-10795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ar-SA" sz="1000" dirty="0"/>
                        <a:t>الشك في الجدوى</a:t>
                      </a:r>
                      <a:endParaRPr lang="en-US" sz="1000" dirty="0">
                        <a:solidFill>
                          <a:schemeClr val="bg1"/>
                        </a:solidFill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b="1" i="0" u="none" strike="noStrike" cap="none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M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6941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marR="0" lvl="0" indent="-107950" algn="l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527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6941">
                <a:tc row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000" dirty="0">
                          <a:solidFill>
                            <a:schemeClr val="tx1"/>
                          </a:solidFill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ضمني</a:t>
                      </a:r>
                      <a:endParaRPr lang="en-US" sz="1000" dirty="0">
                        <a:solidFill>
                          <a:schemeClr val="tx1"/>
                        </a:solidFill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marR="0" lvl="0" indent="-10795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ar-SA" sz="1000" dirty="0"/>
                        <a:t>الخوف من الالتزام</a:t>
                      </a:r>
                      <a:endParaRPr lang="en-US" sz="1000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b="1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H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ar-SA" sz="1000" dirty="0"/>
                        <a:t>توفير مرونة في الوقت والمهام</a:t>
                      </a:r>
                      <a:endParaRPr lang="en-US" sz="1000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منخفض</a:t>
                      </a:r>
                      <a:endParaRPr sz="10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متوسط</a:t>
                      </a:r>
                      <a:endParaRPr sz="10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عالي</a:t>
                      </a:r>
                      <a:endParaRPr sz="10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941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marR="0" lvl="0" indent="-10795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ar-SA" sz="1000" dirty="0"/>
                        <a:t>ضغط الوقت</a:t>
                      </a:r>
                      <a:endParaRPr lang="en-US" sz="1000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ar-SA" sz="1000" b="1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H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6941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marR="0" lvl="0" indent="-107950" algn="l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6941">
                <a:tc gridSpan="14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u="none" strike="noStrike" cap="none" dirty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إجراءات تقليل التكرار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08583">
                <a:tc gridSpan="2">
                  <a:txBody>
                    <a:bodyPr/>
                    <a:lstStyle/>
                    <a:p>
                      <a:pPr algn="ctr"/>
                      <a:r>
                        <a:rPr lang="ar-SA" sz="1000" dirty="0"/>
                        <a:t>تعزيز التقدير والتحفيز</a:t>
                      </a:r>
                    </a:p>
                    <a:p>
                      <a:pPr algn="ctr"/>
                      <a:r>
                        <a:rPr lang="ar-SA" sz="1000" dirty="0"/>
                        <a:t>متابعة دورية وقياس الرضا</a:t>
                      </a:r>
                      <a:endParaRPr lang="en-US" sz="1000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ar-SA" sz="1000" dirty="0"/>
                        <a:t>الاستماع الفعّال للمخاوف</a:t>
                      </a:r>
                    </a:p>
                    <a:p>
                      <a:pPr algn="ctr"/>
                      <a:r>
                        <a:rPr lang="ar-SA" sz="1000" dirty="0"/>
                        <a:t>تقديم تدريب وتأهيل مستمر</a:t>
                      </a:r>
                      <a:endParaRPr lang="en-US" sz="1000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ar-SA" sz="1000" dirty="0"/>
                        <a:t>التواصل المستمر والشفاف </a:t>
                      </a:r>
                    </a:p>
                    <a:p>
                      <a:pPr algn="ctr"/>
                      <a:r>
                        <a:rPr lang="ar-SA" sz="1000" dirty="0"/>
                        <a:t>التوضيح المبكر للتوقعات</a:t>
                      </a:r>
                      <a:endParaRPr lang="en-US" sz="1000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35D20C9C-9D4F-1BE5-A08E-8412A879AE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4"/>
          <p:cNvGrpSpPr/>
          <p:nvPr/>
        </p:nvGrpSpPr>
        <p:grpSpPr>
          <a:xfrm>
            <a:off x="2208653" y="312470"/>
            <a:ext cx="9478103" cy="6286820"/>
            <a:chOff x="2208653" y="312470"/>
            <a:chExt cx="9478103" cy="6286820"/>
          </a:xfrm>
        </p:grpSpPr>
        <p:sp>
          <p:nvSpPr>
            <p:cNvPr id="159" name="Google Shape;159;p4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" name="Google Shape;161;p4"/>
          <p:cNvSpPr/>
          <p:nvPr/>
        </p:nvSpPr>
        <p:spPr>
          <a:xfrm>
            <a:off x="2862501" y="-956810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27">
              <a:solidFill>
                <a:srgbClr val="4454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2" name="Google Shape;162;p4"/>
          <p:cNvGraphicFramePr/>
          <p:nvPr>
            <p:extLst>
              <p:ext uri="{D42A27DB-BD31-4B8C-83A1-F6EECF244321}">
                <p14:modId xmlns:p14="http://schemas.microsoft.com/office/powerpoint/2010/main" val="63101700"/>
              </p:ext>
            </p:extLst>
          </p:nvPr>
        </p:nvGraphicFramePr>
        <p:xfrm>
          <a:off x="666245" y="1261742"/>
          <a:ext cx="10502700" cy="4904075"/>
        </p:xfrm>
        <a:graphic>
          <a:graphicData uri="http://schemas.openxmlformats.org/drawingml/2006/table">
            <a:tbl>
              <a:tblPr>
                <a:noFill/>
                <a:tableStyleId>{E2C410D8-3CFC-42BA-998A-B48A6FB24EE8}</a:tableStyleId>
              </a:tblPr>
              <a:tblGrid>
                <a:gridCol w="156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5825">
                <a:tc gridSpan="2"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                         من صاحب المصلحة: المتطوع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9BEFEC"/>
                        </a:gs>
                        <a:gs pos="50000">
                          <a:srgbClr val="C1F3F3"/>
                        </a:gs>
                        <a:gs pos="100000">
                          <a:srgbClr val="E0F8F8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من وحدة العمل التطوعي 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B7EA98"/>
                        </a:gs>
                        <a:gs pos="50000">
                          <a:srgbClr val="D1F0C1"/>
                        </a:gs>
                        <a:gs pos="100000">
                          <a:srgbClr val="E8F7E0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900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 u="none" strike="noStrike" cap="none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التوقع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9BEFEC"/>
                        </a:gs>
                        <a:gs pos="50000">
                          <a:srgbClr val="C1F3F3"/>
                        </a:gs>
                        <a:gs pos="100000">
                          <a:srgbClr val="E0F8F8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 u="none" strike="noStrike" cap="none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الوصف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9BEFEC"/>
                        </a:gs>
                        <a:gs pos="50000">
                          <a:srgbClr val="C1F3F3"/>
                        </a:gs>
                        <a:gs pos="100000">
                          <a:srgbClr val="E0F8F8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 u="none" strike="noStrike" cap="none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التوقع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B7EA98"/>
                        </a:gs>
                        <a:gs pos="50000">
                          <a:srgbClr val="D1F0C1"/>
                        </a:gs>
                        <a:gs pos="100000">
                          <a:srgbClr val="E8F7E0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الوصف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B7EA98"/>
                        </a:gs>
                        <a:gs pos="50000">
                          <a:srgbClr val="D1F0C1"/>
                        </a:gs>
                        <a:gs pos="100000">
                          <a:srgbClr val="E8F7E0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825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المصداقية العلمية، الالتزام بالمنهج الدعوي للجمعية، الإبداع الرقمي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.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توفير مصادر التعلم، إبراز اسم المتطوع (حسب السياسة)، الاحتساب المعنوي والتوثيق الرسمي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.</a:t>
                      </a:r>
                    </a:p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825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5825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1875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4100" marR="4100" marT="410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6EFFB3B8-CC27-6385-F3AA-00D05FACEB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5"/>
          <p:cNvGrpSpPr/>
          <p:nvPr/>
        </p:nvGrpSpPr>
        <p:grpSpPr>
          <a:xfrm>
            <a:off x="2208653" y="312470"/>
            <a:ext cx="9478103" cy="6286820"/>
            <a:chOff x="2208653" y="312470"/>
            <a:chExt cx="9478103" cy="6286820"/>
          </a:xfrm>
        </p:grpSpPr>
        <p:sp>
          <p:nvSpPr>
            <p:cNvPr id="172" name="Google Shape;172;p5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5"/>
          <p:cNvSpPr/>
          <p:nvPr/>
        </p:nvSpPr>
        <p:spPr>
          <a:xfrm>
            <a:off x="2862501" y="-956810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27">
              <a:solidFill>
                <a:srgbClr val="4454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5" name="Google Shape;175;p5"/>
          <p:cNvGraphicFramePr/>
          <p:nvPr>
            <p:extLst>
              <p:ext uri="{D42A27DB-BD31-4B8C-83A1-F6EECF244321}">
                <p14:modId xmlns:p14="http://schemas.microsoft.com/office/powerpoint/2010/main" val="324634168"/>
              </p:ext>
            </p:extLst>
          </p:nvPr>
        </p:nvGraphicFramePr>
        <p:xfrm>
          <a:off x="618490" y="1259970"/>
          <a:ext cx="10583750" cy="5012525"/>
        </p:xfrm>
        <a:graphic>
          <a:graphicData uri="http://schemas.openxmlformats.org/drawingml/2006/table">
            <a:tbl>
              <a:tblPr>
                <a:noFill/>
                <a:tableStyleId>{E2C410D8-3CFC-42BA-998A-B48A6FB24EE8}</a:tableStyleId>
              </a:tblPr>
              <a:tblGrid>
                <a:gridCol w="89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2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92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1900">
                <a:tc gridSpan="8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 u="none" strike="noStrike" cap="none" dirty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أصحاب المصلحة الرئيسيين</a:t>
                      </a:r>
                      <a:endParaRPr sz="1800" b="0" u="none" strike="noStrike" cap="none" dirty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2000" b="0" u="none" strike="noStrike" cap="none" dirty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الأدوار الرئيسية</a:t>
                      </a:r>
                      <a:endParaRPr sz="2000" b="0" u="none" strike="noStrike" cap="none" dirty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375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875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875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875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875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4875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4875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2E884772-CBA4-9455-9E9F-AA44D9C5D5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6"/>
          <p:cNvGrpSpPr/>
          <p:nvPr/>
        </p:nvGrpSpPr>
        <p:grpSpPr>
          <a:xfrm>
            <a:off x="2208653" y="312470"/>
            <a:ext cx="9478103" cy="6286820"/>
            <a:chOff x="2208653" y="312470"/>
            <a:chExt cx="9478103" cy="6286820"/>
          </a:xfrm>
        </p:grpSpPr>
        <p:sp>
          <p:nvSpPr>
            <p:cNvPr id="185" name="Google Shape;185;p6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6"/>
          <p:cNvSpPr/>
          <p:nvPr/>
        </p:nvSpPr>
        <p:spPr>
          <a:xfrm>
            <a:off x="2862501" y="-956810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27">
              <a:solidFill>
                <a:srgbClr val="4454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8" name="Google Shape;188;p6"/>
          <p:cNvGraphicFramePr/>
          <p:nvPr>
            <p:extLst>
              <p:ext uri="{D42A27DB-BD31-4B8C-83A1-F6EECF244321}">
                <p14:modId xmlns:p14="http://schemas.microsoft.com/office/powerpoint/2010/main" val="2720516251"/>
              </p:ext>
            </p:extLst>
          </p:nvPr>
        </p:nvGraphicFramePr>
        <p:xfrm>
          <a:off x="569489" y="1139145"/>
          <a:ext cx="10717000" cy="5154977"/>
        </p:xfrm>
        <a:graphic>
          <a:graphicData uri="http://schemas.openxmlformats.org/drawingml/2006/table">
            <a:tbl>
              <a:tblPr>
                <a:noFill/>
                <a:tableStyleId>{E2C410D8-3CFC-42BA-998A-B48A6FB24EE8}</a:tableStyleId>
              </a:tblPr>
              <a:tblGrid>
                <a:gridCol w="39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1745">
                <a:tc rowSpan="2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00" b="0" i="0" u="none" strike="noStrike" cap="none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FBF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i="0" u="none" strike="noStrike" cap="none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صاحب المصلحة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FBF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i="0" u="none" strike="noStrike" cap="none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توقعات صاحب المصلحة من وحدة العمل التطوعي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FBFC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00" b="0" i="0" u="none" strike="noStrike" cap="none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ارتباط التوقعات بالأدوار الرئيسية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FB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i="0" u="none" strike="noStrike" cap="none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توقعات وحدة التطوع من صاحب المصلحة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FBF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i="0" u="none" strike="noStrike" cap="none" dirty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إجراءات وحدة التطوع لتلبية توقعات أصحاب المصلحة 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FB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513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التخطيط والتعزيز </a:t>
                      </a: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تصميم الفرص والاستقطاب</a:t>
                      </a: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الفرز والتسكين</a:t>
                      </a: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التوجيه والتدريب</a:t>
                      </a: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الدعم والإشراف</a:t>
                      </a: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التكريم والتقدير</a:t>
                      </a: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657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700" b="0" i="0" u="none" strike="noStrike" cap="none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 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dirty="0"/>
                        <a:t>المجتمع</a:t>
                      </a:r>
                      <a:endParaRPr sz="17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 </a:t>
                      </a:r>
                      <a:r>
                        <a:rPr lang="ar-SA" sz="1800" dirty="0"/>
                        <a:t>تقديم خدمات تطوعية ذات أثر ملموس وتحسين جودة الحياة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r>
                        <a:rPr lang="ar-SA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 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0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0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0</a:t>
                      </a:r>
                      <a:endParaRPr sz="17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ar-SA" sz="1800" dirty="0"/>
                        <a:t>التفاعل مع المبادرات والمشاركة فيها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ar-SA" sz="1800" dirty="0"/>
                        <a:t>تنفيذ مبادرات موجهة لاحتياجات المجتمع + قياس الأثر + حملات توعوية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657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b="0" i="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800" dirty="0"/>
                        <a:t>المتطوعون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800" dirty="0"/>
                        <a:t>توفير فرص واضحة، تجربة مفيدة، تطوير مهارات، تقدير الجهود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0</a:t>
                      </a:r>
                      <a:endParaRPr sz="17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17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17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17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17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17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800" dirty="0"/>
                        <a:t>الالتزام بالحضور، أداء المهام، احترام الأنظمة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800" dirty="0"/>
                        <a:t>تصميم فرص مناسبة + تدريب مستمر + إشراف فعال + برامج تحفيز وتكريم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657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b="0" i="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800" dirty="0"/>
                        <a:t>الجهات الحكومية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800" dirty="0"/>
                        <a:t>الالتزام بالأنظمة وتحقيق أهداف تنموية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17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0</a:t>
                      </a:r>
                      <a:endParaRPr sz="17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0</a:t>
                      </a:r>
                      <a:endParaRPr sz="17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0</a:t>
                      </a:r>
                      <a:endParaRPr sz="17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17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0</a:t>
                      </a:r>
                      <a:endParaRPr sz="1700" b="0" i="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800" dirty="0"/>
                        <a:t>تقديم التسهيلات والدعم التنظيمي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800" dirty="0"/>
                        <a:t>الالتزام باللوائح + رفع التقارير + التنسيق المستمر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6150" marR="6150" marT="61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82D10249-E945-769C-2673-88A11B164A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7"/>
          <p:cNvGrpSpPr/>
          <p:nvPr/>
        </p:nvGrpSpPr>
        <p:grpSpPr>
          <a:xfrm>
            <a:off x="626718" y="1713372"/>
            <a:ext cx="5153899" cy="3418553"/>
            <a:chOff x="2208653" y="312470"/>
            <a:chExt cx="9478103" cy="6286820"/>
          </a:xfrm>
        </p:grpSpPr>
        <p:sp>
          <p:nvSpPr>
            <p:cNvPr id="199" name="Google Shape;199;p7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" name="Google Shape;201;p7"/>
          <p:cNvSpPr/>
          <p:nvPr/>
        </p:nvSpPr>
        <p:spPr>
          <a:xfrm>
            <a:off x="2862501" y="-956810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"/>
              <a:buFont typeface="Arial"/>
              <a:buNone/>
            </a:pPr>
            <a:endParaRPr sz="2727" b="1" i="0" u="none" strike="noStrike" cap="none">
              <a:solidFill>
                <a:srgbClr val="4454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2" name="Google Shape;202;p7"/>
          <p:cNvGraphicFramePr/>
          <p:nvPr>
            <p:extLst>
              <p:ext uri="{D42A27DB-BD31-4B8C-83A1-F6EECF244321}">
                <p14:modId xmlns:p14="http://schemas.microsoft.com/office/powerpoint/2010/main" val="1706448266"/>
              </p:ext>
            </p:extLst>
          </p:nvPr>
        </p:nvGraphicFramePr>
        <p:xfrm>
          <a:off x="501527" y="1162363"/>
          <a:ext cx="10663050" cy="5207956"/>
        </p:xfrm>
        <a:graphic>
          <a:graphicData uri="http://schemas.openxmlformats.org/drawingml/2006/table">
            <a:tbl>
              <a:tblPr>
                <a:noFill/>
                <a:tableStyleId>{E2C410D8-3CFC-42BA-998A-B48A6FB24EE8}</a:tableStyleId>
              </a:tblPr>
              <a:tblGrid>
                <a:gridCol w="529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279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u="none" strike="noStrike" cap="none" dirty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عمر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اسم المتطوع/ة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279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u="none" strike="noStrike" cap="none" dirty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30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العمر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279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u="none" strike="noStrike" cap="none" dirty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ذكر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الجنس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279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u="none" strike="noStrike" cap="none" dirty="0" err="1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السغودية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أين يعيش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3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u="none" strike="noStrike" cap="none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ماذا كان يفعل عندما كنت تراقبه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u="none" strike="noStrike" cap="none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 أو عندما ذهبت لمقابلته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CDC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u="none" strike="noStrike" cap="none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ما لتحدي الذي لديه؟ وماذا يفعل ليتكيف؟ 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CD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844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الوصول لملايين المسلمين حول العالم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49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u="none" strike="noStrike" cap="none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مشاعره (آماله – آلامه – مخاوفه)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CDC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u="none" strike="noStrike" cap="none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عبارة هامة قالها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CD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7844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نشر العلم النافع 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49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u="none" strike="noStrike" cap="none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أشياء كن يقوم بها للتكيف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CDC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u="none" strike="noStrike" cap="none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أشياء كان يفكر بها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CD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6784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u="none" strike="noStrike" cap="none" dirty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العمل الجاد 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u="none" strike="noStrike" cap="none" dirty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الأثر المستدام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5" name="صورة 4">
            <a:extLst>
              <a:ext uri="{FF2B5EF4-FFF2-40B4-BE49-F238E27FC236}">
                <a16:creationId xmlns:a16="http://schemas.microsoft.com/office/drawing/2014/main" id="{633F00B0-57DA-A528-6437-2978A724A5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8"/>
          <p:cNvGrpSpPr/>
          <p:nvPr/>
        </p:nvGrpSpPr>
        <p:grpSpPr>
          <a:xfrm>
            <a:off x="2208653" y="312470"/>
            <a:ext cx="9478103" cy="6286820"/>
            <a:chOff x="2208653" y="312470"/>
            <a:chExt cx="9478103" cy="6286820"/>
          </a:xfrm>
        </p:grpSpPr>
        <p:sp>
          <p:nvSpPr>
            <p:cNvPr id="213" name="Google Shape;213;p8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</p:grpSp>
      <p:sp>
        <p:nvSpPr>
          <p:cNvPr id="215" name="Google Shape;215;p8"/>
          <p:cNvSpPr/>
          <p:nvPr/>
        </p:nvSpPr>
        <p:spPr>
          <a:xfrm>
            <a:off x="2862501" y="-956810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"/>
              <a:buFont typeface="Arial"/>
              <a:buNone/>
            </a:pPr>
            <a:endParaRPr sz="2727" i="0" u="none" strike="noStrike" cap="none">
              <a:solidFill>
                <a:srgbClr val="445469"/>
              </a:solidFill>
              <a:latin typeface="Sakkal Majalla" panose="02000000000000000000" pitchFamily="2" charset="-78"/>
              <a:cs typeface="Sakkal Majalla" panose="02000000000000000000" pitchFamily="2" charset="-78"/>
              <a:sym typeface="Arial"/>
            </a:endParaRPr>
          </a:p>
        </p:txBody>
      </p:sp>
      <p:grpSp>
        <p:nvGrpSpPr>
          <p:cNvPr id="216" name="Google Shape;216;p8"/>
          <p:cNvGrpSpPr/>
          <p:nvPr/>
        </p:nvGrpSpPr>
        <p:grpSpPr>
          <a:xfrm>
            <a:off x="816610" y="1319531"/>
            <a:ext cx="9773601" cy="1828799"/>
            <a:chOff x="3902467" y="711485"/>
            <a:chExt cx="5200436" cy="2717515"/>
          </a:xfrm>
        </p:grpSpPr>
        <p:sp>
          <p:nvSpPr>
            <p:cNvPr id="217" name="Google Shape;217;p8"/>
            <p:cNvSpPr/>
            <p:nvPr/>
          </p:nvSpPr>
          <p:spPr>
            <a:xfrm>
              <a:off x="3902467" y="711485"/>
              <a:ext cx="5200436" cy="1032552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104C5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3200">
                  <a:solidFill>
                    <a:srgbClr val="FFFFFF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rPr>
                <a:t>تحديد القضايا والتحديات</a:t>
              </a:r>
              <a:endParaRPr sz="320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7849456" y="2180690"/>
              <a:ext cx="1253447" cy="1248310"/>
            </a:xfrm>
            <a:prstGeom prst="flowChartTerminator">
              <a:avLst/>
            </a:prstGeom>
            <a:solidFill>
              <a:srgbClr val="96CC4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2800">
                  <a:solidFill>
                    <a:srgbClr val="FFFFFF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rPr>
                <a:t>المجالات</a:t>
              </a:r>
              <a:endParaRPr sz="280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5876817" y="2180690"/>
              <a:ext cx="1253447" cy="1248310"/>
            </a:xfrm>
            <a:prstGeom prst="flowChartTerminator">
              <a:avLst/>
            </a:prstGeom>
            <a:solidFill>
              <a:srgbClr val="2FB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2800">
                  <a:solidFill>
                    <a:srgbClr val="FFFFFF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rPr>
                <a:t>الأمكنة</a:t>
              </a:r>
              <a:endParaRPr sz="280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3902467" y="2180690"/>
              <a:ext cx="1253447" cy="1248310"/>
            </a:xfrm>
            <a:prstGeom prst="flowChartTerminator">
              <a:avLst/>
            </a:prstGeom>
            <a:solidFill>
              <a:srgbClr val="96CC4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2400">
                  <a:solidFill>
                    <a:srgbClr val="FFFFFF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rPr>
                <a:t>الفئة المستهدفة</a:t>
              </a:r>
              <a:endParaRPr sz="240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cxnSp>
          <p:nvCxnSpPr>
            <p:cNvPr id="221" name="Google Shape;221;p8"/>
            <p:cNvCxnSpPr>
              <a:endCxn id="219" idx="0"/>
            </p:cNvCxnSpPr>
            <p:nvPr/>
          </p:nvCxnSpPr>
          <p:spPr>
            <a:xfrm>
              <a:off x="6502641" y="1743890"/>
              <a:ext cx="900" cy="436800"/>
            </a:xfrm>
            <a:prstGeom prst="straightConnector1">
              <a:avLst/>
            </a:prstGeom>
            <a:noFill/>
            <a:ln w="9525" cap="flat" cmpd="sng">
              <a:solidFill>
                <a:srgbClr val="365171"/>
              </a:solidFill>
              <a:prstDash val="lgDashDot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22" name="Google Shape;222;p8"/>
            <p:cNvCxnSpPr/>
            <p:nvPr/>
          </p:nvCxnSpPr>
          <p:spPr>
            <a:xfrm>
              <a:off x="6502685" y="1744037"/>
              <a:ext cx="1973495" cy="436653"/>
            </a:xfrm>
            <a:prstGeom prst="straightConnector1">
              <a:avLst/>
            </a:prstGeom>
            <a:noFill/>
            <a:ln w="12700" cap="flat" cmpd="sng">
              <a:solidFill>
                <a:srgbClr val="365171"/>
              </a:solidFill>
              <a:prstDash val="lgDashDot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23" name="Google Shape;223;p8"/>
            <p:cNvCxnSpPr>
              <a:endCxn id="220" idx="0"/>
            </p:cNvCxnSpPr>
            <p:nvPr/>
          </p:nvCxnSpPr>
          <p:spPr>
            <a:xfrm flipH="1">
              <a:off x="4529191" y="1743890"/>
              <a:ext cx="1973400" cy="436800"/>
            </a:xfrm>
            <a:prstGeom prst="straightConnector1">
              <a:avLst/>
            </a:prstGeom>
            <a:noFill/>
            <a:ln w="9525" cap="flat" cmpd="sng">
              <a:solidFill>
                <a:srgbClr val="365171"/>
              </a:solidFill>
              <a:prstDash val="lgDashDot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3" name="مربع نص 2">
            <a:extLst>
              <a:ext uri="{FF2B5EF4-FFF2-40B4-BE49-F238E27FC236}">
                <a16:creationId xmlns:a16="http://schemas.microsoft.com/office/drawing/2014/main" id="{B1D68E71-F927-1978-2A52-E5F6872C4DBA}"/>
              </a:ext>
            </a:extLst>
          </p:cNvPr>
          <p:cNvSpPr txBox="1"/>
          <p:nvPr/>
        </p:nvSpPr>
        <p:spPr>
          <a:xfrm>
            <a:off x="2041068" y="4006586"/>
            <a:ext cx="5935980" cy="2044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ar-SA" sz="1400" b="1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الافراد</a:t>
            </a:r>
            <a:r>
              <a:rPr lang="ar-SA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: متطوعون غير ملمين بلغات الشعوب المستهدفة</a:t>
            </a:r>
            <a:r>
              <a:rPr lang="en-US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.</a:t>
            </a:r>
            <a:endParaRPr lang="en-US" sz="1200" dirty="0">
              <a:effectLst/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lvl="0" algn="r" rtl="1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ar-SA" sz="1400" b="1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الأساليب</a:t>
            </a:r>
            <a:r>
              <a:rPr lang="en-US" sz="1400" b="1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:</a:t>
            </a:r>
            <a:r>
              <a:rPr lang="en-US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</a:t>
            </a:r>
            <a:r>
              <a:rPr lang="ar-SA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الاعتماد على الترجمة الحرفية بدل "التعريب الدعوي" الثقافي</a:t>
            </a:r>
            <a:r>
              <a:rPr lang="en-US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.</a:t>
            </a:r>
            <a:endParaRPr lang="en-US" sz="1200" dirty="0">
              <a:effectLst/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lvl="0" algn="r" rtl="1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ar-SA" sz="1400" b="1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الأدوات</a:t>
            </a:r>
            <a:r>
              <a:rPr lang="en-US" sz="1400" b="1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:</a:t>
            </a:r>
            <a:r>
              <a:rPr lang="en-US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</a:t>
            </a:r>
            <a:r>
              <a:rPr lang="ar-SA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نقص المنصات التقنية التي تجمع المتطوعين المترجمين تحت سقف واحد</a:t>
            </a:r>
            <a:r>
              <a:rPr lang="en-US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.</a:t>
            </a:r>
            <a:endParaRPr lang="en-US" sz="1200" dirty="0">
              <a:effectLst/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lvl="0" algn="r" rtl="1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ar-SA" sz="1400" b="1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البيئة</a:t>
            </a:r>
            <a:r>
              <a:rPr lang="en-US" sz="1400" b="1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:</a:t>
            </a:r>
            <a:r>
              <a:rPr lang="en-US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</a:t>
            </a:r>
            <a:r>
              <a:rPr lang="ar-SA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اختلاف المناطق الزمنية للمتطوعين حول العالم مما يصعب التنسيق</a:t>
            </a:r>
            <a:r>
              <a:rPr lang="en-US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.</a:t>
            </a:r>
            <a:endParaRPr lang="en-US" sz="1200" dirty="0">
              <a:effectLst/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algn="ctr" rtl="1">
              <a:lnSpc>
                <a:spcPct val="115000"/>
              </a:lnSpc>
              <a:spcAft>
                <a:spcPts val="1000"/>
              </a:spcAft>
              <a:buNone/>
            </a:pPr>
            <a:br>
              <a:rPr lang="en-US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</a:br>
            <a:endParaRPr lang="en-US" sz="1200" dirty="0">
              <a:effectLst/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67C7C169-A1F6-D3C3-D179-58D4F49FC2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9"/>
          <p:cNvGrpSpPr/>
          <p:nvPr/>
        </p:nvGrpSpPr>
        <p:grpSpPr>
          <a:xfrm>
            <a:off x="2227195" y="205790"/>
            <a:ext cx="9478103" cy="6286820"/>
            <a:chOff x="2208653" y="312470"/>
            <a:chExt cx="9478103" cy="6286820"/>
          </a:xfrm>
        </p:grpSpPr>
        <p:sp>
          <p:nvSpPr>
            <p:cNvPr id="234" name="Google Shape;234;p9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235" name="Google Shape;235;p9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</p:grpSp>
      <p:sp>
        <p:nvSpPr>
          <p:cNvPr id="236" name="Google Shape;236;p9"/>
          <p:cNvSpPr/>
          <p:nvPr/>
        </p:nvSpPr>
        <p:spPr>
          <a:xfrm>
            <a:off x="2881043" y="-1063490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"/>
              <a:buFont typeface="Arial"/>
              <a:buNone/>
            </a:pPr>
            <a:endParaRPr sz="2727" b="1" i="0" u="none" strike="noStrike" cap="none">
              <a:solidFill>
                <a:srgbClr val="445469"/>
              </a:solidFill>
              <a:latin typeface="Sakkal Majalla" panose="02000000000000000000" pitchFamily="2" charset="-78"/>
              <a:cs typeface="Sakkal Majalla" panose="02000000000000000000" pitchFamily="2" charset="-78"/>
              <a:sym typeface="Arial"/>
            </a:endParaRPr>
          </a:p>
        </p:txBody>
      </p:sp>
      <p:graphicFrame>
        <p:nvGraphicFramePr>
          <p:cNvPr id="237" name="Google Shape;237;p9"/>
          <p:cNvGraphicFramePr/>
          <p:nvPr>
            <p:extLst>
              <p:ext uri="{D42A27DB-BD31-4B8C-83A1-F6EECF244321}">
                <p14:modId xmlns:p14="http://schemas.microsoft.com/office/powerpoint/2010/main" val="2395028666"/>
              </p:ext>
            </p:extLst>
          </p:nvPr>
        </p:nvGraphicFramePr>
        <p:xfrm>
          <a:off x="805121" y="1021005"/>
          <a:ext cx="10026925" cy="5212726"/>
        </p:xfrm>
        <a:graphic>
          <a:graphicData uri="http://schemas.openxmlformats.org/drawingml/2006/table">
            <a:tbl>
              <a:tblPr>
                <a:noFill/>
                <a:tableStyleId>{E2C410D8-3CFC-42BA-998A-B48A6FB24EE8}</a:tableStyleId>
              </a:tblPr>
              <a:tblGrid>
                <a:gridCol w="101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0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0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0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0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03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03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03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003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03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003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003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003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05093">
                <a:tc gridSpan="18">
                  <a:txBody>
                    <a:bodyPr/>
                    <a:lstStyle/>
                    <a:p>
                      <a:pPr marL="71755" marR="71755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 متدني      2  3  4      5 عالي</a:t>
                      </a:r>
                      <a:endParaRPr sz="1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44">
                <a:tc rowSpan="2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الوزن</a:t>
                      </a:r>
                      <a:endParaRPr sz="12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توصيف</a:t>
                      </a:r>
                      <a:endParaRPr sz="12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المعيار</a:t>
                      </a:r>
                      <a:endParaRPr sz="12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8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            </a:t>
                      </a:r>
                      <a:r>
                        <a:rPr lang="ar-SA" sz="12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القضية</a:t>
                      </a:r>
                      <a:endParaRPr sz="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8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 </a:t>
                      </a:r>
                      <a:endParaRPr sz="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المعيار</a:t>
                      </a:r>
                      <a:endParaRPr sz="12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11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2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2</a:t>
                      </a:r>
                      <a:endParaRPr sz="2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3</a:t>
                      </a:r>
                      <a:endParaRPr sz="2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4</a:t>
                      </a:r>
                      <a:endParaRPr sz="2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5</a:t>
                      </a:r>
                      <a:endParaRPr sz="2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2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2</a:t>
                      </a:r>
                      <a:endParaRPr sz="2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3</a:t>
                      </a:r>
                      <a:endParaRPr sz="2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4</a:t>
                      </a:r>
                      <a:endParaRPr sz="2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5</a:t>
                      </a:r>
                      <a:endParaRPr sz="2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2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2</a:t>
                      </a:r>
                      <a:endParaRPr sz="2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3</a:t>
                      </a:r>
                      <a:endParaRPr sz="2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4</a:t>
                      </a:r>
                      <a:endParaRPr sz="2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5</a:t>
                      </a:r>
                      <a:endParaRPr sz="2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718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تأسيس فريق الترجمة الدعوية التطوعي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".</a:t>
                      </a:r>
                    </a:p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000" b="0" u="none" strike="noStrike" cap="none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5</a:t>
                      </a:r>
                      <a:endParaRPr sz="10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000" b="0" u="none" strike="noStrike" cap="none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5</a:t>
                      </a:r>
                      <a:endParaRPr sz="10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000" b="0" u="none" strike="noStrike" cap="none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5</a:t>
                      </a:r>
                      <a:endParaRPr sz="10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128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128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52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522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70682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0048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389">
                <a:tc gridSpan="3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المجموع</a:t>
                      </a:r>
                      <a:endParaRPr sz="16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389">
                <a:tc gridSpan="3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الأولويات</a:t>
                      </a:r>
                      <a:endParaRPr sz="16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A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53725" marR="537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4" name="صورة 3">
            <a:extLst>
              <a:ext uri="{FF2B5EF4-FFF2-40B4-BE49-F238E27FC236}">
                <a16:creationId xmlns:a16="http://schemas.microsoft.com/office/drawing/2014/main" id="{4AA237CF-8BCC-C29E-E87E-F37B6B1EB4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10"/>
          <p:cNvGrpSpPr/>
          <p:nvPr/>
        </p:nvGrpSpPr>
        <p:grpSpPr>
          <a:xfrm>
            <a:off x="2208653" y="312470"/>
            <a:ext cx="9478103" cy="6286820"/>
            <a:chOff x="2208653" y="312470"/>
            <a:chExt cx="9478103" cy="6286820"/>
          </a:xfrm>
        </p:grpSpPr>
        <p:sp>
          <p:nvSpPr>
            <p:cNvPr id="248" name="Google Shape;248;p10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249" name="Google Shape;249;p10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</p:grpSp>
      <p:sp>
        <p:nvSpPr>
          <p:cNvPr id="250" name="Google Shape;250;p10"/>
          <p:cNvSpPr/>
          <p:nvPr/>
        </p:nvSpPr>
        <p:spPr>
          <a:xfrm>
            <a:off x="2862501" y="-956810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"/>
              <a:buFont typeface="Arial"/>
              <a:buNone/>
            </a:pPr>
            <a:endParaRPr sz="2727" i="0" u="none" strike="noStrike" cap="none">
              <a:solidFill>
                <a:srgbClr val="445469"/>
              </a:solidFill>
              <a:latin typeface="Sakkal Majalla" panose="02000000000000000000" pitchFamily="2" charset="-78"/>
              <a:cs typeface="Sakkal Majalla" panose="02000000000000000000" pitchFamily="2" charset="-78"/>
              <a:sym typeface="Arial"/>
            </a:endParaRPr>
          </a:p>
        </p:txBody>
      </p:sp>
      <p:grpSp>
        <p:nvGrpSpPr>
          <p:cNvPr id="251" name="Google Shape;251;p10"/>
          <p:cNvGrpSpPr/>
          <p:nvPr/>
        </p:nvGrpSpPr>
        <p:grpSpPr>
          <a:xfrm>
            <a:off x="554214" y="1456621"/>
            <a:ext cx="4114291" cy="3555923"/>
            <a:chOff x="554214" y="1554"/>
            <a:chExt cx="4114291" cy="3555923"/>
          </a:xfrm>
        </p:grpSpPr>
        <p:sp>
          <p:nvSpPr>
            <p:cNvPr id="252" name="Google Shape;252;p10"/>
            <p:cNvSpPr/>
            <p:nvPr/>
          </p:nvSpPr>
          <p:spPr>
            <a:xfrm>
              <a:off x="2018449" y="1554"/>
              <a:ext cx="1185822" cy="770784"/>
            </a:xfrm>
            <a:prstGeom prst="roundRect">
              <a:avLst>
                <a:gd name="adj" fmla="val 16667"/>
              </a:avLst>
            </a:prstGeom>
            <a:solidFill>
              <a:srgbClr val="E36B6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53" name="Google Shape;253;p10"/>
            <p:cNvSpPr txBox="1"/>
            <p:nvPr/>
          </p:nvSpPr>
          <p:spPr>
            <a:xfrm>
              <a:off x="2056076" y="39181"/>
              <a:ext cx="1110568" cy="695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ar-SA" sz="1500" dirty="0">
                  <a:solidFill>
                    <a:schemeClr val="dk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rPr>
                <a:t>المؤشر الديناميكي</a:t>
              </a:r>
              <a:endParaRPr sz="1500" dirty="0">
                <a:solidFill>
                  <a:schemeClr val="dk1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>
              <a:off x="1071773" y="386947"/>
              <a:ext cx="3079173" cy="307917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89357" y="7641"/>
                  </a:moveTo>
                  <a:lnTo>
                    <a:pt x="89357" y="7641"/>
                  </a:lnTo>
                  <a:cubicBezTo>
                    <a:pt x="95531" y="11094"/>
                    <a:pt x="101045" y="15611"/>
                    <a:pt x="105647" y="20983"/>
                  </a:cubicBezTo>
                </a:path>
              </a:pathLst>
            </a:custGeom>
            <a:noFill/>
            <a:ln w="9525" cap="flat" cmpd="sng">
              <a:solidFill>
                <a:srgbClr val="E36B6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>
              <a:off x="3482683" y="1065383"/>
              <a:ext cx="1185822" cy="770784"/>
            </a:xfrm>
            <a:prstGeom prst="roundRect">
              <a:avLst>
                <a:gd name="adj" fmla="val 16667"/>
              </a:avLst>
            </a:prstGeom>
            <a:solidFill>
              <a:srgbClr val="B272E4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56" name="Google Shape;256;p10"/>
            <p:cNvSpPr txBox="1"/>
            <p:nvPr/>
          </p:nvSpPr>
          <p:spPr>
            <a:xfrm>
              <a:off x="3520310" y="1103010"/>
              <a:ext cx="1110568" cy="695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ar-SA" sz="1500" dirty="0">
                  <a:solidFill>
                    <a:schemeClr val="dk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rPr>
                <a:t>مؤشر الموضوع</a:t>
              </a:r>
              <a:endParaRPr sz="1500" dirty="0">
                <a:solidFill>
                  <a:schemeClr val="dk1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257" name="Google Shape;257;p10"/>
            <p:cNvSpPr/>
            <p:nvPr/>
          </p:nvSpPr>
          <p:spPr>
            <a:xfrm>
              <a:off x="1071773" y="386947"/>
              <a:ext cx="3079173" cy="307917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9946" y="64200"/>
                  </a:moveTo>
                  <a:lnTo>
                    <a:pt x="119946" y="64200"/>
                  </a:lnTo>
                  <a:cubicBezTo>
                    <a:pt x="119396" y="72125"/>
                    <a:pt x="117280" y="79861"/>
                    <a:pt x="113719" y="86962"/>
                  </a:cubicBezTo>
                </a:path>
              </a:pathLst>
            </a:custGeom>
            <a:noFill/>
            <a:ln w="9525" cap="flat" cmpd="sng">
              <a:solidFill>
                <a:srgbClr val="B272E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2923395" y="2786693"/>
              <a:ext cx="1185822" cy="770784"/>
            </a:xfrm>
            <a:prstGeom prst="roundRect">
              <a:avLst>
                <a:gd name="adj" fmla="val 16667"/>
              </a:avLst>
            </a:prstGeom>
            <a:solidFill>
              <a:srgbClr val="7AD5E6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59" name="Google Shape;259;p10"/>
            <p:cNvSpPr txBox="1"/>
            <p:nvPr/>
          </p:nvSpPr>
          <p:spPr>
            <a:xfrm>
              <a:off x="2961022" y="2824320"/>
              <a:ext cx="1110568" cy="695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ar-SA" sz="1500">
                  <a:solidFill>
                    <a:schemeClr val="dk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rPr>
                <a:t>مؤشر المستفيدين</a:t>
              </a:r>
              <a:endParaRPr sz="1500">
                <a:solidFill>
                  <a:schemeClr val="dk1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>
              <a:off x="1071773" y="386947"/>
              <a:ext cx="3079173" cy="307917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7416" y="119635"/>
                  </a:moveTo>
                  <a:cubicBezTo>
                    <a:pt x="62520" y="120241"/>
                    <a:pt x="57569" y="120241"/>
                    <a:pt x="52673" y="119635"/>
                  </a:cubicBezTo>
                </a:path>
              </a:pathLst>
            </a:custGeom>
            <a:noFill/>
            <a:ln w="9525" cap="flat" cmpd="sng">
              <a:solidFill>
                <a:srgbClr val="7AD5E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61" name="Google Shape;261;p10"/>
            <p:cNvSpPr/>
            <p:nvPr/>
          </p:nvSpPr>
          <p:spPr>
            <a:xfrm>
              <a:off x="1113502" y="2786693"/>
              <a:ext cx="1185822" cy="770784"/>
            </a:xfrm>
            <a:prstGeom prst="roundRect">
              <a:avLst>
                <a:gd name="adj" fmla="val 16667"/>
              </a:avLst>
            </a:prstGeom>
            <a:solidFill>
              <a:srgbClr val="9BE78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62" name="Google Shape;262;p10"/>
            <p:cNvSpPr txBox="1"/>
            <p:nvPr/>
          </p:nvSpPr>
          <p:spPr>
            <a:xfrm>
              <a:off x="1151129" y="2824320"/>
              <a:ext cx="1110568" cy="695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ar-SA" sz="1500" dirty="0">
                  <a:solidFill>
                    <a:schemeClr val="dk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rPr>
                <a:t>مؤشر الإطار الجغرافي</a:t>
              </a:r>
              <a:endParaRPr sz="1500" dirty="0">
                <a:solidFill>
                  <a:schemeClr val="dk1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263" name="Google Shape;263;p10"/>
            <p:cNvSpPr/>
            <p:nvPr/>
          </p:nvSpPr>
          <p:spPr>
            <a:xfrm>
              <a:off x="1071773" y="386947"/>
              <a:ext cx="3079173" cy="307917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371" y="86962"/>
                  </a:moveTo>
                  <a:lnTo>
                    <a:pt x="6371" y="86962"/>
                  </a:lnTo>
                  <a:cubicBezTo>
                    <a:pt x="2810" y="79861"/>
                    <a:pt x="693" y="72124"/>
                    <a:pt x="144" y="64200"/>
                  </a:cubicBezTo>
                </a:path>
              </a:pathLst>
            </a:custGeom>
            <a:noFill/>
            <a:ln w="9525" cap="flat" cmpd="sng">
              <a:solidFill>
                <a:srgbClr val="9BE78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64" name="Google Shape;264;p10"/>
            <p:cNvSpPr/>
            <p:nvPr/>
          </p:nvSpPr>
          <p:spPr>
            <a:xfrm>
              <a:off x="554214" y="1065383"/>
              <a:ext cx="1185822" cy="770784"/>
            </a:xfrm>
            <a:prstGeom prst="roundRect">
              <a:avLst>
                <a:gd name="adj" fmla="val 16667"/>
              </a:avLst>
            </a:prstGeom>
            <a:solidFill>
              <a:srgbClr val="E9AB8A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65" name="Google Shape;265;p10"/>
            <p:cNvSpPr txBox="1"/>
            <p:nvPr/>
          </p:nvSpPr>
          <p:spPr>
            <a:xfrm>
              <a:off x="591841" y="1103010"/>
              <a:ext cx="1110568" cy="695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ar-SA" sz="1500">
                  <a:solidFill>
                    <a:schemeClr val="dk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rPr>
                <a:t>مؤشر الزمن</a:t>
              </a:r>
              <a:endParaRPr sz="1500">
                <a:solidFill>
                  <a:schemeClr val="dk1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1071773" y="386947"/>
              <a:ext cx="3079173" cy="307917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4442" y="20984"/>
                  </a:moveTo>
                  <a:lnTo>
                    <a:pt x="14442" y="20984"/>
                  </a:lnTo>
                  <a:cubicBezTo>
                    <a:pt x="19044" y="15612"/>
                    <a:pt x="24558" y="11095"/>
                    <a:pt x="30732" y="7642"/>
                  </a:cubicBezTo>
                </a:path>
              </a:pathLst>
            </a:custGeom>
            <a:noFill/>
            <a:ln w="9525" cap="flat" cmpd="sng">
              <a:solidFill>
                <a:srgbClr val="E9AB8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267" name="Google Shape;267;p10"/>
          <p:cNvSpPr/>
          <p:nvPr/>
        </p:nvSpPr>
        <p:spPr>
          <a:xfrm>
            <a:off x="4946650" y="1639570"/>
            <a:ext cx="5562600" cy="3200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lg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ar-SA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كيف يمكننا في جمعية أصول استقطاب 50 مترجماً متطوعاً لتحويل 100 مقطع دعوي إلى 5 لغات عالمية خلال الربع القادم؟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"</a:t>
            </a:r>
            <a:endParaRPr sz="1800" dirty="0">
              <a:solidFill>
                <a:schemeClr val="lt1"/>
              </a:solidFill>
              <a:latin typeface="Sakkal Majalla" panose="02000000000000000000" pitchFamily="2" charset="-78"/>
              <a:cs typeface="Sakkal Majalla" panose="02000000000000000000" pitchFamily="2" charset="-78"/>
              <a:sym typeface="Arial"/>
            </a:endParaRPr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599215CE-2C9D-8358-DEF8-91B28198DA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11"/>
          <p:cNvGrpSpPr/>
          <p:nvPr/>
        </p:nvGrpSpPr>
        <p:grpSpPr>
          <a:xfrm>
            <a:off x="2208653" y="312470"/>
            <a:ext cx="9478103" cy="6286820"/>
            <a:chOff x="2208653" y="312470"/>
            <a:chExt cx="9478103" cy="6286820"/>
          </a:xfrm>
        </p:grpSpPr>
        <p:sp>
          <p:nvSpPr>
            <p:cNvPr id="278" name="Google Shape;278;p11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79" name="Google Shape;279;p11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280" name="Google Shape;280;p11"/>
          <p:cNvSpPr/>
          <p:nvPr/>
        </p:nvSpPr>
        <p:spPr>
          <a:xfrm>
            <a:off x="2862501" y="-956810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"/>
              <a:buFont typeface="Arial"/>
              <a:buNone/>
            </a:pPr>
            <a:endParaRPr sz="2727" b="1" i="0" u="none" strike="noStrike" cap="none">
              <a:solidFill>
                <a:srgbClr val="445469"/>
              </a:solidFill>
              <a:latin typeface="Sakkal Majalla" panose="02000000000000000000" pitchFamily="2" charset="-78"/>
              <a:cs typeface="Sakkal Majalla" panose="02000000000000000000" pitchFamily="2" charset="-78"/>
              <a:sym typeface="Arial"/>
            </a:endParaRPr>
          </a:p>
        </p:txBody>
      </p:sp>
      <p:pic>
        <p:nvPicPr>
          <p:cNvPr id="281" name="Google Shape;281;p11"/>
          <p:cNvPicPr preferRelativeResize="0"/>
          <p:nvPr/>
        </p:nvPicPr>
        <p:blipFill rotWithShape="1">
          <a:blip r:embed="rId3">
            <a:alphaModFix/>
          </a:blip>
          <a:srcRect l="32414" b="10797"/>
          <a:stretch/>
        </p:blipFill>
        <p:spPr>
          <a:xfrm>
            <a:off x="3810000" y="1157275"/>
            <a:ext cx="4061738" cy="411944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A5E6785D-525F-7930-728C-853F08D272A1}"/>
              </a:ext>
            </a:extLst>
          </p:cNvPr>
          <p:cNvSpPr txBox="1"/>
          <p:nvPr/>
        </p:nvSpPr>
        <p:spPr>
          <a:xfrm>
            <a:off x="-105489" y="4936625"/>
            <a:ext cx="5935980" cy="340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ar-SA" sz="1400" b="1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لأسباب</a:t>
            </a:r>
            <a:r>
              <a:rPr lang="en-US" sz="1400" b="1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):</a:t>
            </a:r>
            <a:r>
              <a:rPr lang="en-US" sz="140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</a:t>
            </a:r>
            <a:r>
              <a:rPr lang="ar-SA" sz="140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نقص المترجمين للغات النادرة + قلة المحتوى الدعوي البصري الجاذب</a:t>
            </a:r>
            <a:r>
              <a:rPr lang="ar-SA"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)</a:t>
            </a:r>
            <a:endParaRPr lang="en-US" sz="1200" dirty="0">
              <a:effectLst/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6B532E9C-C455-161F-210A-022AF736F6F8}"/>
              </a:ext>
            </a:extLst>
          </p:cNvPr>
          <p:cNvSpPr txBox="1"/>
          <p:nvPr/>
        </p:nvSpPr>
        <p:spPr>
          <a:xfrm>
            <a:off x="5095427" y="3446955"/>
            <a:ext cx="5989320" cy="340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r" rtl="1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400" b="1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المشكلة</a:t>
            </a:r>
            <a:r>
              <a:rPr lang="en-US" sz="1400" b="1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):</a:t>
            </a:r>
            <a:r>
              <a:rPr lang="en-US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</a:t>
            </a:r>
            <a:r>
              <a:rPr lang="ar-SA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انخفاض نسبة وصول المحتوى الدعوي لغير الناطقين بالعربية)</a:t>
            </a:r>
            <a:endParaRPr lang="en-US" sz="1200" dirty="0">
              <a:effectLst/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0F7E6AD7-DAF7-72CA-419B-92C204EB1CC0}"/>
              </a:ext>
            </a:extLst>
          </p:cNvPr>
          <p:cNvSpPr txBox="1"/>
          <p:nvPr/>
        </p:nvSpPr>
        <p:spPr>
          <a:xfrm>
            <a:off x="227207" y="1282821"/>
            <a:ext cx="5989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</a:t>
            </a:r>
            <a:r>
              <a:rPr lang="ar-SA" sz="1400" dirty="0" err="1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النتيجة:بقاء</a:t>
            </a:r>
            <a:r>
              <a:rPr lang="ar-SA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المحتوى حبيس اللغة العربية + ضعف التفاعل العالمي مع مبادرات الجمعية</a:t>
            </a:r>
            <a:endParaRPr lang="ar-SA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AB2FDC41-B289-8C92-025C-DCF4A8AE3A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12"/>
          <p:cNvGrpSpPr/>
          <p:nvPr/>
        </p:nvGrpSpPr>
        <p:grpSpPr>
          <a:xfrm>
            <a:off x="2208653" y="312470"/>
            <a:ext cx="9478103" cy="6286820"/>
            <a:chOff x="2208653" y="312470"/>
            <a:chExt cx="9478103" cy="6286820"/>
          </a:xfrm>
        </p:grpSpPr>
        <p:sp>
          <p:nvSpPr>
            <p:cNvPr id="292" name="Google Shape;292;p12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293" name="Google Shape;293;p12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</p:grpSp>
      <p:sp>
        <p:nvSpPr>
          <p:cNvPr id="294" name="Google Shape;294;p12"/>
          <p:cNvSpPr/>
          <p:nvPr/>
        </p:nvSpPr>
        <p:spPr>
          <a:xfrm>
            <a:off x="2862501" y="-956810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"/>
              <a:buFont typeface="Arial"/>
              <a:buNone/>
            </a:pPr>
            <a:endParaRPr sz="2727" i="0" u="none" strike="noStrike" cap="none">
              <a:solidFill>
                <a:srgbClr val="445469"/>
              </a:solidFill>
              <a:latin typeface="Sakkal Majalla" panose="02000000000000000000" pitchFamily="2" charset="-78"/>
              <a:cs typeface="Sakkal Majalla" panose="02000000000000000000" pitchFamily="2" charset="-78"/>
              <a:sym typeface="Arial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1725807" y="1060450"/>
            <a:ext cx="8464042" cy="266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lg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akkal Majalla" panose="02000000000000000000" pitchFamily="2" charset="-78"/>
              <a:cs typeface="Sakkal Majalla" panose="02000000000000000000" pitchFamily="2" charset="-78"/>
              <a:sym typeface="Arial"/>
            </a:endParaRPr>
          </a:p>
        </p:txBody>
      </p:sp>
      <p:grpSp>
        <p:nvGrpSpPr>
          <p:cNvPr id="296" name="Google Shape;296;p12"/>
          <p:cNvGrpSpPr/>
          <p:nvPr/>
        </p:nvGrpSpPr>
        <p:grpSpPr>
          <a:xfrm>
            <a:off x="2040991" y="3974516"/>
            <a:ext cx="7833674" cy="1057796"/>
            <a:chOff x="772998" y="2441542"/>
            <a:chExt cx="7833674" cy="1517716"/>
          </a:xfrm>
        </p:grpSpPr>
        <p:sp>
          <p:nvSpPr>
            <p:cNvPr id="297" name="Google Shape;297;p12"/>
            <p:cNvSpPr/>
            <p:nvPr/>
          </p:nvSpPr>
          <p:spPr>
            <a:xfrm>
              <a:off x="772998" y="2441542"/>
              <a:ext cx="7833674" cy="1517716"/>
            </a:xfrm>
            <a:prstGeom prst="roundRect">
              <a:avLst>
                <a:gd name="adj" fmla="val 16667"/>
              </a:avLst>
            </a:prstGeom>
            <a:solidFill>
              <a:srgbClr val="5ECDCB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298" name="Google Shape;298;p12"/>
            <p:cNvSpPr/>
            <p:nvPr/>
          </p:nvSpPr>
          <p:spPr>
            <a:xfrm>
              <a:off x="5882732" y="2738735"/>
              <a:ext cx="2154757" cy="1015668"/>
            </a:xfrm>
            <a:prstGeom prst="rect">
              <a:avLst/>
            </a:prstGeom>
            <a:solidFill>
              <a:srgbClr val="5ECDC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4000">
                  <a:solidFill>
                    <a:srgbClr val="FEFEFE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rPr>
                <a:t>المستفيد</a:t>
              </a:r>
              <a:endParaRPr sz="4000">
                <a:solidFill>
                  <a:schemeClr val="dk1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299" name="Google Shape;299;p12"/>
            <p:cNvSpPr/>
            <p:nvPr/>
          </p:nvSpPr>
          <p:spPr>
            <a:xfrm>
              <a:off x="3880944" y="2653895"/>
              <a:ext cx="1382110" cy="1103987"/>
            </a:xfrm>
            <a:prstGeom prst="rect">
              <a:avLst/>
            </a:prstGeom>
            <a:solidFill>
              <a:srgbClr val="5ECDC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4400">
                  <a:solidFill>
                    <a:schemeClr val="dk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rPr>
                <a:t>يحتاج</a:t>
              </a:r>
              <a:endParaRPr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300" name="Google Shape;300;p12"/>
            <p:cNvSpPr/>
            <p:nvPr/>
          </p:nvSpPr>
          <p:spPr>
            <a:xfrm>
              <a:off x="1762955" y="2738735"/>
              <a:ext cx="1077539" cy="1103987"/>
            </a:xfrm>
            <a:prstGeom prst="rect">
              <a:avLst/>
            </a:prstGeom>
            <a:solidFill>
              <a:srgbClr val="5ECDC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4400" dirty="0">
                  <a:solidFill>
                    <a:srgbClr val="FEFEFE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Arial"/>
                </a:rPr>
                <a:t>لأنه</a:t>
              </a:r>
              <a:endParaRPr sz="4400" dirty="0">
                <a:solidFill>
                  <a:schemeClr val="dk1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</p:grpSp>
      <p:sp>
        <p:nvSpPr>
          <p:cNvPr id="301" name="Google Shape;301;p12"/>
          <p:cNvSpPr txBox="1"/>
          <p:nvPr/>
        </p:nvSpPr>
        <p:spPr>
          <a:xfrm>
            <a:off x="2040991" y="5175250"/>
            <a:ext cx="7833673" cy="54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ar-SA" sz="3200" i="0" u="none" strike="noStrike" cap="none">
                <a:solidFill>
                  <a:schemeClr val="accent4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كيف يمكننا أن؟</a:t>
            </a:r>
            <a:endParaRPr sz="3200" i="0" u="none" strike="noStrike" cap="none">
              <a:solidFill>
                <a:schemeClr val="accent4"/>
              </a:solidFill>
              <a:latin typeface="Sakkal Majalla" panose="02000000000000000000" pitchFamily="2" charset="-78"/>
              <a:cs typeface="Sakkal Majalla" panose="02000000000000000000" pitchFamily="2" charset="-78"/>
              <a:sym typeface="Arial"/>
            </a:endParaRPr>
          </a:p>
        </p:txBody>
      </p:sp>
      <p:sp>
        <p:nvSpPr>
          <p:cNvPr id="302" name="Google Shape;302;p12"/>
          <p:cNvSpPr txBox="1"/>
          <p:nvPr/>
        </p:nvSpPr>
        <p:spPr>
          <a:xfrm>
            <a:off x="2040990" y="5748119"/>
            <a:ext cx="783367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000" dirty="0"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نساعد </a:t>
            </a:r>
            <a:r>
              <a:rPr lang="ar-SA" sz="2000" dirty="0">
                <a:solidFill>
                  <a:srgbClr val="88C656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المشاة من ذوي الإعاقة البصرية</a:t>
            </a:r>
            <a:r>
              <a:rPr lang="ar-SA" sz="2000" dirty="0"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 على </a:t>
            </a:r>
            <a:r>
              <a:rPr lang="ar-SA" sz="2000" dirty="0">
                <a:solidFill>
                  <a:srgbClr val="5ECDCB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عبور الطريق </a:t>
            </a:r>
            <a:r>
              <a:rPr lang="ar-SA" sz="2000" dirty="0">
                <a:solidFill>
                  <a:srgbClr val="88C656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لأنهم</a:t>
            </a:r>
            <a:r>
              <a:rPr lang="ar-SA" sz="2000" dirty="0"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 لا يستطيعون الرؤية حتى يصلوا إلى وجهتهم بسلامة ويسر؟</a:t>
            </a:r>
            <a:endParaRPr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4EB16DA3-6B66-6EC1-FE75-CDD12A4B47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3"/>
          <p:cNvGrpSpPr/>
          <p:nvPr/>
        </p:nvGrpSpPr>
        <p:grpSpPr>
          <a:xfrm>
            <a:off x="2208653" y="312470"/>
            <a:ext cx="9478103" cy="6286820"/>
            <a:chOff x="2208653" y="312470"/>
            <a:chExt cx="9478103" cy="6286820"/>
          </a:xfrm>
        </p:grpSpPr>
        <p:sp>
          <p:nvSpPr>
            <p:cNvPr id="313" name="Google Shape;313;p13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</p:grpSp>
      <p:sp>
        <p:nvSpPr>
          <p:cNvPr id="315" name="Google Shape;315;p13"/>
          <p:cNvSpPr/>
          <p:nvPr/>
        </p:nvSpPr>
        <p:spPr>
          <a:xfrm>
            <a:off x="2862501" y="-956810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"/>
              <a:buFont typeface="Arial"/>
              <a:buNone/>
            </a:pPr>
            <a:endParaRPr sz="2727" i="0" u="none" strike="noStrike" cap="none">
              <a:solidFill>
                <a:srgbClr val="445469"/>
              </a:solidFill>
              <a:latin typeface="Sakkal Majalla" panose="02000000000000000000" pitchFamily="2" charset="-78"/>
              <a:cs typeface="Sakkal Majalla" panose="02000000000000000000" pitchFamily="2" charset="-78"/>
              <a:sym typeface="Arial"/>
            </a:endParaRPr>
          </a:p>
        </p:txBody>
      </p:sp>
      <p:pic>
        <p:nvPicPr>
          <p:cNvPr id="316" name="Google Shape;316;p13"/>
          <p:cNvPicPr preferRelativeResize="0"/>
          <p:nvPr/>
        </p:nvPicPr>
        <p:blipFill rotWithShape="1">
          <a:blip r:embed="rId3">
            <a:alphaModFix/>
          </a:blip>
          <a:srcRect l="2449" r="2271"/>
          <a:stretch/>
        </p:blipFill>
        <p:spPr>
          <a:xfrm>
            <a:off x="1256788" y="1266140"/>
            <a:ext cx="9150766" cy="472439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3"/>
          <p:cNvSpPr/>
          <p:nvPr/>
        </p:nvSpPr>
        <p:spPr>
          <a:xfrm>
            <a:off x="5147528" y="2246867"/>
            <a:ext cx="13244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600" dirty="0">
                <a:solidFill>
                  <a:srgbClr val="88C656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يفكر أو يشعر </a:t>
            </a:r>
            <a:endParaRPr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4306337" y="3020681"/>
            <a:ext cx="69442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600">
                <a:solidFill>
                  <a:srgbClr val="88C656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يسمع</a:t>
            </a:r>
            <a:endParaRPr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6554696" y="3054463"/>
            <a:ext cx="52931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600">
                <a:solidFill>
                  <a:srgbClr val="88C656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يرى</a:t>
            </a:r>
            <a:endParaRPr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5137109" y="3907056"/>
            <a:ext cx="139012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600" dirty="0">
                <a:solidFill>
                  <a:srgbClr val="88C656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يقول أو يفعل </a:t>
            </a:r>
            <a:endParaRPr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9274810" y="5362526"/>
            <a:ext cx="9957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600">
                <a:solidFill>
                  <a:srgbClr val="88C656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المكاسب</a:t>
            </a:r>
            <a:endParaRPr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1496541" y="5358931"/>
            <a:ext cx="6543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600" dirty="0">
                <a:solidFill>
                  <a:srgbClr val="88C656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الألآم</a:t>
            </a:r>
            <a:endParaRPr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6855C9DC-6370-8D58-1770-24EE5B79AE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14"/>
          <p:cNvGrpSpPr/>
          <p:nvPr/>
        </p:nvGrpSpPr>
        <p:grpSpPr>
          <a:xfrm>
            <a:off x="2208653" y="312470"/>
            <a:ext cx="9478103" cy="6286820"/>
            <a:chOff x="2208653" y="312470"/>
            <a:chExt cx="9478103" cy="6286820"/>
          </a:xfrm>
        </p:grpSpPr>
        <p:sp>
          <p:nvSpPr>
            <p:cNvPr id="333" name="Google Shape;333;p14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p14"/>
          <p:cNvSpPr/>
          <p:nvPr/>
        </p:nvSpPr>
        <p:spPr>
          <a:xfrm>
            <a:off x="2862501" y="-956810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"/>
              <a:buFont typeface="Arial"/>
              <a:buNone/>
            </a:pPr>
            <a:endParaRPr sz="2727" i="0" u="none" strike="noStrike" cap="none">
              <a:solidFill>
                <a:srgbClr val="4454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6" name="Google Shape;336;p14"/>
          <p:cNvGraphicFramePr/>
          <p:nvPr>
            <p:extLst>
              <p:ext uri="{D42A27DB-BD31-4B8C-83A1-F6EECF244321}">
                <p14:modId xmlns:p14="http://schemas.microsoft.com/office/powerpoint/2010/main" val="4149598490"/>
              </p:ext>
            </p:extLst>
          </p:nvPr>
        </p:nvGraphicFramePr>
        <p:xfrm>
          <a:off x="3514090" y="1612575"/>
          <a:ext cx="7467600" cy="1153200"/>
        </p:xfrm>
        <a:graphic>
          <a:graphicData uri="http://schemas.openxmlformats.org/drawingml/2006/table">
            <a:tbl>
              <a:tblPr>
                <a:noFill/>
                <a:tableStyleId>{E2C410D8-3CFC-42BA-998A-B48A6FB24EE8}</a:tableStyleId>
              </a:tblPr>
              <a:tblGrid>
                <a:gridCol w="57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53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 سؤال التحدي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37" name="Google Shape;337;p14"/>
          <p:cNvPicPr preferRelativeResize="0"/>
          <p:nvPr/>
        </p:nvPicPr>
        <p:blipFill rotWithShape="1">
          <a:blip r:embed="rId3">
            <a:alphaModFix/>
          </a:blip>
          <a:srcRect l="35427" r="28850"/>
          <a:stretch/>
        </p:blipFill>
        <p:spPr>
          <a:xfrm>
            <a:off x="625045" y="1573824"/>
            <a:ext cx="2736646" cy="439361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8" name="Google Shape;338;p14"/>
          <p:cNvGraphicFramePr/>
          <p:nvPr>
            <p:extLst>
              <p:ext uri="{D42A27DB-BD31-4B8C-83A1-F6EECF244321}">
                <p14:modId xmlns:p14="http://schemas.microsoft.com/office/powerpoint/2010/main" val="751552168"/>
              </p:ext>
            </p:extLst>
          </p:nvPr>
        </p:nvGraphicFramePr>
        <p:xfrm>
          <a:off x="3514089" y="3010544"/>
          <a:ext cx="7467600" cy="2727636"/>
        </p:xfrm>
        <a:graphic>
          <a:graphicData uri="http://schemas.openxmlformats.org/drawingml/2006/table">
            <a:tbl>
              <a:tblPr>
                <a:noFill/>
                <a:tableStyleId>{E2C410D8-3CFC-42BA-998A-B48A6FB24EE8}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14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تشكيل الافكار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تصنيف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عصف فردي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2350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Noto Sans Symbols"/>
                        <a:buNone/>
                      </a:pPr>
                      <a:r>
                        <a:rPr lang="ar-SA" dirty="0"/>
                        <a:t>استخدام علاقاتنا الأكاديمية (قوة) لمواجهة صعوبة الوصول لمترجمين (تهديد)</a:t>
                      </a:r>
                    </a:p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Noto Sans Symbols"/>
                        <a:buNone/>
                      </a:pPr>
                      <a:endParaRPr lang="ar-SA" dirty="0"/>
                    </a:p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Noto Sans Symbols"/>
                        <a:buNone/>
                      </a:pPr>
                      <a:r>
                        <a:rPr lang="ar-SA" sz="18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ar-SA" dirty="0"/>
                        <a:t>استخدام التحفيز المعنوي (قوة) لتقليل انسحاب المتطوعين (تهديد)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Noto Sans Symbols"/>
                        <a:buNone/>
                      </a:pPr>
                      <a:r>
                        <a:rPr lang="ar-SA" sz="18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  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Noto Sans Symbols"/>
                        <a:buNone/>
                      </a:pPr>
                      <a:r>
                        <a:rPr lang="ar-SA" sz="18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  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Noto Sans Symbols"/>
                        <a:buNone/>
                      </a:pPr>
                      <a:r>
                        <a:rPr lang="ar-SA" sz="18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 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Noto Sans Symbols"/>
                        <a:buNone/>
                      </a:pPr>
                      <a:r>
                        <a:rPr lang="ar-SA" sz="18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  </a:t>
                      </a:r>
                      <a:endParaRPr sz="18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dirty="0"/>
                        <a:t>قنوات استقطاب</a:t>
                      </a:r>
                      <a:endParaRPr sz="180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dirty="0"/>
                        <a:t>حوافز</a:t>
                      </a:r>
                      <a:endParaRPr sz="180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dirty="0"/>
                        <a:t>التواصل مع الجامعات</a:t>
                      </a:r>
                      <a:endParaRPr sz="180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dirty="0"/>
                        <a:t>تقديم شهادات تطوع</a:t>
                      </a:r>
                      <a:endParaRPr sz="180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مربع نص 2">
            <a:extLst>
              <a:ext uri="{FF2B5EF4-FFF2-40B4-BE49-F238E27FC236}">
                <a16:creationId xmlns:a16="http://schemas.microsoft.com/office/drawing/2014/main" id="{9400DFBF-91FD-B5B2-6922-CC1E574D25F0}"/>
              </a:ext>
            </a:extLst>
          </p:cNvPr>
          <p:cNvSpPr txBox="1"/>
          <p:nvPr/>
        </p:nvSpPr>
        <p:spPr>
          <a:xfrm>
            <a:off x="3392169" y="1989640"/>
            <a:ext cx="5935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dirty="0"/>
              <a:t>كيف يمكننا في جمعية أصول استقطاب 50 مترجماً متطوعاً لتحويل 100 مقطع دعوي إلى 5 لغات عالمية خلال الربع القادم؟</a:t>
            </a:r>
            <a:r>
              <a:rPr lang="en-US" dirty="0"/>
              <a:t>"</a:t>
            </a:r>
            <a:endParaRPr lang="ar-SA" dirty="0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1639FFD0-53AA-48E2-E08E-EA335EB013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15"/>
          <p:cNvGrpSpPr/>
          <p:nvPr/>
        </p:nvGrpSpPr>
        <p:grpSpPr>
          <a:xfrm>
            <a:off x="2227195" y="278288"/>
            <a:ext cx="9478103" cy="6286820"/>
            <a:chOff x="2208653" y="312470"/>
            <a:chExt cx="9478103" cy="6286820"/>
          </a:xfrm>
        </p:grpSpPr>
        <p:sp>
          <p:nvSpPr>
            <p:cNvPr id="349" name="Google Shape;349;p15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</p:grpSp>
      <p:sp>
        <p:nvSpPr>
          <p:cNvPr id="351" name="Google Shape;351;p15"/>
          <p:cNvSpPr/>
          <p:nvPr/>
        </p:nvSpPr>
        <p:spPr>
          <a:xfrm>
            <a:off x="2881043" y="-990992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"/>
              <a:buFont typeface="Arial"/>
              <a:buNone/>
            </a:pPr>
            <a:endParaRPr sz="2727" b="1" i="0" u="none" strike="noStrike" cap="none">
              <a:solidFill>
                <a:srgbClr val="445469"/>
              </a:solidFill>
              <a:latin typeface="Sakkal Majalla" panose="02000000000000000000" pitchFamily="2" charset="-78"/>
              <a:cs typeface="Sakkal Majalla" panose="02000000000000000000" pitchFamily="2" charset="-78"/>
              <a:sym typeface="Arial"/>
            </a:endParaRPr>
          </a:p>
        </p:txBody>
      </p:sp>
      <p:graphicFrame>
        <p:nvGraphicFramePr>
          <p:cNvPr id="352" name="Google Shape;352;p15"/>
          <p:cNvGraphicFramePr/>
          <p:nvPr>
            <p:extLst>
              <p:ext uri="{D42A27DB-BD31-4B8C-83A1-F6EECF244321}">
                <p14:modId xmlns:p14="http://schemas.microsoft.com/office/powerpoint/2010/main" val="3943856858"/>
              </p:ext>
            </p:extLst>
          </p:nvPr>
        </p:nvGraphicFramePr>
        <p:xfrm>
          <a:off x="6016752" y="1407267"/>
          <a:ext cx="5121350" cy="4244125"/>
        </p:xfrm>
        <a:graphic>
          <a:graphicData uri="http://schemas.openxmlformats.org/drawingml/2006/table">
            <a:tbl>
              <a:tblPr>
                <a:noFill/>
                <a:tableStyleId>{E2C410D8-3CFC-42BA-998A-B48A6FB24EE8}</a:tableStyleId>
              </a:tblPr>
              <a:tblGrid>
                <a:gridCol w="52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2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7575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9BEFEC"/>
                        </a:gs>
                        <a:gs pos="50000">
                          <a:srgbClr val="C1F3F3"/>
                        </a:gs>
                        <a:gs pos="100000">
                          <a:srgbClr val="E0F8F8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الفكرة الأولى </a:t>
                      </a:r>
                      <a:endParaRPr sz="1600" b="0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C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5</a:t>
                      </a:r>
                      <a:endParaRPr sz="18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4</a:t>
                      </a:r>
                      <a:endParaRPr sz="18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3</a:t>
                      </a:r>
                      <a:endParaRPr sz="18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2</a:t>
                      </a:r>
                      <a:endParaRPr sz="18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18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إلى أي مدى ترى الفكرة مرغوبة بحسب معلوماتك عن المستفيد</a:t>
                      </a:r>
                      <a:endParaRPr sz="1200" b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C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0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5</a:t>
                      </a:r>
                      <a:endParaRPr sz="18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4</a:t>
                      </a:r>
                      <a:endParaRPr sz="18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3</a:t>
                      </a:r>
                      <a:endParaRPr sz="18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2</a:t>
                      </a:r>
                      <a:endParaRPr sz="18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18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إلى أي مدى تستطيع حل التحدي ؟ "مرتبطة بالتحدي وتلبي الاحتياج"</a:t>
                      </a:r>
                      <a:endParaRPr sz="1200" b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C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5</a:t>
                      </a:r>
                      <a:endParaRPr sz="18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4</a:t>
                      </a:r>
                      <a:endParaRPr sz="18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3</a:t>
                      </a:r>
                      <a:endParaRPr sz="18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2</a:t>
                      </a:r>
                      <a:endParaRPr sz="18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18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إلى أي مدى ترى ان الفكرة قابلة للتنفيذ ؟</a:t>
                      </a:r>
                      <a:endParaRPr sz="1200" b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C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0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5</a:t>
                      </a:r>
                      <a:endParaRPr sz="18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4</a:t>
                      </a:r>
                      <a:endParaRPr sz="18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3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2</a:t>
                      </a:r>
                      <a:endParaRPr sz="18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18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إلى أي مدى تعتبر مجدية " تتحول لمشروع مستدام"</a:t>
                      </a:r>
                      <a:endParaRPr sz="1200" b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C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65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9BEFEC"/>
                        </a:gs>
                        <a:gs pos="50000">
                          <a:srgbClr val="C1F3F3"/>
                        </a:gs>
                        <a:gs pos="100000">
                          <a:srgbClr val="E0F8F8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المجموع</a:t>
                      </a:r>
                      <a:endParaRPr sz="1400" b="0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C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53" name="Google Shape;353;p15"/>
          <p:cNvGraphicFramePr/>
          <p:nvPr>
            <p:extLst>
              <p:ext uri="{D42A27DB-BD31-4B8C-83A1-F6EECF244321}">
                <p14:modId xmlns:p14="http://schemas.microsoft.com/office/powerpoint/2010/main" val="4002704774"/>
              </p:ext>
            </p:extLst>
          </p:nvPr>
        </p:nvGraphicFramePr>
        <p:xfrm>
          <a:off x="611509" y="1422203"/>
          <a:ext cx="5121350" cy="4229175"/>
        </p:xfrm>
        <a:graphic>
          <a:graphicData uri="http://schemas.openxmlformats.org/drawingml/2006/table">
            <a:tbl>
              <a:tblPr>
                <a:noFill/>
                <a:tableStyleId>{E2C410D8-3CFC-42BA-998A-B48A6FB24EE8}</a:tableStyleId>
              </a:tblPr>
              <a:tblGrid>
                <a:gridCol w="52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2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625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dirty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9BEFEC"/>
                        </a:gs>
                        <a:gs pos="50000">
                          <a:srgbClr val="C1F3F3"/>
                        </a:gs>
                        <a:gs pos="100000">
                          <a:srgbClr val="E0F8F8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الفكرة الثانية </a:t>
                      </a:r>
                      <a:endParaRPr sz="1600" b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C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إلى أي مدى ترى الفكرة مرغوبة بحسب معلوماتك عن المستفيد</a:t>
                      </a:r>
                      <a:endParaRPr sz="1200" b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C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0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5</a:t>
                      </a:r>
                      <a:endParaRPr sz="180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4</a:t>
                      </a:r>
                      <a:endParaRPr sz="180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3</a:t>
                      </a:r>
                      <a:endParaRPr sz="180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2</a:t>
                      </a:r>
                      <a:endParaRPr sz="180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180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إلى أي مدى تستطيع حل التحدي ؟ "مرتبطة بالتحدي وتلبي الاحتياج"</a:t>
                      </a:r>
                      <a:endParaRPr sz="1200" b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C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5</a:t>
                      </a:r>
                      <a:endParaRPr sz="180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4</a:t>
                      </a:r>
                      <a:endParaRPr sz="180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3</a:t>
                      </a:r>
                      <a:endParaRPr sz="180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2</a:t>
                      </a:r>
                      <a:endParaRPr sz="180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180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إلى أي مدى ترى ان الفكرة قابلة للتنفيذ ؟</a:t>
                      </a:r>
                      <a:endParaRPr sz="1200" b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C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0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5</a:t>
                      </a:r>
                      <a:endParaRPr sz="180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4</a:t>
                      </a:r>
                      <a:endParaRPr sz="180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3</a:t>
                      </a:r>
                      <a:endParaRPr sz="180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2</a:t>
                      </a:r>
                      <a:endParaRPr sz="180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</a:t>
                      </a:r>
                      <a:endParaRPr sz="180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إلى أي مدى تعتبر مجدية " تتحول لمشروع مستدام"</a:t>
                      </a:r>
                      <a:endParaRPr sz="1200" b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C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65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9BEFEC"/>
                        </a:gs>
                        <a:gs pos="50000">
                          <a:srgbClr val="C1F3F3"/>
                        </a:gs>
                        <a:gs pos="100000">
                          <a:srgbClr val="E0F8F8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المجموع</a:t>
                      </a:r>
                      <a:endParaRPr sz="1400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C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700AF9A2-0120-C36F-9609-3D72238B19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16"/>
          <p:cNvGrpSpPr/>
          <p:nvPr/>
        </p:nvGrpSpPr>
        <p:grpSpPr>
          <a:xfrm>
            <a:off x="2208653" y="312470"/>
            <a:ext cx="9478103" cy="6286820"/>
            <a:chOff x="2208653" y="312470"/>
            <a:chExt cx="9478103" cy="6286820"/>
          </a:xfrm>
        </p:grpSpPr>
        <p:sp>
          <p:nvSpPr>
            <p:cNvPr id="364" name="Google Shape;364;p16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6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6" name="Google Shape;366;p16"/>
          <p:cNvSpPr/>
          <p:nvPr/>
        </p:nvSpPr>
        <p:spPr>
          <a:xfrm>
            <a:off x="2862501" y="-956810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"/>
              <a:buFont typeface="Arial"/>
              <a:buNone/>
            </a:pPr>
            <a:endParaRPr sz="2727" i="0" u="none" strike="noStrike" cap="none">
              <a:solidFill>
                <a:srgbClr val="4454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8" name="Google Shape;368;p16"/>
          <p:cNvGraphicFramePr/>
          <p:nvPr>
            <p:extLst>
              <p:ext uri="{D42A27DB-BD31-4B8C-83A1-F6EECF244321}">
                <p14:modId xmlns:p14="http://schemas.microsoft.com/office/powerpoint/2010/main" val="1880681636"/>
              </p:ext>
            </p:extLst>
          </p:nvPr>
        </p:nvGraphicFramePr>
        <p:xfrm>
          <a:off x="616144" y="1127437"/>
          <a:ext cx="10578900" cy="4887100"/>
        </p:xfrm>
        <a:graphic>
          <a:graphicData uri="http://schemas.openxmlformats.org/drawingml/2006/table">
            <a:tbl>
              <a:tblPr>
                <a:noFill/>
                <a:tableStyleId>{E2C410D8-3CFC-42BA-998A-B48A6FB24EE8}</a:tableStyleId>
              </a:tblPr>
              <a:tblGrid>
                <a:gridCol w="84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4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3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3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5. اختيار القنوات</a:t>
                      </a:r>
                      <a:endParaRPr sz="1800" b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FB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6. التنفيذ والتقييم</a:t>
                      </a:r>
                      <a:endParaRPr sz="1800" b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FB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2025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4. صياغة الرسالة</a:t>
                      </a:r>
                      <a:endParaRPr sz="1800" b="0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Noto Sans Symbols"/>
                        <a:buNone/>
                      </a:pP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AutoNum type="arabicPeriod"/>
                      </a:pPr>
                      <a:r>
                        <a:rPr lang="ar-SA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منصة التطوع، مراكز الجامعات، لينكد إن، تويتر</a:t>
                      </a:r>
                      <a:r>
                        <a:rPr lang="en-US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 (X).</a:t>
                      </a:r>
                      <a:endParaRPr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FBF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ar-SA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قياس عدد المشاهدات والمتابعين للمحتوى المترجم</a:t>
                      </a:r>
                      <a:endParaRPr sz="1200" b="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FBFC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Noto Sans Symbols"/>
                        <a:buNone/>
                      </a:pPr>
                      <a:endParaRPr sz="12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 1. تحديد الاحتياج والفرصة</a:t>
                      </a:r>
                      <a:endParaRPr sz="18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5300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AutoNum type="arabicPeriod"/>
                      </a:pPr>
                      <a:r>
                        <a:rPr lang="ar-SA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بلغ عن نبيك ولو بكلمة.. مهارتك اللغوية وسيلة للهداية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".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700"/>
                        <a:buFont typeface="Noto Sans Symbols"/>
                        <a:buNone/>
                      </a:pPr>
                      <a:r>
                        <a:rPr lang="ar-SA" sz="27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خارطة تصميم وتسويق الفرص التطوعية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AutoNum type="arabicPeriod"/>
                      </a:pPr>
                      <a:r>
                        <a:rPr lang="ar-SA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محتوى دعوي بلغات متعددة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.</a:t>
                      </a:r>
                    </a:p>
                    <a:p>
                      <a:pPr marL="228600" marR="0" lvl="0" indent="-22860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AutoNum type="arabicPeriod"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3675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9525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Noto Sans Symbols"/>
                        <a:buNone/>
                      </a:pPr>
                      <a:endParaRPr sz="12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1- طلاب المنح، خريجو كليات اللغات والترجمة</a:t>
                      </a:r>
                      <a:r>
                        <a:rPr lang="en-US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.</a:t>
                      </a:r>
                    </a:p>
                    <a:p>
                      <a:pPr lvl="0" rtl="1"/>
                      <a:endParaRPr lang="en-US" sz="1400" b="0" i="0" u="none" strike="noStrike" cap="none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4C5A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AutoNum type="arabicPeriod"/>
                      </a:pPr>
                      <a:r>
                        <a:rPr lang="ar-SA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نشر الدعوة بلسان الشعوب</a:t>
                      </a:r>
                      <a:endParaRPr sz="1200" b="0" dirty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4C5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9525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Noto Sans Symbols"/>
                        <a:buNone/>
                      </a:pPr>
                      <a:endParaRPr sz="12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 dirty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3. تحليل الجمهور المستهدف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4C5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2. تحديد التوجه</a:t>
                      </a:r>
                      <a:endParaRPr sz="1800" b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4C5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89050" marR="89050" marT="44525" marB="445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1C2DD317-8480-C111-ECAF-7B4E0A5D21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17"/>
          <p:cNvGrpSpPr/>
          <p:nvPr/>
        </p:nvGrpSpPr>
        <p:grpSpPr>
          <a:xfrm>
            <a:off x="2208653" y="312470"/>
            <a:ext cx="9478103" cy="6286820"/>
            <a:chOff x="2208653" y="312470"/>
            <a:chExt cx="9478103" cy="6286820"/>
          </a:xfrm>
        </p:grpSpPr>
        <p:sp>
          <p:nvSpPr>
            <p:cNvPr id="378" name="Google Shape;378;p17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7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0" name="Google Shape;380;p17"/>
          <p:cNvSpPr/>
          <p:nvPr/>
        </p:nvSpPr>
        <p:spPr>
          <a:xfrm>
            <a:off x="2862501" y="-956810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"/>
              <a:buFont typeface="Arial"/>
              <a:buNone/>
            </a:pPr>
            <a:endParaRPr sz="2727" i="0" u="none" strike="noStrike" cap="none">
              <a:solidFill>
                <a:srgbClr val="4454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1" name="Google Shape;381;p17"/>
          <p:cNvGraphicFramePr/>
          <p:nvPr>
            <p:extLst>
              <p:ext uri="{D42A27DB-BD31-4B8C-83A1-F6EECF244321}">
                <p14:modId xmlns:p14="http://schemas.microsoft.com/office/powerpoint/2010/main" val="1102072635"/>
              </p:ext>
            </p:extLst>
          </p:nvPr>
        </p:nvGraphicFramePr>
        <p:xfrm>
          <a:off x="908050" y="801880"/>
          <a:ext cx="9950875" cy="5577845"/>
        </p:xfrm>
        <a:graphic>
          <a:graphicData uri="http://schemas.openxmlformats.org/drawingml/2006/table">
            <a:tbl>
              <a:tblPr>
                <a:noFill/>
                <a:tableStyleId>{E2C410D8-3CFC-42BA-998A-B48A6FB24EE8}</a:tableStyleId>
              </a:tblPr>
              <a:tblGrid>
                <a:gridCol w="345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375">
                <a:tc rowSpan="2"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alibri"/>
                        <a:buNone/>
                      </a:pPr>
                      <a:endParaRPr sz="1800" dirty="0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10"/>
                        </a:buClr>
                        <a:buSzPts val="1800"/>
                        <a:buFont typeface="Arial"/>
                        <a:buNone/>
                      </a:pPr>
                      <a:r>
                        <a:rPr lang="ar-SA" sz="1800" dirty="0">
                          <a:solidFill>
                            <a:srgbClr val="1D1B1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مجال الاستدامة</a:t>
                      </a:r>
                    </a:p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10"/>
                        </a:buClr>
                        <a:buSzPts val="1800"/>
                        <a:buFont typeface="Arial"/>
                        <a:buNone/>
                      </a:pPr>
                      <a:endParaRPr lang="ar-SA" sz="1800" dirty="0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10"/>
                        </a:buClr>
                        <a:buSzPts val="1800"/>
                        <a:buFont typeface="Arial"/>
                        <a:buNone/>
                      </a:pPr>
                      <a:endParaRPr lang="ar-SA" sz="1800" dirty="0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10"/>
                        </a:buClr>
                        <a:buSzPts val="1800"/>
                        <a:buFont typeface="Arial"/>
                        <a:buNone/>
                        <a:tabLst/>
                        <a:defRPr/>
                      </a:pPr>
                      <a:r>
                        <a:rPr lang="ar-SA" sz="2400" dirty="0">
                          <a:solidFill>
                            <a:srgbClr val="1D1B10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  <a:sym typeface="Arial"/>
                        </a:rPr>
                        <a:t>                         </a:t>
                      </a:r>
                      <a:r>
                        <a:rPr lang="ar-SA" sz="18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ar-SA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الموارد البشرية</a:t>
                      </a:r>
                    </a:p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10"/>
                        </a:buClr>
                        <a:buSzPts val="1800"/>
                        <a:buFont typeface="Arial"/>
                        <a:buNone/>
                      </a:pPr>
                      <a:endParaRPr sz="14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2410"/>
                        </a:buClr>
                        <a:buSzPts val="1800"/>
                        <a:buFont typeface="Arial"/>
                        <a:buNone/>
                      </a:pPr>
                      <a:r>
                        <a:rPr lang="ar-SA" sz="1800" b="0" i="0" u="none" strike="noStrike" cap="none" dirty="0">
                          <a:solidFill>
                            <a:srgbClr val="0C2410"/>
                          </a:solidFill>
                          <a:highlight>
                            <a:srgbClr val="5ECDCB"/>
                          </a:highlight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نقاط القوة </a:t>
                      </a:r>
                      <a:r>
                        <a:rPr lang="ar-SA" sz="1600" b="0" i="0" u="none" strike="noStrike" cap="none" dirty="0">
                          <a:solidFill>
                            <a:srgbClr val="0C2410"/>
                          </a:solidFill>
                          <a:highlight>
                            <a:srgbClr val="5ECDCB"/>
                          </a:highlight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– S</a:t>
                      </a:r>
                      <a:endParaRPr sz="1600" b="0" i="0" u="none" strike="noStrike" cap="none" dirty="0">
                        <a:solidFill>
                          <a:srgbClr val="0C2410"/>
                        </a:solidFill>
                        <a:highlight>
                          <a:srgbClr val="5ECDCB"/>
                        </a:highlight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0" dirty="0">
                          <a:solidFill>
                            <a:srgbClr val="1D1B10"/>
                          </a:solidFill>
                          <a:highlight>
                            <a:srgbClr val="FFFF00"/>
                          </a:highlight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نقاط الضعف </a:t>
                      </a:r>
                      <a:r>
                        <a:rPr lang="ar-SA" sz="1600" b="1" dirty="0">
                          <a:solidFill>
                            <a:srgbClr val="1D1B10"/>
                          </a:solidFill>
                          <a:highlight>
                            <a:srgbClr val="FFFF00"/>
                          </a:highlight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- W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50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19685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ourier New"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Neo Sans Arabic Medium" panose="020B0704030504040204" pitchFamily="34" charset="-78"/>
                          <a:ea typeface="Arial"/>
                          <a:cs typeface="Neo Sans Arabic Medium" panose="020B0704030504040204" pitchFamily="34" charset="-78"/>
                          <a:sym typeface="Arial"/>
                        </a:rPr>
                        <a:t>وجود علاقات واسعة مع الجامعات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25400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ourier New"/>
                        <a:buNone/>
                        <a:tabLst/>
                        <a:defRPr/>
                      </a:pPr>
                      <a:r>
                        <a:rPr lang="ar-SA" sz="1400" b="0" i="0" u="none" strike="noStrike" kern="1200" cap="none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Neo Sans Arabic Medium" panose="020B0704030504040204" pitchFamily="34" charset="-78"/>
                          <a:ea typeface="Arial"/>
                          <a:cs typeface="Neo Sans Arabic Medium" panose="020B0704030504040204" pitchFamily="34" charset="-78"/>
                          <a:sym typeface="Arial"/>
                        </a:rPr>
                        <a:t>تسرب العاملين من وحدة التطوع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1D1B10"/>
                          </a:solidFill>
                          <a:highlight>
                            <a:srgbClr val="FF00FF"/>
                          </a:highlight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الفرص – O</a:t>
                      </a:r>
                    </a:p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ar-SA" sz="1600" b="0" dirty="0">
                        <a:solidFill>
                          <a:srgbClr val="1D1B10"/>
                        </a:solidFill>
                        <a:highlight>
                          <a:srgbClr val="FF00FF"/>
                        </a:highlight>
                        <a:latin typeface="Sakkal Majalla" panose="02000000000000000000" pitchFamily="2" charset="-78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ar-SA" sz="1600" b="0" dirty="0">
                        <a:solidFill>
                          <a:srgbClr val="1D1B10"/>
                        </a:solidFill>
                        <a:highlight>
                          <a:srgbClr val="FF00FF"/>
                        </a:highlight>
                        <a:latin typeface="Sakkal Majalla" panose="02000000000000000000" pitchFamily="2" charset="-78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رغبة طلاب الجامعات في العمل في وحدة التطوع في الجمعية</a:t>
                      </a:r>
                      <a:endParaRPr lang="en-US" sz="14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1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ar-SA" sz="1600" b="1" dirty="0">
                          <a:solidFill>
                            <a:srgbClr val="1D1B1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S-O </a:t>
                      </a:r>
                      <a:r>
                        <a:rPr lang="ar-SA" sz="1600" b="1" dirty="0" err="1">
                          <a:solidFill>
                            <a:srgbClr val="1D1B1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Strategies</a:t>
                      </a:r>
                      <a:endParaRPr sz="1600" b="1" dirty="0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justLow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ar-SA" sz="1400" b="0" i="0" u="none" strike="noStrike" kern="1200" cap="none" dirty="0">
                        <a:solidFill>
                          <a:schemeClr val="bg2">
                            <a:lumMod val="10000"/>
                          </a:schemeClr>
                        </a:solidFill>
                        <a:latin typeface="Neo Sans Arabic Medium" panose="020B0704030504040204" pitchFamily="34" charset="-78"/>
                        <a:ea typeface="Arial"/>
                        <a:cs typeface="Neo Sans Arabic Medium" panose="020B0704030504040204" pitchFamily="34" charset="-78"/>
                        <a:sym typeface="Arial"/>
                      </a:endParaRPr>
                    </a:p>
                    <a:p>
                      <a:pPr marL="0" marR="0" lvl="0" indent="0" algn="justLow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ar-SA" sz="1400" b="0" i="0" u="none" strike="noStrike" kern="1200" cap="none" dirty="0">
                        <a:solidFill>
                          <a:schemeClr val="bg2">
                            <a:lumMod val="10000"/>
                          </a:schemeClr>
                        </a:solidFill>
                        <a:latin typeface="Neo Sans Arabic Medium" panose="020B0704030504040204" pitchFamily="34" charset="-78"/>
                        <a:ea typeface="Arial"/>
                        <a:cs typeface="Neo Sans Arabic Medium" panose="020B0704030504040204" pitchFamily="34" charset="-78"/>
                        <a:sym typeface="Arial"/>
                      </a:endParaRPr>
                    </a:p>
                    <a:p>
                      <a:pPr marL="0" marR="0" lvl="0" indent="0" algn="justLow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ar-SA" sz="1400" b="0" i="0" u="none" strike="noStrike" kern="1200" cap="none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Neo Sans Arabic Medium" panose="020B0704030504040204" pitchFamily="34" charset="-78"/>
                          <a:ea typeface="Arial"/>
                          <a:cs typeface="Neo Sans Arabic Medium" panose="020B0704030504040204" pitchFamily="34" charset="-78"/>
                          <a:sym typeface="Arial"/>
                        </a:rPr>
                        <a:t>استقطاب الكفاءات الطلابية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10"/>
                        </a:buClr>
                        <a:buSzPts val="1600"/>
                        <a:buFont typeface="Courier New"/>
                        <a:buNone/>
                      </a:pPr>
                      <a:r>
                        <a:rPr lang="ar-SA" sz="1600" b="0" dirty="0">
                          <a:solidFill>
                            <a:srgbClr val="1D1B1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W-O </a:t>
                      </a:r>
                      <a:r>
                        <a:rPr lang="ar-SA" sz="1600" b="0" dirty="0" err="1">
                          <a:solidFill>
                            <a:srgbClr val="1D1B1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Strategies</a:t>
                      </a:r>
                      <a:endParaRPr lang="ar-SA" sz="1600" b="0" dirty="0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just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10"/>
                        </a:buClr>
                        <a:buSzPts val="1600"/>
                        <a:buFont typeface="Courier New"/>
                        <a:buNone/>
                      </a:pPr>
                      <a:endParaRPr lang="ar-SA" sz="1600" b="0" dirty="0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just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10"/>
                        </a:buClr>
                        <a:buSzPts val="1600"/>
                        <a:buFont typeface="Courier New"/>
                        <a:buNone/>
                      </a:pPr>
                      <a:endParaRPr lang="ar-SA" sz="1600" b="0" dirty="0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10"/>
                        </a:buClr>
                        <a:buSzPts val="1600"/>
                        <a:buFont typeface="Courier New"/>
                        <a:buNone/>
                        <a:tabLst/>
                        <a:defRPr/>
                      </a:pPr>
                      <a:r>
                        <a:rPr lang="ar-SA" sz="1600" b="0" i="0" u="none" strike="noStrike" kern="1200" cap="none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Neo Sans Arabic Medium" panose="020B0704030504040204" pitchFamily="34" charset="-78"/>
                          <a:ea typeface="Arial"/>
                          <a:cs typeface="Neo Sans Arabic Medium" panose="020B0704030504040204" pitchFamily="34" charset="-78"/>
                          <a:sym typeface="Arial"/>
                        </a:rPr>
                        <a:t>تفعيل برنامج الولاء</a:t>
                      </a:r>
                    </a:p>
                    <a:p>
                      <a:pPr marL="0" marR="0" lvl="0" indent="0" algn="just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10"/>
                        </a:buClr>
                        <a:buSzPts val="1600"/>
                        <a:buFont typeface="Courier New"/>
                        <a:buNone/>
                      </a:pPr>
                      <a:endParaRPr sz="1600" b="0" dirty="0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5"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1D1B10"/>
                          </a:solidFill>
                          <a:highlight>
                            <a:srgbClr val="FF0000"/>
                          </a:highlight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التحديات</a:t>
                      </a:r>
                      <a:r>
                        <a:rPr lang="ar-SA" sz="1600" b="1" dirty="0">
                          <a:solidFill>
                            <a:srgbClr val="1D1B10"/>
                          </a:solidFill>
                          <a:highlight>
                            <a:srgbClr val="FF0000"/>
                          </a:highlight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 – T</a:t>
                      </a:r>
                    </a:p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ar-SA" sz="1600" b="1" dirty="0">
                        <a:solidFill>
                          <a:srgbClr val="1D1B10"/>
                        </a:solidFill>
                        <a:highlight>
                          <a:srgbClr val="FF0000"/>
                        </a:highlight>
                        <a:latin typeface="Sakkal Majalla" panose="02000000000000000000" pitchFamily="2" charset="-78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ar-SA" sz="1600" b="1" dirty="0">
                        <a:solidFill>
                          <a:srgbClr val="1D1B10"/>
                        </a:solidFill>
                        <a:highlight>
                          <a:srgbClr val="FF0000"/>
                        </a:highlight>
                        <a:latin typeface="Sakkal Majalla" panose="02000000000000000000" pitchFamily="2" charset="-78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وجود جهات منافسة تستقطب طلاب الجامعات</a:t>
                      </a:r>
                      <a:endParaRPr lang="en-US" sz="14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1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ar-SA" sz="1600" b="1" dirty="0">
                          <a:solidFill>
                            <a:srgbClr val="1D1B1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S-T </a:t>
                      </a:r>
                      <a:r>
                        <a:rPr lang="ar-SA" sz="1600" b="1" dirty="0" err="1">
                          <a:solidFill>
                            <a:srgbClr val="1D1B1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Strategies</a:t>
                      </a:r>
                      <a:endParaRPr lang="ar-SA" sz="1600" b="1" dirty="0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just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10"/>
                        </a:buClr>
                        <a:buSzPts val="1600"/>
                        <a:buFont typeface="Noto Sans Symbols"/>
                        <a:buNone/>
                      </a:pPr>
                      <a:endParaRPr lang="ar-SA" sz="1600" b="1" dirty="0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just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10"/>
                        </a:buClr>
                        <a:buSzPts val="1600"/>
                        <a:buFont typeface="Noto Sans Symbols"/>
                        <a:buNone/>
                      </a:pPr>
                      <a:endParaRPr lang="ar-SA" sz="1600" b="1" dirty="0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just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1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ar-SA" sz="1600" dirty="0"/>
                        <a:t>استخدام مهارات الفريق لمواجهة نقص الموارد</a:t>
                      </a:r>
                      <a:endParaRPr sz="1600" b="1" dirty="0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1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ar-SA" sz="1600" b="1" dirty="0">
                          <a:solidFill>
                            <a:srgbClr val="1D1B1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W-T </a:t>
                      </a:r>
                      <a:r>
                        <a:rPr lang="ar-SA" sz="1600" b="1" dirty="0" err="1">
                          <a:solidFill>
                            <a:srgbClr val="1D1B1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Strategies</a:t>
                      </a:r>
                      <a:endParaRPr sz="1600" b="1" dirty="0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just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Noto Sans Symbols"/>
                        <a:buNone/>
                      </a:pPr>
                      <a:endParaRPr sz="1100" b="0" i="0" u="none" strike="noStrike" cap="none" dirty="0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just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Noto Sans Symbols"/>
                        <a:buNone/>
                      </a:pPr>
                      <a:endParaRPr sz="1100" b="0" i="0" u="none" strike="noStrike" cap="none" dirty="0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justLow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Neo Sans Arabic Medium" panose="020B0704030504040204" pitchFamily="34" charset="-78"/>
                          <a:ea typeface="Arial"/>
                          <a:cs typeface="Neo Sans Arabic Medium" panose="020B0704030504040204" pitchFamily="34" charset="-78"/>
                          <a:sym typeface="Arial"/>
                        </a:rPr>
                        <a:t>بناء خارطة إحلال الموظفين</a:t>
                      </a:r>
                      <a:b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</a:b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71028A99-C606-A873-838D-129B1F14C1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18"/>
          <p:cNvGrpSpPr/>
          <p:nvPr/>
        </p:nvGrpSpPr>
        <p:grpSpPr>
          <a:xfrm>
            <a:off x="2208653" y="312470"/>
            <a:ext cx="9478103" cy="6286820"/>
            <a:chOff x="2208653" y="312470"/>
            <a:chExt cx="9478103" cy="6286820"/>
          </a:xfrm>
        </p:grpSpPr>
        <p:sp>
          <p:nvSpPr>
            <p:cNvPr id="392" name="Google Shape;392;p18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4" name="Google Shape;394;p18"/>
          <p:cNvSpPr/>
          <p:nvPr/>
        </p:nvSpPr>
        <p:spPr>
          <a:xfrm>
            <a:off x="2862501" y="-956810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"/>
              <a:buFont typeface="Arial"/>
              <a:buNone/>
            </a:pPr>
            <a:endParaRPr sz="2727" b="1" i="0" u="none" strike="noStrike" cap="none">
              <a:solidFill>
                <a:srgbClr val="4454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5" name="Google Shape;395;p18"/>
          <p:cNvGraphicFramePr/>
          <p:nvPr>
            <p:extLst>
              <p:ext uri="{D42A27DB-BD31-4B8C-83A1-F6EECF244321}">
                <p14:modId xmlns:p14="http://schemas.microsoft.com/office/powerpoint/2010/main" val="616322411"/>
              </p:ext>
            </p:extLst>
          </p:nvPr>
        </p:nvGraphicFramePr>
        <p:xfrm>
          <a:off x="359359" y="1112531"/>
          <a:ext cx="11045650" cy="1219230"/>
        </p:xfrm>
        <a:graphic>
          <a:graphicData uri="http://schemas.openxmlformats.org/drawingml/2006/table">
            <a:tbl>
              <a:tblPr>
                <a:noFill/>
                <a:tableStyleId>{E2C410D8-3CFC-42BA-998A-B48A6FB24EE8}</a:tableStyleId>
              </a:tblPr>
              <a:tblGrid>
                <a:gridCol w="181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3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925">
                <a:tc gridSpan="4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Sakkal Majalla"/>
                        <a:buNone/>
                      </a:pPr>
                      <a:r>
                        <a:rPr lang="ar-SA" sz="1600" b="0" i="0" u="none" strike="noStrike" cap="none">
                          <a:solidFill>
                            <a:srgbClr val="1D1B1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الاستراتيجيات</a:t>
                      </a:r>
                      <a:endParaRPr sz="1600" b="0" i="0" u="none" strike="noStrike" cap="none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C65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Sakkal Majalla"/>
                        <a:buNone/>
                      </a:pPr>
                      <a:r>
                        <a:rPr lang="ar-SA" sz="1600" u="none" strike="noStrike" cap="none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مجال  الاستدامة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C6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Sakkal Majalla"/>
                        <a:buNone/>
                      </a:pPr>
                      <a:r>
                        <a:rPr lang="ar-SA" sz="1600" u="none" strike="noStrike" cap="none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</a:t>
                      </a:r>
                      <a:endParaRPr sz="1600" u="none" strike="noStrike" cap="none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C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r>
                        <a:rPr lang="ar-SA" sz="1600" u="none" strike="noStrike" cap="none">
                          <a:solidFill>
                            <a:srgbClr val="1D1B1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الرابعة</a:t>
                      </a:r>
                      <a:endParaRPr sz="1600" u="none" strike="noStrike" cap="none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9BEFEC"/>
                        </a:gs>
                        <a:gs pos="50000">
                          <a:srgbClr val="C1F3F3"/>
                        </a:gs>
                        <a:gs pos="100000">
                          <a:srgbClr val="E0F8F8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r>
                        <a:rPr lang="ar-SA" sz="1600" u="none" strike="noStrike" cap="none">
                          <a:solidFill>
                            <a:srgbClr val="1D1B1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الثالثة</a:t>
                      </a:r>
                      <a:endParaRPr sz="1600" u="none" strike="noStrike" cap="none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9BEFEC"/>
                        </a:gs>
                        <a:gs pos="50000">
                          <a:srgbClr val="C1F3F3"/>
                        </a:gs>
                        <a:gs pos="100000">
                          <a:srgbClr val="E0F8F8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Sakkal Majalla"/>
                        <a:buNone/>
                      </a:pPr>
                      <a:r>
                        <a:rPr lang="ar-SA" sz="160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الثانية</a:t>
                      </a:r>
                      <a:endParaRPr sz="16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9BEFEC"/>
                        </a:gs>
                        <a:gs pos="50000">
                          <a:srgbClr val="C1F3F3"/>
                        </a:gs>
                        <a:gs pos="100000">
                          <a:srgbClr val="E0F8F8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Sakkal Majalla"/>
                        <a:buNone/>
                      </a:pPr>
                      <a:r>
                        <a:rPr lang="ar-SA" sz="160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الأولى </a:t>
                      </a:r>
                      <a:endParaRPr sz="16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9BEFEC"/>
                        </a:gs>
                        <a:gs pos="50000">
                          <a:srgbClr val="C1F3F3"/>
                        </a:gs>
                        <a:gs pos="100000">
                          <a:srgbClr val="E0F8F8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Sakkal Majalla"/>
                        <a:buNone/>
                        <a:tabLst/>
                        <a:defRPr/>
                      </a:pPr>
                      <a:r>
                        <a:rPr lang="ar-SA" sz="1400" u="none" strike="noStrike" cap="none" dirty="0"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الموارد البشرية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Sakkal Majalla"/>
                        <a:buNone/>
                      </a:pPr>
                      <a:endParaRPr sz="1600" u="none" strike="noStrike" cap="none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  <a:tabLst/>
                        <a:defRPr/>
                      </a:pPr>
                      <a:r>
                        <a:rPr lang="ar-SA" sz="1600" dirty="0"/>
                        <a:t>تحسين تجربة المتطوع</a:t>
                      </a:r>
                      <a:endParaRPr lang="en-US" sz="1600" u="none" strike="noStrike" cap="none" dirty="0">
                        <a:solidFill>
                          <a:schemeClr val="bg2">
                            <a:lumMod val="10000"/>
                          </a:schemeClr>
                        </a:solidFill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Sakkal Majalla"/>
                        <a:buNone/>
                        <a:tabLst/>
                        <a:defRPr/>
                      </a:pPr>
                      <a:r>
                        <a:rPr lang="ar-SA" sz="1600" dirty="0"/>
                        <a:t>تأهيل وتطوير المتطوعين</a:t>
                      </a:r>
                      <a:endParaRPr lang="en-US" sz="1600" u="none" strike="noStrike" cap="none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Sakkal Majalla"/>
                        <a:buNone/>
                        <a:tabLst/>
                        <a:defRPr/>
                      </a:pPr>
                      <a:r>
                        <a:rPr lang="ar-SA" sz="1600" dirty="0"/>
                        <a:t>استقطاب متطوعين جدد</a:t>
                      </a:r>
                      <a:endParaRPr lang="ar-SA" sz="1600" u="none" strike="noStrike" cap="none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6" name="Google Shape;396;p18"/>
          <p:cNvGraphicFramePr/>
          <p:nvPr>
            <p:extLst>
              <p:ext uri="{D42A27DB-BD31-4B8C-83A1-F6EECF244321}">
                <p14:modId xmlns:p14="http://schemas.microsoft.com/office/powerpoint/2010/main" val="3030579035"/>
              </p:ext>
            </p:extLst>
          </p:nvPr>
        </p:nvGraphicFramePr>
        <p:xfrm>
          <a:off x="359360" y="2508250"/>
          <a:ext cx="11058150" cy="3932030"/>
        </p:xfrm>
        <a:graphic>
          <a:graphicData uri="http://schemas.openxmlformats.org/drawingml/2006/table">
            <a:tbl>
              <a:tblPr>
                <a:noFill/>
                <a:tableStyleId>{E2C410D8-3CFC-42BA-998A-B48A6FB24EE8}</a:tableStyleId>
              </a:tblPr>
              <a:tblGrid>
                <a:gridCol w="173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6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endParaRPr lang="en-US" sz="160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CD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r>
                        <a:rPr lang="ar-SA" sz="1600" u="none" strike="noStrike" cap="none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المسؤول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CD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r>
                        <a:rPr lang="ar-SA" sz="1600" u="none" strike="noStrike" cap="none" dirty="0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تاريخ الانجاز</a:t>
                      </a:r>
                      <a:endParaRPr sz="1600" u="none" strike="noStrike" cap="none" dirty="0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CD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r>
                        <a:rPr lang="ar-SA" sz="1600" u="none" strike="noStrike" cap="none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المستهدف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CDC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Sakkal Majalla"/>
                        <a:buNone/>
                      </a:pPr>
                      <a:r>
                        <a:rPr lang="ar-SA" sz="1600" u="none" strike="noStrike" cap="none">
                          <a:solidFill>
                            <a:srgbClr val="000000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المؤشر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CD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r>
                        <a:rPr lang="ar-SA" sz="1600" u="none" strike="noStrike" cap="none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5000</a:t>
                      </a:r>
                      <a:endParaRPr sz="160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r>
                        <a:rPr lang="ar-SA" sz="1600" u="none" strike="noStrike" cap="none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مسؤول الموارد البشرية</a:t>
                      </a:r>
                      <a:endParaRPr sz="160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ct val="100000"/>
                        <a:buFont typeface="+mj-lt"/>
                        <a:buNone/>
                      </a:pPr>
                      <a:r>
                        <a:rPr lang="ar-SA" sz="1600" dirty="0"/>
                        <a:t>31/03/2026</a:t>
                      </a:r>
                      <a:endParaRPr lang="en-US" sz="1600" u="none" strike="noStrike" cap="none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100</a:t>
                      </a:r>
                      <a:endParaRPr sz="160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Sakkal Majalla"/>
                        <a:buNone/>
                        <a:tabLst/>
                        <a:defRPr/>
                      </a:pPr>
                      <a:r>
                        <a:rPr lang="ar-SA" sz="1400" dirty="0"/>
                        <a:t>عدد المتطوعين المسجلين</a:t>
                      </a:r>
                      <a:endParaRPr lang="ar-SA" sz="1400" u="none" strike="noStrike" cap="none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Sakkal Majalla"/>
                        <a:buNone/>
                      </a:pPr>
                      <a:endParaRPr sz="1600" u="none" strike="noStrike" cap="none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  <a:tabLst/>
                        <a:defRPr/>
                      </a:pPr>
                      <a:r>
                        <a:rPr lang="ar-SA" sz="1600" u="none" strike="noStrike" cap="none" dirty="0"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8000</a:t>
                      </a:r>
                      <a:endParaRPr lang="en-US" sz="1600" u="none" strike="noStrike" cap="none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  <a:tabLst/>
                        <a:defRPr/>
                      </a:pPr>
                      <a:r>
                        <a:rPr lang="ar-SA" sz="1600" u="none" strike="noStrike" cap="none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مسؤول الموارد البشرية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  <a:tabLst/>
                        <a:defRPr/>
                      </a:pPr>
                      <a:r>
                        <a:rPr lang="ar-SA" sz="1600" dirty="0"/>
                        <a:t>30/06/2026</a:t>
                      </a:r>
                      <a:endParaRPr lang="en-US" sz="1600" u="none" strike="noStrike" cap="none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  <a:tabLst/>
                        <a:defRPr/>
                      </a:pPr>
                      <a:r>
                        <a:rPr lang="ar-SA" sz="1600" u="none" strike="noStrike" cap="none" dirty="0"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80%</a:t>
                      </a:r>
                      <a:endParaRPr lang="en-US" sz="1600" u="none" strike="noStrike" cap="none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Sakkal Majalla"/>
                        <a:buNone/>
                        <a:tabLst/>
                        <a:defRPr/>
                      </a:pPr>
                      <a:r>
                        <a:rPr lang="ar-SA" sz="1600" dirty="0"/>
                        <a:t>نسبة المتطوعين الذين اجتازوا التدريب</a:t>
                      </a:r>
                      <a:endParaRPr lang="ar-SA" sz="1600" u="none" strike="noStrike" cap="none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Sakkal Majalla"/>
                        <a:buNone/>
                      </a:pPr>
                      <a:endParaRPr sz="1600" u="none" strike="noStrike" cap="none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r>
                        <a:rPr lang="ar-SA" sz="1600" u="none" strike="noStrike" cap="none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4000</a:t>
                      </a:r>
                      <a:endParaRPr sz="160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  <a:tabLst/>
                        <a:defRPr/>
                      </a:pPr>
                      <a:r>
                        <a:rPr lang="ar-SA" sz="1600" u="none" strike="noStrike" cap="none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مسؤول الموارد البشرية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  <a:tabLst/>
                        <a:defRPr/>
                      </a:pPr>
                      <a:r>
                        <a:rPr lang="ar-SA" sz="1600" dirty="0"/>
                        <a:t>30/09/2026</a:t>
                      </a:r>
                      <a:endParaRPr lang="en-US" sz="1600" u="none" strike="noStrike" cap="none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  <a:tabLst/>
                        <a:defRPr/>
                      </a:pPr>
                      <a:r>
                        <a:rPr lang="ar-SA" sz="1600" u="none" strike="noStrike" cap="none" dirty="0"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85%</a:t>
                      </a:r>
                      <a:endParaRPr lang="en-US" sz="1600" u="none" strike="noStrike" cap="none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Sakkal Majalla"/>
                        <a:buNone/>
                        <a:tabLst/>
                        <a:defRPr/>
                      </a:pPr>
                      <a:r>
                        <a:rPr lang="ar-SA" sz="1600" dirty="0"/>
                        <a:t>نسبة الرضا</a:t>
                      </a:r>
                      <a:endParaRPr lang="ar-SA" sz="1600" u="none" strike="noStrike" cap="none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Sakkal Majalla"/>
                        <a:buNone/>
                      </a:pPr>
                      <a:endParaRPr sz="1600" u="none" strike="noStrike" cap="none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Sakkal Majalla"/>
                        <a:buNone/>
                      </a:pPr>
                      <a:endParaRPr sz="16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Sakkal Majalla"/>
                        <a:buNone/>
                      </a:pPr>
                      <a:endParaRPr sz="1600" u="none" strike="noStrike" cap="none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Sakkal Majalla"/>
                        <a:buNone/>
                      </a:pPr>
                      <a:endParaRPr sz="16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Sakkal Majalla"/>
                        <a:buNone/>
                      </a:pPr>
                      <a:endParaRPr sz="1600" u="none" strike="noStrike" cap="none">
                        <a:solidFill>
                          <a:srgbClr val="1D1B10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5">
                <a:tc gridSpan="3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r>
                        <a:rPr lang="ar-SA" sz="160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الحلول</a:t>
                      </a:r>
                      <a:endParaRPr sz="16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C65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r>
                        <a:rPr lang="ar-SA" sz="1600" u="none" strike="noStrike" cap="none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المخاطر</a:t>
                      </a:r>
                      <a:endParaRPr sz="1600" u="none" strike="noStrike" cap="none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C65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5">
                <a:tc gridSpan="3"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  <a:tabLst/>
                        <a:defRPr/>
                      </a:pPr>
                      <a:r>
                        <a:rPr lang="ar-SA" sz="1600" dirty="0"/>
                        <a:t>تحسين معايير الاختيار والتسويق الموجه</a:t>
                      </a:r>
                      <a:endParaRPr lang="en-US" sz="1600" u="none" strike="noStrike" cap="none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ct val="100000"/>
                        <a:buFont typeface="+mj-lt"/>
                        <a:buNone/>
                      </a:pPr>
                      <a:r>
                        <a:rPr lang="ar-SA" sz="1600" dirty="0"/>
                        <a:t>استقطاب غير مناسب</a:t>
                      </a:r>
                      <a:endParaRPr lang="en-US" sz="1600" u="none" strike="noStrike" cap="none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5">
                <a:tc gridSpan="3"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  <a:tabLst/>
                        <a:defRPr/>
                      </a:pPr>
                      <a:r>
                        <a:rPr lang="ar-SA" sz="1600" dirty="0"/>
                        <a:t>تدريب عملي + تقييم مستمر</a:t>
                      </a:r>
                      <a:endParaRPr lang="en-US" sz="1600" u="none" strike="noStrike" cap="none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  <a:tabLst/>
                        <a:defRPr/>
                      </a:pPr>
                      <a:r>
                        <a:rPr lang="ar-SA" sz="1600" dirty="0"/>
                        <a:t>ضعف اكتساب المهارات</a:t>
                      </a:r>
                      <a:endParaRPr lang="en-US" sz="1600" u="none" strike="noStrike" cap="none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5">
                <a:tc gridSpan="3"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  <a:tabLst/>
                        <a:defRPr/>
                      </a:pPr>
                      <a:r>
                        <a:rPr lang="ar-SA" sz="1600" dirty="0"/>
                        <a:t>متابعة + تحسين بيئة العمل</a:t>
                      </a:r>
                      <a:endParaRPr lang="en-US" sz="1600" u="none" strike="noStrike" cap="none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  <a:tabLst/>
                        <a:defRPr/>
                      </a:pPr>
                      <a:r>
                        <a:rPr lang="ar-SA" sz="1600" dirty="0"/>
                        <a:t>تجربة سلبية</a:t>
                      </a:r>
                      <a:endParaRPr lang="en-US" sz="1600" u="none" strike="noStrike" cap="none" dirty="0"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5">
                <a:tc gridSpan="3"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4" name="صورة 3">
            <a:extLst>
              <a:ext uri="{FF2B5EF4-FFF2-40B4-BE49-F238E27FC236}">
                <a16:creationId xmlns:a16="http://schemas.microsoft.com/office/drawing/2014/main" id="{53C8E55E-454E-2B77-244A-672DF8FF15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oogle Shape;406;p19"/>
          <p:cNvGrpSpPr/>
          <p:nvPr/>
        </p:nvGrpSpPr>
        <p:grpSpPr>
          <a:xfrm>
            <a:off x="2208653" y="312470"/>
            <a:ext cx="9478103" cy="6286820"/>
            <a:chOff x="2208653" y="312470"/>
            <a:chExt cx="9478103" cy="6286820"/>
          </a:xfrm>
        </p:grpSpPr>
        <p:sp>
          <p:nvSpPr>
            <p:cNvPr id="407" name="Google Shape;407;p19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ROG Fonts" panose="00000500000000000000" pitchFamily="50" charset="0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408" name="Google Shape;408;p19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ROG Fonts" panose="00000500000000000000" pitchFamily="50" charset="0"/>
                <a:cs typeface="Sakkal Majalla" panose="02000000000000000000" pitchFamily="2" charset="-78"/>
                <a:sym typeface="Arial"/>
              </a:endParaRPr>
            </a:p>
          </p:txBody>
        </p:sp>
      </p:grpSp>
      <p:sp>
        <p:nvSpPr>
          <p:cNvPr id="409" name="Google Shape;409;p19"/>
          <p:cNvSpPr/>
          <p:nvPr/>
        </p:nvSpPr>
        <p:spPr>
          <a:xfrm>
            <a:off x="2862501" y="-956810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"/>
              <a:buFont typeface="Arial"/>
              <a:buNone/>
            </a:pPr>
            <a:endParaRPr sz="2727" b="0" i="0" u="none" strike="noStrike" cap="none">
              <a:solidFill>
                <a:srgbClr val="445469"/>
              </a:solidFill>
              <a:latin typeface="ROG Fonts" panose="00000500000000000000" pitchFamily="50" charset="0"/>
              <a:cs typeface="Sakkal Majalla" panose="02000000000000000000" pitchFamily="2" charset="-78"/>
              <a:sym typeface="Arial"/>
            </a:endParaRPr>
          </a:p>
        </p:txBody>
      </p:sp>
      <p:graphicFrame>
        <p:nvGraphicFramePr>
          <p:cNvPr id="410" name="Google Shape;410;p19"/>
          <p:cNvGraphicFramePr/>
          <p:nvPr>
            <p:extLst>
              <p:ext uri="{D42A27DB-BD31-4B8C-83A1-F6EECF244321}">
                <p14:modId xmlns:p14="http://schemas.microsoft.com/office/powerpoint/2010/main" val="285491630"/>
              </p:ext>
            </p:extLst>
          </p:nvPr>
        </p:nvGraphicFramePr>
        <p:xfrm>
          <a:off x="501527" y="1112519"/>
          <a:ext cx="10777319" cy="5153431"/>
        </p:xfrm>
        <a:graphic>
          <a:graphicData uri="http://schemas.openxmlformats.org/drawingml/2006/table">
            <a:tbl>
              <a:tblPr>
                <a:noFill/>
                <a:tableStyleId>{E2C410D8-3CFC-42BA-998A-B48A6FB24EE8}</a:tableStyleId>
              </a:tblPr>
              <a:tblGrid>
                <a:gridCol w="3558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4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8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9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4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9431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النطاق المستهدف</a:t>
                      </a:r>
                      <a:endParaRPr sz="1400" b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6B7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نقاط قوة النطاق</a:t>
                      </a:r>
                      <a:endParaRPr sz="1400" b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FB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dirty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نقاط ضعف النطاق</a:t>
                      </a:r>
                      <a:endParaRPr sz="1400" b="0" dirty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FB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3707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Noto Sans Symbols"/>
                        <a:buNone/>
                      </a:pPr>
                      <a:r>
                        <a:rPr lang="ar-SA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الفضاء الرقمي (إدارة واستقطاب وتشغيل المتطوعين)</a:t>
                      </a:r>
                      <a:endParaRPr sz="1200" b="0" dirty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85750" marR="0" lvl="0" indent="-17145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Arial"/>
                        <a:buNone/>
                      </a:pPr>
                      <a:r>
                        <a:rPr lang="ar-SA" dirty="0"/>
                        <a:t>سهولة الوصول للمتطوعين عبر الإنترنت 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marR="0" lvl="0" indent="-17145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Arial"/>
                        <a:buNone/>
                      </a:pPr>
                      <a:r>
                        <a:rPr lang="ar-SA" dirty="0"/>
                        <a:t>ضعف الالتزام عند بعض المتطوعين 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489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فرص النطاق</a:t>
                      </a:r>
                      <a:endParaRPr sz="1400" b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FBF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قوة + فرصة</a:t>
                      </a:r>
                      <a:endParaRPr sz="1200" b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4C5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ضعف + فرصة</a:t>
                      </a:r>
                      <a:endParaRPr sz="1200" b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4C5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489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المستهدف</a:t>
                      </a:r>
                      <a:endParaRPr sz="12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المؤشر</a:t>
                      </a:r>
                      <a:endParaRPr sz="12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المهمة</a:t>
                      </a:r>
                      <a:endParaRPr sz="12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المستهدف</a:t>
                      </a:r>
                      <a:endParaRPr sz="12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المؤشر</a:t>
                      </a:r>
                      <a:endParaRPr sz="12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المهمة</a:t>
                      </a:r>
                      <a:endParaRPr sz="12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797">
                <a:tc>
                  <a:txBody>
                    <a:bodyPr/>
                    <a:lstStyle/>
                    <a:p>
                      <a:pPr marL="2857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Arial"/>
                        <a:buNone/>
                      </a:pPr>
                      <a:r>
                        <a:rPr lang="ar-SA" sz="1800" dirty="0"/>
                        <a:t>وجود شباب راغبين بالتطوع 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Arial"/>
                        <a:buNone/>
                      </a:pPr>
                      <a:r>
                        <a:rPr lang="ar-SA" sz="1800" dirty="0"/>
                        <a:t>150 متقدم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714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tabLst/>
                        <a:defRPr/>
                      </a:pPr>
                      <a:r>
                        <a:rPr lang="ar-SA" sz="1800" dirty="0"/>
                        <a:t>عدد المتقدمين</a:t>
                      </a:r>
                      <a:endParaRPr lang="ar-SA"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285750" marR="0" lvl="0" indent="-1714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Arial"/>
                        <a:buNone/>
                      </a:pP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rtl="1"/>
                      <a:r>
                        <a:rPr lang="ar-SA" dirty="0"/>
                        <a:t>إطلاق حملة استقطاب رقمية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Arial"/>
                        <a:buNone/>
                      </a:pPr>
                      <a:r>
                        <a:rPr lang="ar-SA" sz="1800" dirty="0"/>
                        <a:t>2 دورة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Arial"/>
                        <a:buNone/>
                      </a:pPr>
                      <a:r>
                        <a:rPr lang="ar-SA" sz="1800" dirty="0"/>
                        <a:t>عدد الدورات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Arial"/>
                        <a:buNone/>
                      </a:pPr>
                      <a:r>
                        <a:rPr lang="ar-SA" sz="1800" dirty="0"/>
                        <a:t>تدريب المتطوعين الجدد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489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تهديدات النطاق</a:t>
                      </a:r>
                      <a:endParaRPr sz="1400" b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FBF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قوة + تهديد</a:t>
                      </a:r>
                      <a:endParaRPr sz="1200" b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4C5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ضعف + تهديد</a:t>
                      </a:r>
                      <a:endParaRPr sz="1200" b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4C5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489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المستهدف</a:t>
                      </a:r>
                      <a:endParaRPr sz="12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المؤشر</a:t>
                      </a:r>
                      <a:endParaRPr sz="12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المهمة</a:t>
                      </a:r>
                      <a:endParaRPr sz="12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المستهدف</a:t>
                      </a:r>
                      <a:endParaRPr sz="12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المؤشر</a:t>
                      </a:r>
                      <a:endParaRPr sz="12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المهمة</a:t>
                      </a:r>
                      <a:endParaRPr sz="12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797">
                <a:tc>
                  <a:txBody>
                    <a:bodyPr/>
                    <a:lstStyle/>
                    <a:p>
                      <a:pPr marL="2857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Arial"/>
                        <a:buNone/>
                      </a:pPr>
                      <a:r>
                        <a:rPr lang="ar-SA" sz="1800" dirty="0"/>
                        <a:t>انسحاب المتطوعين 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Arial"/>
                        <a:buNone/>
                      </a:pPr>
                      <a:r>
                        <a:rPr lang="ar-SA" sz="1800" dirty="0"/>
                        <a:t>90%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Arial"/>
                        <a:buNone/>
                      </a:pPr>
                      <a:r>
                        <a:rPr lang="ar-SA" sz="1800" dirty="0"/>
                        <a:t>نسبة الالتزام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Arial"/>
                        <a:buNone/>
                      </a:pPr>
                      <a:r>
                        <a:rPr lang="ar-SA" sz="1800" dirty="0"/>
                        <a:t>تنظيم المهام بوضوح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Arial"/>
                        <a:buNone/>
                      </a:pPr>
                      <a:r>
                        <a:rPr lang="ar-SA" sz="1800" dirty="0"/>
                        <a:t>10 متطوعين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Arial"/>
                        <a:buNone/>
                      </a:pPr>
                      <a:r>
                        <a:rPr lang="ar-SA" sz="1800" dirty="0"/>
                        <a:t>عدد الاحتياط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Arial"/>
                        <a:buNone/>
                      </a:pPr>
                      <a:r>
                        <a:rPr lang="ar-SA" sz="1800" dirty="0"/>
                        <a:t>توفير بدلاء</a:t>
                      </a:r>
                      <a:endParaRPr sz="18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787BDA00-702E-42BB-8FBC-B3137E781F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" name="Google Shape;420;p20"/>
          <p:cNvGrpSpPr/>
          <p:nvPr/>
        </p:nvGrpSpPr>
        <p:grpSpPr>
          <a:xfrm>
            <a:off x="2208653" y="312470"/>
            <a:ext cx="9478103" cy="6286820"/>
            <a:chOff x="2208653" y="312470"/>
            <a:chExt cx="9478103" cy="6286820"/>
          </a:xfrm>
        </p:grpSpPr>
        <p:sp>
          <p:nvSpPr>
            <p:cNvPr id="421" name="Google Shape;421;p20"/>
            <p:cNvSpPr/>
            <p:nvPr/>
          </p:nvSpPr>
          <p:spPr>
            <a:xfrm>
              <a:off x="11591506" y="312470"/>
              <a:ext cx="95250" cy="373380"/>
            </a:xfrm>
            <a:custGeom>
              <a:avLst/>
              <a:gdLst/>
              <a:ahLst/>
              <a:cxnLst/>
              <a:rect l="l" t="t" r="r" b="b"/>
              <a:pathLst>
                <a:path w="95250" h="373380" extrusionOk="0">
                  <a:moveTo>
                    <a:pt x="95250" y="0"/>
                  </a:moveTo>
                  <a:lnTo>
                    <a:pt x="0" y="0"/>
                  </a:lnTo>
                  <a:lnTo>
                    <a:pt x="0" y="373062"/>
                  </a:lnTo>
                  <a:lnTo>
                    <a:pt x="95250" y="37306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0B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  <p:sp>
          <p:nvSpPr>
            <p:cNvPr id="422" name="Google Shape;422;p20"/>
            <p:cNvSpPr/>
            <p:nvPr/>
          </p:nvSpPr>
          <p:spPr>
            <a:xfrm>
              <a:off x="2208653" y="542660"/>
              <a:ext cx="9438640" cy="6056630"/>
            </a:xfrm>
            <a:custGeom>
              <a:avLst/>
              <a:gdLst/>
              <a:ahLst/>
              <a:cxnLst/>
              <a:rect l="l" t="t" r="r" b="b"/>
              <a:pathLst>
                <a:path w="9438640" h="6056630" extrusionOk="0">
                  <a:moveTo>
                    <a:pt x="0" y="6056312"/>
                  </a:moveTo>
                  <a:lnTo>
                    <a:pt x="9294152" y="6056312"/>
                  </a:lnTo>
                  <a:lnTo>
                    <a:pt x="9339747" y="6048957"/>
                  </a:lnTo>
                  <a:lnTo>
                    <a:pt x="9379347" y="6028477"/>
                  </a:lnTo>
                  <a:lnTo>
                    <a:pt x="9410576" y="5997248"/>
                  </a:lnTo>
                  <a:lnTo>
                    <a:pt x="9431056" y="5957648"/>
                  </a:lnTo>
                  <a:lnTo>
                    <a:pt x="9438411" y="5912053"/>
                  </a:lnTo>
                  <a:lnTo>
                    <a:pt x="9438411" y="0"/>
                  </a:lnTo>
                </a:path>
              </a:pathLst>
            </a:custGeom>
            <a:noFill/>
            <a:ln w="10250" cap="flat" cmpd="sng">
              <a:solidFill>
                <a:srgbClr val="30BE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endParaRPr>
            </a:p>
          </p:txBody>
        </p:sp>
      </p:grpSp>
      <p:sp>
        <p:nvSpPr>
          <p:cNvPr id="423" name="Google Shape;423;p20"/>
          <p:cNvSpPr/>
          <p:nvPr/>
        </p:nvSpPr>
        <p:spPr>
          <a:xfrm>
            <a:off x="2862501" y="-956810"/>
            <a:ext cx="1088496" cy="8813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"/>
              <a:buFont typeface="Arial"/>
              <a:buNone/>
            </a:pPr>
            <a:endParaRPr sz="2727" b="0" i="0" u="none" strike="noStrike" cap="none">
              <a:solidFill>
                <a:srgbClr val="445469"/>
              </a:solidFill>
              <a:latin typeface="Sakkal Majalla" panose="02000000000000000000" pitchFamily="2" charset="-78"/>
              <a:cs typeface="Sakkal Majalla" panose="02000000000000000000" pitchFamily="2" charset="-78"/>
              <a:sym typeface="Arial"/>
            </a:endParaRPr>
          </a:p>
        </p:txBody>
      </p:sp>
      <p:graphicFrame>
        <p:nvGraphicFramePr>
          <p:cNvPr id="424" name="Google Shape;424;p20"/>
          <p:cNvGraphicFramePr/>
          <p:nvPr>
            <p:extLst>
              <p:ext uri="{D42A27DB-BD31-4B8C-83A1-F6EECF244321}">
                <p14:modId xmlns:p14="http://schemas.microsoft.com/office/powerpoint/2010/main" val="1008606184"/>
              </p:ext>
            </p:extLst>
          </p:nvPr>
        </p:nvGraphicFramePr>
        <p:xfrm>
          <a:off x="549992" y="1350010"/>
          <a:ext cx="10639000" cy="2480450"/>
        </p:xfrm>
        <a:graphic>
          <a:graphicData uri="http://schemas.openxmlformats.org/drawingml/2006/table">
            <a:tbl>
              <a:tblPr>
                <a:noFill/>
                <a:tableStyleId>{E2C410D8-3CFC-42BA-998A-B48A6FB24EE8}</a:tableStyleId>
              </a:tblPr>
              <a:tblGrid>
                <a:gridCol w="176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4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2200">
                <a:tc gridSpan="5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مصفوفة إدارة المخاطر </a:t>
                      </a:r>
                      <a:r>
                        <a:rPr lang="ar-SA" sz="1600" b="0" dirty="0" err="1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Matrix</a:t>
                      </a:r>
                      <a:r>
                        <a:rPr lang="ar-SA" sz="16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 </a:t>
                      </a:r>
                      <a:r>
                        <a:rPr lang="ar-SA" sz="1600" b="0" dirty="0" err="1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of</a:t>
                      </a:r>
                      <a:r>
                        <a:rPr lang="ar-SA" sz="16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 </a:t>
                      </a:r>
                      <a:r>
                        <a:rPr lang="ar-SA" sz="1600" b="0" dirty="0" err="1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risk</a:t>
                      </a:r>
                      <a:r>
                        <a:rPr lang="ar-SA" sz="16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 </a:t>
                      </a:r>
                      <a:r>
                        <a:rPr lang="ar-SA" sz="1600" b="0" dirty="0" err="1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probability</a:t>
                      </a:r>
                      <a:r>
                        <a:rPr lang="ar-SA" sz="16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 &amp; </a:t>
                      </a:r>
                      <a:r>
                        <a:rPr lang="ar-SA" sz="1600" b="0" dirty="0" err="1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impacts</a:t>
                      </a:r>
                      <a:r>
                        <a:rPr lang="ar-SA" sz="16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 </a:t>
                      </a:r>
                      <a:r>
                        <a:rPr lang="ar-SA" sz="12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 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6775" marR="6677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CC4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125">
                <a:tc rowSpan="2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مخاطر نطاق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4C5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marR="0" lvl="0" indent="-10795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Noto Sans Symbols"/>
                        <a:buNone/>
                      </a:pPr>
                      <a:endParaRPr sz="1000" b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الأثر المحتمل على المشروع</a:t>
                      </a:r>
                      <a:endParaRPr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6775" marR="667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4C5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900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منخفض </a:t>
                      </a:r>
                      <a:endParaRPr sz="1200" b="0" dirty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متوسط</a:t>
                      </a:r>
                      <a:r>
                        <a:rPr lang="ar-SA" sz="1600" b="0" dirty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 </a:t>
                      </a:r>
                      <a:endParaRPr sz="1200" b="0" dirty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مرتفع</a:t>
                      </a:r>
                      <a:endParaRPr sz="1200" b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25">
                <a:tc rowSpan="3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احتمالية وقوع الخطر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4C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 dirty="0">
                          <a:solidFill>
                            <a:schemeClr val="lt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مرتفع</a:t>
                      </a:r>
                      <a:endParaRPr sz="1200" b="0" dirty="0">
                        <a:solidFill>
                          <a:schemeClr val="lt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200" dirty="0"/>
                        <a:t>تأخر بسيط في تنفيذ بعض المهام</a:t>
                      </a:r>
                      <a:endParaRPr lang="ar-SA"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dirty="0"/>
                        <a:t>ضعف التزام بعض المتطوعين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dirty="0"/>
                        <a:t>انسحاب عدد كبير من المتطوعين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500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متوسط</a:t>
                      </a:r>
                      <a:endParaRPr sz="12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200" dirty="0"/>
                        <a:t>سوء تواصل داخلي بسيط</a:t>
                      </a:r>
                      <a:endParaRPr lang="ar-SA"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dirty="0"/>
                        <a:t>تأخير في تسليم المهام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dirty="0"/>
                        <a:t>انخفاض جودة العمل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500">
                <a:tc v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b="0">
                          <a:solidFill>
                            <a:schemeClr val="dk1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منخفض</a:t>
                      </a:r>
                      <a:endParaRPr sz="1200" b="0">
                        <a:solidFill>
                          <a:schemeClr val="dk1"/>
                        </a:solidFill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200" dirty="0"/>
                        <a:t>مشاكل تقنية بسيطة</a:t>
                      </a:r>
                      <a:endParaRPr lang="ar-SA"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dirty="0"/>
                        <a:t>ضعف وضوح الأدوار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dirty="0"/>
                        <a:t>فقدان قائد فريق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775" marR="667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25" name="Google Shape;425;p20"/>
          <p:cNvGraphicFramePr/>
          <p:nvPr>
            <p:extLst>
              <p:ext uri="{D42A27DB-BD31-4B8C-83A1-F6EECF244321}">
                <p14:modId xmlns:p14="http://schemas.microsoft.com/office/powerpoint/2010/main" val="33632231"/>
              </p:ext>
            </p:extLst>
          </p:nvPr>
        </p:nvGraphicFramePr>
        <p:xfrm>
          <a:off x="549993" y="4045171"/>
          <a:ext cx="10639000" cy="2228695"/>
        </p:xfrm>
        <a:graphic>
          <a:graphicData uri="http://schemas.openxmlformats.org/drawingml/2006/table">
            <a:tbl>
              <a:tblPr>
                <a:noFill/>
                <a:tableStyleId>{E2C410D8-3CFC-42BA-998A-B48A6FB24EE8}</a:tableStyleId>
              </a:tblPr>
              <a:tblGrid>
                <a:gridCol w="49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6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3775">
                <a:tc gridSpan="4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i="0" u="none" strike="noStrike" cap="none" dirty="0">
                          <a:solidFill>
                            <a:srgbClr val="FFFFFF"/>
                          </a:solidFill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استراتيجيات الاستجابة للمخاطر</a:t>
                      </a:r>
                      <a:r>
                        <a:rPr lang="ar-SA" sz="14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  </a:t>
                      </a:r>
                      <a:r>
                        <a:rPr lang="ar-SA" sz="1400" b="0" dirty="0" err="1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Risk</a:t>
                      </a:r>
                      <a:r>
                        <a:rPr lang="ar-SA" sz="14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  </a:t>
                      </a:r>
                      <a:r>
                        <a:rPr lang="ar-SA" sz="1400" b="0" dirty="0" err="1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Response</a:t>
                      </a:r>
                      <a:r>
                        <a:rPr lang="ar-SA" sz="14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 </a:t>
                      </a:r>
                      <a:r>
                        <a:rPr lang="ar-SA" sz="1400" b="0" dirty="0" err="1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Strategies</a:t>
                      </a:r>
                      <a:endParaRPr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6800" marR="6680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4C5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775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م</a:t>
                      </a:r>
                      <a:endParaRPr sz="12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800" marR="6680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4C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الخطر المتوقع</a:t>
                      </a:r>
                      <a:endParaRPr sz="17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6800" marR="668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توصيف الاستجابة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1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(تجنُّب – تخفيف – نقل – قبول)</a:t>
                      </a:r>
                      <a:endParaRPr sz="16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800" marR="668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وصف الحلول الاحترازية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800" marR="668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25">
                <a:tc gridSpan="4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300" b="0" dirty="0">
                          <a:latin typeface="Sakkal Majalla" panose="02000000000000000000" pitchFamily="2" charset="-78"/>
                          <a:ea typeface="Arial"/>
                          <a:cs typeface="Sakkal Majalla" panose="02000000000000000000" pitchFamily="2" charset="-78"/>
                          <a:sym typeface="Arial"/>
                        </a:rPr>
                        <a:t>تجنب: لا تفعل أو افعل بطريقة مختلفة،  تخفيف: تقليل احتمالية أو تأثير المخاطرة،  نقل: مشاركة بعض جوانب المهمة مع طرف آخر،  قبول: عدم اتخاذ إجراء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800" marR="6680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FB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650">
                <a:tc>
                  <a:txBody>
                    <a:bodyPr/>
                    <a:lstStyle/>
                    <a:p>
                      <a:pPr marL="342900" marR="0" lvl="0" indent="-26670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endParaRPr sz="12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800" marR="6680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4C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800" marR="668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dirty="0"/>
                        <a:t>تجنّب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800" marR="66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dirty="0"/>
                        <a:t>عدم تكليف المتطوعين بمهام كبيرة دفعة واحدة وتقسيمها لمهام صغيرة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800" marR="66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425">
                <a:tc>
                  <a:txBody>
                    <a:bodyPr/>
                    <a:lstStyle/>
                    <a:p>
                      <a:pPr marL="342900" marR="0" lvl="0" indent="-26670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endParaRPr sz="12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800" marR="6680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4C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dirty="0"/>
                        <a:t>ضعف الالتزام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800" marR="668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dirty="0"/>
                        <a:t>تجنّب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800" marR="66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dirty="0"/>
                        <a:t>اختيار متطوعين ملتزمين من البداية عبر معايير قبول واضحة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800" marR="66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775">
                <a:tc>
                  <a:txBody>
                    <a:bodyPr/>
                    <a:lstStyle/>
                    <a:p>
                      <a:pPr marL="342900" marR="0" lvl="0" indent="-26670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endParaRPr sz="1200" b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800" marR="6680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4C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dirty="0"/>
                        <a:t>ضغط العمل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800" marR="668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dirty="0"/>
                        <a:t>تخفيف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800" marR="66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200" dirty="0"/>
                        <a:t>تقليل عدد المهام لكل متطوع</a:t>
                      </a:r>
                      <a:endParaRPr sz="1200" b="0" dirty="0">
                        <a:latin typeface="Sakkal Majalla" panose="02000000000000000000" pitchFamily="2" charset="-78"/>
                        <a:ea typeface="Arial"/>
                        <a:cs typeface="Sakkal Majalla" panose="02000000000000000000" pitchFamily="2" charset="-78"/>
                        <a:sym typeface="Arial"/>
                      </a:endParaRPr>
                    </a:p>
                  </a:txBody>
                  <a:tcPr marL="66800" marR="66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مربع نص 2">
            <a:extLst>
              <a:ext uri="{FF2B5EF4-FFF2-40B4-BE49-F238E27FC236}">
                <a16:creationId xmlns:a16="http://schemas.microsoft.com/office/drawing/2014/main" id="{4224D82C-CE36-E3A8-8420-38D05BD4A33D}"/>
              </a:ext>
            </a:extLst>
          </p:cNvPr>
          <p:cNvSpPr txBox="1"/>
          <p:nvPr/>
        </p:nvSpPr>
        <p:spPr>
          <a:xfrm>
            <a:off x="1066507" y="5179350"/>
            <a:ext cx="5935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dirty="0"/>
              <a:t>التأخير في الإنجاز</a:t>
            </a:r>
            <a:endParaRPr lang="ar-SA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A6BEB2D6-9597-D962-A94A-78C0F9A1EF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35" t="21740" r="34174" b="23431"/>
          <a:stretch>
            <a:fillRect/>
          </a:stretch>
        </p:blipFill>
        <p:spPr>
          <a:xfrm>
            <a:off x="227207" y="176911"/>
            <a:ext cx="605965" cy="7706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نسق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1262</Words>
  <Application>Microsoft Office PowerPoint</Application>
  <PresentationFormat>مخصص</PresentationFormat>
  <Paragraphs>435</Paragraphs>
  <Slides>19</Slides>
  <Notes>19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10</vt:i4>
      </vt:variant>
      <vt:variant>
        <vt:lpstr>نسق</vt:lpstr>
      </vt:variant>
      <vt:variant>
        <vt:i4>2</vt:i4>
      </vt:variant>
      <vt:variant>
        <vt:lpstr>عناوين الشرائح</vt:lpstr>
      </vt:variant>
      <vt:variant>
        <vt:i4>19</vt:i4>
      </vt:variant>
    </vt:vector>
  </HeadingPairs>
  <TitlesOfParts>
    <vt:vector size="31" baseType="lpstr">
      <vt:lpstr>Courier New</vt:lpstr>
      <vt:lpstr>ROG Fonts</vt:lpstr>
      <vt:lpstr>Symbol</vt:lpstr>
      <vt:lpstr>Wingdings</vt:lpstr>
      <vt:lpstr>Noto Sans Symbols</vt:lpstr>
      <vt:lpstr>Calibri</vt:lpstr>
      <vt:lpstr>Sakkal Majalla</vt:lpstr>
      <vt:lpstr>Arial</vt:lpstr>
      <vt:lpstr>Play</vt:lpstr>
      <vt:lpstr>Neo Sans Arabic Medium</vt:lpstr>
      <vt:lpstr>Office Theme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Desktop</dc:creator>
  <cp:lastModifiedBy>xnx6p</cp:lastModifiedBy>
  <cp:revision>8</cp:revision>
  <dcterms:created xsi:type="dcterms:W3CDTF">2024-11-13T12:40:18Z</dcterms:created>
  <dcterms:modified xsi:type="dcterms:W3CDTF">2026-04-20T11:33:30Z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2024-11-13T00:00:00Z</vt:filetime>
  </property>
  <property fmtid="{D5CDD505-2E9C-101B-9397-08002B2CF9AE}" pid="3" name="Creator">
    <vt:lpwstr>Adobe Illustrator 29.0 (Macintosh)</vt:lpwstr>
  </property>
  <property fmtid="{D5CDD505-2E9C-101B-9397-08002B2CF9AE}" pid="4" name="LastSaved">
    <vt:filetime>2024-11-13T00:00:00Z</vt:filetime>
  </property>
  <property fmtid="{D5CDD505-2E9C-101B-9397-08002B2CF9AE}" pid="5" name="Producer">
    <vt:lpwstr>Adobe PDF library 17.00</vt:lpwstr>
  </property>
</Properties>
</file>