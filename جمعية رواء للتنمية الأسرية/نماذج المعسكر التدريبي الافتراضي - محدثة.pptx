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4"/>
    <p:sldMasterId id="2147483696" r:id="rId5"/>
  </p:sldMasterIdLst>
  <p:notesMasterIdLst>
    <p:notesMasterId r:id="rId17"/>
  </p:notesMasterIdLst>
  <p:sldIdLst>
    <p:sldId id="1515" r:id="rId6"/>
    <p:sldId id="1525" r:id="rId7"/>
    <p:sldId id="1529" r:id="rId8"/>
    <p:sldId id="1523" r:id="rId9"/>
    <p:sldId id="1517" r:id="rId10"/>
    <p:sldId id="1521" r:id="rId11"/>
    <p:sldId id="1530" r:id="rId12"/>
    <p:sldId id="1526" r:id="rId13"/>
    <p:sldId id="1531" r:id="rId14"/>
    <p:sldId id="1532" r:id="rId15"/>
    <p:sldId id="1533" r:id="rId16"/>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CC42"/>
    <a:srgbClr val="2FBFC0"/>
    <a:srgbClr val="104C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55D080-1506-4F7D-8AAB-7451ED6D2990}" v="95" dt="2024-07-15T06:35:28.170"/>
  </p1510:revLst>
</p1510:revInfo>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84550" autoAdjust="0"/>
  </p:normalViewPr>
  <p:slideViewPr>
    <p:cSldViewPr snapToGrid="0">
      <p:cViewPr>
        <p:scale>
          <a:sx n="50" d="100"/>
          <a:sy n="50" d="100"/>
        </p:scale>
        <p:origin x="29" y="4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F75E34CB-EDAD-49AE-8EF8-E8C026AD38E1}" type="datetimeFigureOut">
              <a:rPr lang="en-US" smtClean="0"/>
              <a:t>4/14/2026</a:t>
            </a:fld>
            <a:endParaRPr lang="en-US"/>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B45AF5AA-D1F2-4EBE-9075-A351E0815CFE}" type="slidenum">
              <a:rPr lang="en-US" smtClean="0"/>
              <a:t>‹#›</a:t>
            </a:fld>
            <a:endParaRPr lang="en-US"/>
          </a:p>
        </p:txBody>
      </p:sp>
    </p:spTree>
    <p:extLst>
      <p:ext uri="{BB962C8B-B14F-4D97-AF65-F5344CB8AC3E}">
        <p14:creationId xmlns:p14="http://schemas.microsoft.com/office/powerpoint/2010/main" val="7089022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B45AF5AA-D1F2-4EBE-9075-A351E0815CFE}" type="slidenum">
              <a:rPr lang="en-US" smtClean="0"/>
              <a:t>6</a:t>
            </a:fld>
            <a:endParaRPr lang="en-US"/>
          </a:p>
        </p:txBody>
      </p:sp>
    </p:spTree>
    <p:extLst>
      <p:ext uri="{BB962C8B-B14F-4D97-AF65-F5344CB8AC3E}">
        <p14:creationId xmlns:p14="http://schemas.microsoft.com/office/powerpoint/2010/main" val="2266481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B45AF5AA-D1F2-4EBE-9075-A351E0815CFE}" type="slidenum">
              <a:rPr lang="en-US" smtClean="0"/>
              <a:t>8</a:t>
            </a:fld>
            <a:endParaRPr lang="en-US"/>
          </a:p>
        </p:txBody>
      </p:sp>
    </p:spTree>
    <p:extLst>
      <p:ext uri="{BB962C8B-B14F-4D97-AF65-F5344CB8AC3E}">
        <p14:creationId xmlns:p14="http://schemas.microsoft.com/office/powerpoint/2010/main" val="3339060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noEditPoints="1"/>
          </p:cNvSpPr>
          <p:nvPr>
            <p:ph type="sldImg"/>
          </p:nvPr>
        </p:nvSpPr>
        <p:spPr/>
        <p:txBody>
          <a:bodyPr/>
          <a:lstStyle/>
          <a:p>
            <a:endParaRPr/>
          </a:p>
        </p:txBody>
      </p:sp>
      <p:sp>
        <p:nvSpPr>
          <p:cNvPr id="3" name="عنصر نائب للملاحظات 2"/>
          <p:cNvSpPr>
            <a:spLocks noGrp="1" noEditPoints="1"/>
          </p:cNvSpPr>
          <p:nvPr>
            <p:ph type="body" idx="1"/>
          </p:nvPr>
        </p:nvSpPr>
        <p:spPr/>
        <p:txBody>
          <a:bodyPr/>
          <a:lstStyle/>
          <a:p>
            <a:endParaRPr lang="en-US" dirty="0"/>
          </a:p>
        </p:txBody>
      </p:sp>
      <p:sp>
        <p:nvSpPr>
          <p:cNvPr id="4" name="عنصر نائب لرقم الشريحة 3"/>
          <p:cNvSpPr>
            <a:spLocks noGrp="1" noEditPoints="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A2AFE184-D2EA-41FB-AA82-C488BB9EF285}"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Tajawal" pitchFamily="2" charset="-78"/>
              </a:rPr>
              <a:pPr marL="0" marR="0" lvl="0" indent="0" algn="l" defTabSz="914400" rtl="1" eaLnBrk="1" fontAlgn="auto" latinLnBrk="0" hangingPunct="1">
                <a:lnSpc>
                  <a:spcPct val="100000"/>
                </a:lnSpc>
                <a:spcBef>
                  <a:spcPts val="0"/>
                </a:spcBef>
                <a:spcAft>
                  <a:spcPts val="0"/>
                </a:spcAft>
                <a:buClrTx/>
                <a:buSzTx/>
                <a:buFontTx/>
                <a:buNone/>
                <a:tabLst/>
                <a:defRPr/>
              </a:pPr>
              <a:t>10</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Tajawal" pitchFamily="2" charset="-78"/>
            </a:endParaRPr>
          </a:p>
        </p:txBody>
      </p:sp>
    </p:spTree>
    <p:extLst>
      <p:ext uri="{BB962C8B-B14F-4D97-AF65-F5344CB8AC3E}">
        <p14:creationId xmlns:p14="http://schemas.microsoft.com/office/powerpoint/2010/main" val="3479884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noEditPoints="1"/>
          </p:cNvSpPr>
          <p:nvPr>
            <p:ph type="sldImg"/>
          </p:nvPr>
        </p:nvSpPr>
        <p:spPr/>
        <p:txBody>
          <a:bodyPr/>
          <a:lstStyle/>
          <a:p>
            <a:endParaRPr/>
          </a:p>
        </p:txBody>
      </p:sp>
      <p:sp>
        <p:nvSpPr>
          <p:cNvPr id="3" name="عنصر نائب للملاحظات 2"/>
          <p:cNvSpPr>
            <a:spLocks noGrp="1" noEditPoints="1"/>
          </p:cNvSpPr>
          <p:nvPr>
            <p:ph type="body" idx="1"/>
          </p:nvPr>
        </p:nvSpPr>
        <p:spPr/>
        <p:txBody>
          <a:bodyPr/>
          <a:lstStyle/>
          <a:p>
            <a:endParaRPr lang="en-US" dirty="0"/>
          </a:p>
        </p:txBody>
      </p:sp>
      <p:sp>
        <p:nvSpPr>
          <p:cNvPr id="4" name="عنصر نائب لرقم الشريحة 3"/>
          <p:cNvSpPr>
            <a:spLocks noGrp="1" noEditPoints="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A2AFE184-D2EA-41FB-AA82-C488BB9EF285}"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Tajawal" pitchFamily="2" charset="-78"/>
              </a:rPr>
              <a:pPr marL="0" marR="0" lvl="0" indent="0" algn="l" defTabSz="914400" rtl="1" eaLnBrk="1" fontAlgn="auto" latinLnBrk="0" hangingPunct="1">
                <a:lnSpc>
                  <a:spcPct val="100000"/>
                </a:lnSpc>
                <a:spcBef>
                  <a:spcPts val="0"/>
                </a:spcBef>
                <a:spcAft>
                  <a:spcPts val="0"/>
                </a:spcAft>
                <a:buClrTx/>
                <a:buSzTx/>
                <a:buFontTx/>
                <a:buNone/>
                <a:tabLst/>
                <a:defRPr/>
              </a:pPr>
              <a:t>11</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Tajawal" pitchFamily="2" charset="-78"/>
            </a:endParaRPr>
          </a:p>
        </p:txBody>
      </p:sp>
    </p:spTree>
    <p:extLst>
      <p:ext uri="{BB962C8B-B14F-4D97-AF65-F5344CB8AC3E}">
        <p14:creationId xmlns:p14="http://schemas.microsoft.com/office/powerpoint/2010/main" val="1772768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7BCF3B7-E9E8-EE6B-5E09-1DC2FE255A7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7B6BC471-9403-7030-2E46-4C3106832B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14956A83-7136-BA7B-469C-6E767402E6FC}"/>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5" name="عنصر نائب للتذييل 4">
            <a:extLst>
              <a:ext uri="{FF2B5EF4-FFF2-40B4-BE49-F238E27FC236}">
                <a16:creationId xmlns:a16="http://schemas.microsoft.com/office/drawing/2014/main" id="{A88FC4AF-8B25-5EA5-2CCD-B9B24A6DE563}"/>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6F12AA54-6DD7-1FC7-CC39-A2A6635DCEA1}"/>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403125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BBB2C15-2076-738A-403C-8C30068BEFA1}"/>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4954804D-ABD8-4988-AB0C-CD25667F18E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3AFF6F7D-5F32-315C-6894-9EC7F73B61DA}"/>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5" name="عنصر نائب للتذييل 4">
            <a:extLst>
              <a:ext uri="{FF2B5EF4-FFF2-40B4-BE49-F238E27FC236}">
                <a16:creationId xmlns:a16="http://schemas.microsoft.com/office/drawing/2014/main" id="{B4C50DFD-38A6-E773-4DEF-BF3FE9B6218C}"/>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A9B4B89-683A-3F24-7FAA-94DC86F5903C}"/>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531058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1FFC560-B8D2-0EAA-1D81-8EE9F0542DD1}"/>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DFA765C9-1AD4-AE3A-6DAB-E172DBAAE0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2B297C74-20AB-5EF0-320A-CED9FDB4A1F9}"/>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5" name="عنصر نائب للتذييل 4">
            <a:extLst>
              <a:ext uri="{FF2B5EF4-FFF2-40B4-BE49-F238E27FC236}">
                <a16:creationId xmlns:a16="http://schemas.microsoft.com/office/drawing/2014/main" id="{6A21DACF-446D-15A6-26AF-933BA613734C}"/>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281D7A48-4A14-C7F6-A576-982EF47A26C1}"/>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3403640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7E9EFF3-4F43-7116-038D-5A52168B75C6}"/>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7327F9B7-1F49-36D6-C022-3E2BC7BAC22B}"/>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4E66AC4C-DFFC-B026-4906-2E944C4FC017}"/>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063F9DB4-A8FE-3001-DDA1-E54EDAE1E3AE}"/>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6" name="عنصر نائب للتذييل 5">
            <a:extLst>
              <a:ext uri="{FF2B5EF4-FFF2-40B4-BE49-F238E27FC236}">
                <a16:creationId xmlns:a16="http://schemas.microsoft.com/office/drawing/2014/main" id="{9C417BFD-7303-3C3D-49A2-C37CFD420939}"/>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A849A797-2F16-DD8B-5ECB-8127A47CC204}"/>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4116448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CDC75A9-5EE6-1D6F-C35A-2A9084F3EF4D}"/>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B53CC157-0E39-C218-5A05-E9C3E8F75A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382A693F-DBBC-2585-5B17-03AF2B2E86CE}"/>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8B39A6F3-13E8-E47E-CC08-6EF3C79FB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8C6044E8-0F03-A776-1E87-083EB0C8A760}"/>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3E7EFCB2-3CED-DF60-EC55-185265DD2D08}"/>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8" name="عنصر نائب للتذييل 7">
            <a:extLst>
              <a:ext uri="{FF2B5EF4-FFF2-40B4-BE49-F238E27FC236}">
                <a16:creationId xmlns:a16="http://schemas.microsoft.com/office/drawing/2014/main" id="{3A43DC88-9124-5CA3-E4CE-9A4C479F1D5D}"/>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DFA179F0-7088-9456-4CBC-9E45FE16159F}"/>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4753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8648FA7-1908-165F-6E81-95E041553DCE}"/>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4FD3ACFC-4631-9B70-9CE9-C7D69B00A3D9}"/>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4" name="عنصر نائب للتذييل 3">
            <a:extLst>
              <a:ext uri="{FF2B5EF4-FFF2-40B4-BE49-F238E27FC236}">
                <a16:creationId xmlns:a16="http://schemas.microsoft.com/office/drawing/2014/main" id="{C9CA05C6-725A-F09C-79CD-F20E626C937D}"/>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42C198E1-80A6-A07F-FEF4-D804ED8C5B27}"/>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3598632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68D1AA6B-95E7-AF2F-18DA-51D1ECDFB85A}"/>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3" name="عنصر نائب للتذييل 2">
            <a:extLst>
              <a:ext uri="{FF2B5EF4-FFF2-40B4-BE49-F238E27FC236}">
                <a16:creationId xmlns:a16="http://schemas.microsoft.com/office/drawing/2014/main" id="{B8AC0FB2-ECB1-4EAB-0157-0EE087C78598}"/>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CB29E975-B8F1-077C-3FD4-B2793EE6060C}"/>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35013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7C3FCA7-659A-DE2F-DA11-09E649579BCF}"/>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FEE13205-4629-5EEC-D2AF-A78157952A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44600E99-2B6A-6F47-9F69-3457088DC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6D974189-106D-59E6-D229-4048B82DACE9}"/>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6" name="عنصر نائب للتذييل 5">
            <a:extLst>
              <a:ext uri="{FF2B5EF4-FFF2-40B4-BE49-F238E27FC236}">
                <a16:creationId xmlns:a16="http://schemas.microsoft.com/office/drawing/2014/main" id="{55877250-EC6B-F9FA-30BF-98B2B3421E5B}"/>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51C47D7E-7A5C-345A-B56A-4E61FECF6458}"/>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1255543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7C10BB5-4360-84F3-694B-D2711BDCE509}"/>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6A2DAE48-F6F1-6831-882F-5E86087A72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AE5EE78B-5381-253B-5944-F9BBEE0376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813D88A3-689C-C6B0-BDCE-006EFF0BACCE}"/>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6" name="عنصر نائب للتذييل 5">
            <a:extLst>
              <a:ext uri="{FF2B5EF4-FFF2-40B4-BE49-F238E27FC236}">
                <a16:creationId xmlns:a16="http://schemas.microsoft.com/office/drawing/2014/main" id="{7A3E1E81-A430-8FA8-A8B0-075F3CD68971}"/>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8D8A9D3D-B2FE-A562-366A-ED9690243BBC}"/>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1872389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9B2F68E-FCA4-E1B7-8E88-0664F02AEE60}"/>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13E74687-98EA-71BC-BD7D-7622C2DF14A4}"/>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BBDDA2FF-6340-0190-DF54-A392B7CBE26A}"/>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5" name="عنصر نائب للتذييل 4">
            <a:extLst>
              <a:ext uri="{FF2B5EF4-FFF2-40B4-BE49-F238E27FC236}">
                <a16:creationId xmlns:a16="http://schemas.microsoft.com/office/drawing/2014/main" id="{89B58F64-EF9E-D9E6-4DE8-E22DE22DA265}"/>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CD57AD7D-6BDB-BEDA-53E9-B99CC14038E5}"/>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4270914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73E40CEA-6E4B-85CF-83BF-8DA6D5D60694}"/>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4AAC3838-7312-B8C1-73FF-F89A95D3FBFD}"/>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BE5BE91C-D7D2-33C5-1BD6-7BE1C0F5B701}"/>
              </a:ext>
            </a:extLst>
          </p:cNvPr>
          <p:cNvSpPr>
            <a:spLocks noGrp="1"/>
          </p:cNvSpPr>
          <p:nvPr>
            <p:ph type="dt" sz="half" idx="10"/>
          </p:nvPr>
        </p:nvSpPr>
        <p:spPr/>
        <p:txBody>
          <a:bodyPr/>
          <a:lstStyle/>
          <a:p>
            <a:fld id="{606AE7FA-DEA4-465A-87FF-3A93749E1C63}" type="datetimeFigureOut">
              <a:rPr lang="ar-SA" smtClean="0"/>
              <a:t>27/10/47</a:t>
            </a:fld>
            <a:endParaRPr lang="ar-SA"/>
          </a:p>
        </p:txBody>
      </p:sp>
      <p:sp>
        <p:nvSpPr>
          <p:cNvPr id="5" name="عنصر نائب للتذييل 4">
            <a:extLst>
              <a:ext uri="{FF2B5EF4-FFF2-40B4-BE49-F238E27FC236}">
                <a16:creationId xmlns:a16="http://schemas.microsoft.com/office/drawing/2014/main" id="{BB4472AE-21DB-A490-F8A4-B9826C10FFDE}"/>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2ABE4CDE-5371-C3D0-CB6D-8EC798FBEA17}"/>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3561697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شريحة عنوان">
    <p:bg>
      <p:bgPr>
        <a:blipFill>
          <a:blip r:embed="rId2">
            <a:lum/>
          </a:blip>
          <a:srcRect/>
          <a:stretch>
            <a:fillRect/>
          </a:stretch>
        </a:blipFill>
        <a:effectLst/>
      </p:bgPr>
    </p:bg>
    <p:spTree>
      <p:nvGrpSpPr>
        <p:cNvPr id="1" name=""/>
        <p:cNvGrpSpPr/>
        <p:nvPr/>
      </p:nvGrpSpPr>
      <p:grpSpPr>
        <a:xfrm>
          <a:off x="0" y="0"/>
          <a:ext cx="0" cy="0"/>
          <a:chOff x="0" y="0"/>
          <a:chExt cx="0" cy="0"/>
        </a:xfrm>
      </p:grpSpPr>
      <p:sp>
        <p:nvSpPr>
          <p:cNvPr id="2" name="عنوان 1"/>
          <p:cNvSpPr>
            <a:spLocks noGrp="1" noEditPoints="1"/>
          </p:cNvSpPr>
          <p:nvPr>
            <p:ph type="ctrTitle" hasCustomPrompt="1"/>
          </p:nvPr>
        </p:nvSpPr>
        <p:spPr>
          <a:xfrm>
            <a:off x="4251540" y="185418"/>
            <a:ext cx="7205133" cy="521230"/>
          </a:xfrm>
          <a:prstGeom prst="rect">
            <a:avLst/>
          </a:prstGeom>
        </p:spPr>
        <p:txBody>
          <a:bodyPr anchor="ctr">
            <a:noAutofit/>
          </a:bodyPr>
          <a:lstStyle>
            <a:lvl1pPr algn="r">
              <a:defRPr sz="2000" b="1" i="0">
                <a:solidFill>
                  <a:schemeClr val="bg2">
                    <a:lumMod val="25000"/>
                  </a:schemeClr>
                </a:solidFill>
                <a:latin typeface="Tajawal" pitchFamily="2" charset="-78"/>
                <a:cs typeface="Tajawal" pitchFamily="2" charset="-78"/>
              </a:defRPr>
            </a:lvl1pPr>
          </a:lstStyle>
          <a:p>
            <a:r>
              <a:rPr lang="ar-SA" dirty="0"/>
              <a:t>العنوان الرئيسي</a:t>
            </a:r>
          </a:p>
        </p:txBody>
      </p:sp>
      <p:sp>
        <p:nvSpPr>
          <p:cNvPr id="6" name="عنصر نائب لرقم الشريحة 5"/>
          <p:cNvSpPr>
            <a:spLocks noGrp="1" noEditPoints="1"/>
          </p:cNvSpPr>
          <p:nvPr>
            <p:ph type="sldNum" sz="quarter" idx="12"/>
          </p:nvPr>
        </p:nvSpPr>
        <p:spPr>
          <a:xfrm>
            <a:off x="746455" y="6385463"/>
            <a:ext cx="685799" cy="365125"/>
          </a:xfrm>
          <a:prstGeom prst="rect">
            <a:avLst/>
          </a:prstGeom>
        </p:spPr>
        <p:txBody>
          <a:bodyPr/>
          <a:lstStyle>
            <a:lvl1pPr algn="ctr">
              <a:defRPr b="0" i="0">
                <a:solidFill>
                  <a:srgbClr val="A99F96"/>
                </a:solidFill>
                <a:latin typeface="Tajawal" pitchFamily="2" charset="-78"/>
                <a:cs typeface="Tajawal" pitchFamily="2" charset="-78"/>
              </a:defRPr>
            </a:lvl1pPr>
          </a:lstStyle>
          <a:p>
            <a:fld id="{75ED20CA-322E-40C2-BB92-54DE8D8C3EBE}" type="slidenum">
              <a:rPr lang="ar-SA" smtClean="0"/>
              <a:pPr/>
              <a:t>‹#›</a:t>
            </a:fld>
            <a:endParaRPr lang="ar-SA" dirty="0"/>
          </a:p>
        </p:txBody>
      </p:sp>
      <p:sp>
        <p:nvSpPr>
          <p:cNvPr id="4" name="Rectangle 3"/>
          <p:cNvSpPr/>
          <p:nvPr userDrawn="1"/>
        </p:nvSpPr>
        <p:spPr>
          <a:xfrm>
            <a:off x="8690610" y="751473"/>
            <a:ext cx="2769873" cy="45719"/>
          </a:xfrm>
          <a:prstGeom prst="rect">
            <a:avLst/>
          </a:prstGeom>
          <a:solidFill>
            <a:srgbClr val="713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Tajawal" pitchFamily="2" charset="-78"/>
              <a:cs typeface="Tajawal" pitchFamily="2" charset="-78"/>
            </a:endParaRPr>
          </a:p>
        </p:txBody>
      </p:sp>
      <p:grpSp>
        <p:nvGrpSpPr>
          <p:cNvPr id="7" name="Group 6"/>
          <p:cNvGrpSpPr/>
          <p:nvPr/>
        </p:nvGrpSpPr>
        <p:grpSpPr>
          <a:xfrm flipV="1">
            <a:off x="8668056" y="772554"/>
            <a:ext cx="45720" cy="45720"/>
            <a:chOff x="774062" y="1131349"/>
            <a:chExt cx="484105" cy="487048"/>
          </a:xfrm>
        </p:grpSpPr>
        <p:sp>
          <p:nvSpPr>
            <p:cNvPr id="8" name="Rectangle 7"/>
            <p:cNvSpPr>
              <a:spLocks noChangeAspect="1"/>
            </p:cNvSpPr>
            <p:nvPr/>
          </p:nvSpPr>
          <p:spPr>
            <a:xfrm>
              <a:off x="774062" y="1131349"/>
              <a:ext cx="484105" cy="484105"/>
            </a:xfrm>
            <a:prstGeom prst="rect">
              <a:avLst/>
            </a:prstGeom>
            <a:solidFill>
              <a:srgbClr val="FF7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Tajawal" pitchFamily="2" charset="-78"/>
                <a:cs typeface="Tajawal" pitchFamily="2" charset="-78"/>
              </a:endParaRPr>
            </a:p>
          </p:txBody>
        </p:sp>
        <p:sp>
          <p:nvSpPr>
            <p:cNvPr id="9" name="Rectangle 8"/>
            <p:cNvSpPr>
              <a:spLocks noChangeAspect="1"/>
            </p:cNvSpPr>
            <p:nvPr/>
          </p:nvSpPr>
          <p:spPr>
            <a:xfrm>
              <a:off x="1013171" y="1373401"/>
              <a:ext cx="244996" cy="2449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Tajawal" pitchFamily="2" charset="-78"/>
                <a:cs typeface="Tajawal" pitchFamily="2" charset="-78"/>
              </a:endParaRPr>
            </a:p>
          </p:txBody>
        </p:sp>
      </p:grpSp>
    </p:spTree>
    <p:extLst>
      <p:ext uri="{BB962C8B-B14F-4D97-AF65-F5344CB8AC3E}">
        <p14:creationId xmlns:p14="http://schemas.microsoft.com/office/powerpoint/2010/main" val="186287291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059BF3F8-EFEA-9011-88D0-C6C8A924503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2EBCE9AC-FF21-2A83-3E13-31C14E689F08}"/>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dirty="0"/>
              <a:t>انقر لتحرير أنماط نص الشكل الرئيسي</a:t>
            </a:r>
          </a:p>
          <a:p>
            <a:pPr lvl="1"/>
            <a:r>
              <a:rPr lang="ar-SA" dirty="0"/>
              <a:t>المستوى الثاني</a:t>
            </a:r>
          </a:p>
          <a:p>
            <a:pPr lvl="2"/>
            <a:r>
              <a:rPr lang="ar-SA" dirty="0"/>
              <a:t>المستوى الثالث</a:t>
            </a:r>
          </a:p>
          <a:p>
            <a:pPr lvl="3"/>
            <a:r>
              <a:rPr lang="ar-SA" dirty="0"/>
              <a:t>المستوى الرابع</a:t>
            </a:r>
          </a:p>
          <a:p>
            <a:pPr lvl="4"/>
            <a:r>
              <a:rPr lang="ar-SA" dirty="0"/>
              <a:t>المستوى الخامس</a:t>
            </a:r>
          </a:p>
        </p:txBody>
      </p:sp>
      <p:sp>
        <p:nvSpPr>
          <p:cNvPr id="4" name="عنصر نائب للتاريخ 3">
            <a:extLst>
              <a:ext uri="{FF2B5EF4-FFF2-40B4-BE49-F238E27FC236}">
                <a16:creationId xmlns:a16="http://schemas.microsoft.com/office/drawing/2014/main" id="{8899A55E-03BD-1AF1-C0B2-EEC251D68B56}"/>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latin typeface="Bahij TheSansArabic ExtraLight" panose="02040503050201020203" pitchFamily="18" charset="-78"/>
              </a:defRPr>
            </a:lvl1pPr>
          </a:lstStyle>
          <a:p>
            <a:fld id="{606AE7FA-DEA4-465A-87FF-3A93749E1C63}" type="datetimeFigureOut">
              <a:rPr lang="ar-SA" smtClean="0"/>
              <a:pPr/>
              <a:t>27/10/47</a:t>
            </a:fld>
            <a:endParaRPr lang="ar-SA" dirty="0"/>
          </a:p>
        </p:txBody>
      </p:sp>
      <p:sp>
        <p:nvSpPr>
          <p:cNvPr id="5" name="عنصر نائب للتذييل 4">
            <a:extLst>
              <a:ext uri="{FF2B5EF4-FFF2-40B4-BE49-F238E27FC236}">
                <a16:creationId xmlns:a16="http://schemas.microsoft.com/office/drawing/2014/main" id="{44FAF62A-1568-FE0A-B3EB-6EDFAA757B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latin typeface="Bahij TheSansArabic ExtraLight" panose="02040503050201020203" pitchFamily="18" charset="-78"/>
              </a:defRPr>
            </a:lvl1pPr>
          </a:lstStyle>
          <a:p>
            <a:endParaRPr lang="ar-SA" dirty="0"/>
          </a:p>
        </p:txBody>
      </p:sp>
      <p:sp>
        <p:nvSpPr>
          <p:cNvPr id="6" name="عنصر نائب لرقم الشريحة 5">
            <a:extLst>
              <a:ext uri="{FF2B5EF4-FFF2-40B4-BE49-F238E27FC236}">
                <a16:creationId xmlns:a16="http://schemas.microsoft.com/office/drawing/2014/main" id="{FC6CCA1F-00E7-0AC1-71C1-90F0EE88888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latin typeface="Bahij TheSansArabic ExtraLight" panose="02040503050201020203" pitchFamily="18" charset="-78"/>
              </a:defRPr>
            </a:lvl1pPr>
          </a:lstStyle>
          <a:p>
            <a:fld id="{EBE5842E-1D0B-4A7D-A4F8-22A6BEDCC963}" type="slidenum">
              <a:rPr lang="ar-SA" smtClean="0"/>
              <a:pPr/>
              <a:t>‹#›</a:t>
            </a:fld>
            <a:endParaRPr lang="ar-SA" dirty="0"/>
          </a:p>
        </p:txBody>
      </p:sp>
    </p:spTree>
    <p:extLst>
      <p:ext uri="{BB962C8B-B14F-4D97-AF65-F5344CB8AC3E}">
        <p14:creationId xmlns:p14="http://schemas.microsoft.com/office/powerpoint/2010/main" val="2616693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Bahij TheSansArabic ExtraLight" panose="02040503050201020203" pitchFamily="18" charset="-78"/>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Bahij TheSansArabic ExtraLight" panose="02040503050201020203" pitchFamily="18" charset="-78"/>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Bahij TheSansArabic ExtraLight" panose="02040503050201020203" pitchFamily="18" charset="-78"/>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Bahij TheSansArabic ExtraLight" panose="02040503050201020203" pitchFamily="18" charset="-78"/>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Bahij TheSansArabic ExtraLight" panose="02040503050201020203" pitchFamily="18" charset="-78"/>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651401"/>
      </p:ext>
    </p:extLst>
  </p:cSld>
  <p:clrMap bg1="lt1" tx1="dk1" bg2="lt2" tx2="dk2" accent1="accent1" accent2="accent2" accent3="accent3" accent4="accent4" accent5="accent5" accent6="accent6" hlink="hlink" folHlink="folHlink"/>
  <p:sldLayoutIdLst>
    <p:sldLayoutId id="2147483701" r:id="rId1"/>
  </p:sldLayoutIdLst>
  <p:hf hdr="0" ftr="0" dt="0"/>
  <p:txStyles>
    <p:titleStyle>
      <a:lvl1pPr algn="r" defTabSz="914400" rtl="1" eaLnBrk="1" latinLnBrk="0" hangingPunct="1">
        <a:lnSpc>
          <a:spcPct val="90000"/>
        </a:lnSpc>
        <a:spcBef>
          <a:spcPct val="0"/>
        </a:spcBef>
        <a:buNone/>
        <a:defRPr sz="4000" kern="1200">
          <a:solidFill>
            <a:schemeClr val="bg2">
              <a:lumMod val="25000"/>
            </a:schemeClr>
          </a:solidFill>
          <a:latin typeface="Tajawal ExtraBold" panose="00000800000000000000" pitchFamily="2" charset="-78"/>
          <a:ea typeface="+mj-ea"/>
          <a:cs typeface="Tajawal ExtraBold" panose="00000800000000000000" pitchFamily="2" charset="-78"/>
        </a:defRPr>
      </a:lvl1pPr>
    </p:titleStyle>
    <p:bodyStyle>
      <a:lvl1pPr marL="0" indent="0" algn="r" defTabSz="914400" rtl="1" eaLnBrk="1" latinLnBrk="0" hangingPunct="1">
        <a:lnSpc>
          <a:spcPct val="90000"/>
        </a:lnSpc>
        <a:spcBef>
          <a:spcPts val="1000"/>
        </a:spcBef>
        <a:buFont typeface="Arial" panose="020B0604020202020204" pitchFamily="34" charset="0"/>
        <a:buNone/>
        <a:defRPr sz="2400" kern="1200">
          <a:solidFill>
            <a:schemeClr val="bg2">
              <a:lumMod val="25000"/>
            </a:schemeClr>
          </a:solidFill>
          <a:latin typeface="Tajawal Medium" panose="00000600000000000000" pitchFamily="2" charset="-78"/>
          <a:ea typeface="+mn-ea"/>
          <a:cs typeface="Tajawal Medium" panose="00000600000000000000" pitchFamily="2" charset="-78"/>
        </a:defRPr>
      </a:lvl1pPr>
      <a:lvl2pPr marL="457200" indent="0" algn="r" defTabSz="914400" rtl="1"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نموذج تصنيف أصحاب المصلحة </a:t>
            </a:r>
            <a:endParaRPr kumimoji="0" lang="en-US"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pSp>
        <p:nvGrpSpPr>
          <p:cNvPr id="5" name="مجموعة 4">
            <a:extLst>
              <a:ext uri="{FF2B5EF4-FFF2-40B4-BE49-F238E27FC236}">
                <a16:creationId xmlns:a16="http://schemas.microsoft.com/office/drawing/2014/main" id="{04863FB8-759E-FE6D-C7A2-BCE7511F9480}"/>
              </a:ext>
            </a:extLst>
          </p:cNvPr>
          <p:cNvGrpSpPr/>
          <p:nvPr/>
        </p:nvGrpSpPr>
        <p:grpSpPr>
          <a:xfrm>
            <a:off x="1568257" y="1081992"/>
            <a:ext cx="9189049" cy="4365246"/>
            <a:chOff x="2012351" y="1371600"/>
            <a:chExt cx="9189049" cy="4365246"/>
          </a:xfrm>
        </p:grpSpPr>
        <p:grpSp>
          <p:nvGrpSpPr>
            <p:cNvPr id="6" name="Group 18">
              <a:extLst>
                <a:ext uri="{FF2B5EF4-FFF2-40B4-BE49-F238E27FC236}">
                  <a16:creationId xmlns:a16="http://schemas.microsoft.com/office/drawing/2014/main" id="{E0A2DE6A-222B-1D82-834A-90ABF8B9A383}"/>
                </a:ext>
              </a:extLst>
            </p:cNvPr>
            <p:cNvGrpSpPr/>
            <p:nvPr/>
          </p:nvGrpSpPr>
          <p:grpSpPr>
            <a:xfrm>
              <a:off x="2012351" y="1371600"/>
              <a:ext cx="9189049" cy="4365246"/>
              <a:chOff x="1545982" y="1628399"/>
              <a:chExt cx="4846671" cy="1786332"/>
            </a:xfrm>
          </p:grpSpPr>
          <p:sp>
            <p:nvSpPr>
              <p:cNvPr id="18" name="Rectangle 19">
                <a:extLst>
                  <a:ext uri="{FF2B5EF4-FFF2-40B4-BE49-F238E27FC236}">
                    <a16:creationId xmlns:a16="http://schemas.microsoft.com/office/drawing/2014/main" id="{CCA3A9DF-5DDE-3265-6BBC-97F20AC30A6C}"/>
                  </a:ext>
                </a:extLst>
              </p:cNvPr>
              <p:cNvSpPr/>
              <p:nvPr/>
            </p:nvSpPr>
            <p:spPr>
              <a:xfrm>
                <a:off x="4050882" y="1871255"/>
                <a:ext cx="1998130" cy="592738"/>
              </a:xfrm>
              <a:prstGeom prst="rect">
                <a:avLst/>
              </a:prstGeom>
              <a:solidFill>
                <a:srgbClr val="2FBF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الإدارة العليا</a:t>
                </a:r>
              </a:p>
              <a:p>
                <a:pPr marL="0" marR="0" lvl="0" indent="0" algn="ctr" defTabSz="914400" rtl="0" eaLnBrk="1" fontAlgn="auto" latinLnBrk="0" hangingPunct="1">
                  <a:lnSpc>
                    <a:spcPct val="100000"/>
                  </a:lnSpc>
                  <a:spcBef>
                    <a:spcPts val="0"/>
                  </a:spcBef>
                  <a:spcAft>
                    <a:spcPts val="0"/>
                  </a:spcAft>
                  <a:buClrTx/>
                  <a:buSzTx/>
                  <a:buFontTx/>
                  <a:buNone/>
                  <a:tabLst/>
                  <a:defRPr/>
                </a:pPr>
                <a:r>
                  <a:rPr lang="ar-SA" kern="0" dirty="0">
                    <a:solidFill>
                      <a:prstClr val="white"/>
                    </a:solidFill>
                    <a:latin typeface="Neo Sans Arabic Medium" panose="020B0704030504040204" pitchFamily="34" charset="-78"/>
                    <a:cs typeface="Neo Sans Arabic Medium" panose="020B0704030504040204" pitchFamily="34" charset="-78"/>
                  </a:rPr>
                  <a:t>الشركاء</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الدوائر الحكومية</a:t>
                </a:r>
                <a:endParaRPr kumimoji="0" lang="en-US"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19" name="Rectangle 27">
                <a:extLst>
                  <a:ext uri="{FF2B5EF4-FFF2-40B4-BE49-F238E27FC236}">
                    <a16:creationId xmlns:a16="http://schemas.microsoft.com/office/drawing/2014/main" id="{DB2037D6-CBB4-F9C8-7DED-3AB44158191A}"/>
                  </a:ext>
                </a:extLst>
              </p:cNvPr>
              <p:cNvSpPr/>
              <p:nvPr/>
            </p:nvSpPr>
            <p:spPr>
              <a:xfrm>
                <a:off x="1948965" y="1871255"/>
                <a:ext cx="1998130" cy="592738"/>
              </a:xfrm>
              <a:prstGeom prst="rect">
                <a:avLst/>
              </a:prstGeom>
              <a:solidFill>
                <a:srgbClr val="96CC4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مدراء الأقسام</a:t>
                </a:r>
              </a:p>
              <a:p>
                <a:pPr marL="0" marR="0" lvl="0" indent="0" algn="ctr" defTabSz="914400" rtl="0" eaLnBrk="1" fontAlgn="auto" latinLnBrk="0" hangingPunct="1">
                  <a:lnSpc>
                    <a:spcPct val="100000"/>
                  </a:lnSpc>
                  <a:spcBef>
                    <a:spcPts val="0"/>
                  </a:spcBef>
                  <a:spcAft>
                    <a:spcPts val="0"/>
                  </a:spcAft>
                  <a:buClrTx/>
                  <a:buSzTx/>
                  <a:buFontTx/>
                  <a:buNone/>
                  <a:tabLst/>
                  <a:defRPr/>
                </a:pPr>
                <a:r>
                  <a:rPr lang="ar-SA" kern="0" dirty="0">
                    <a:solidFill>
                      <a:prstClr val="white"/>
                    </a:solidFill>
                    <a:latin typeface="Neo Sans Arabic Medium" panose="020B0704030504040204" pitchFamily="34" charset="-78"/>
                    <a:cs typeface="Neo Sans Arabic Medium" panose="020B0704030504040204" pitchFamily="34" charset="-78"/>
                  </a:rPr>
                  <a:t>الموظفين</a:t>
                </a:r>
                <a:endParaRPr kumimoji="0" lang="en-US"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20" name="Rectangle 29">
                <a:extLst>
                  <a:ext uri="{FF2B5EF4-FFF2-40B4-BE49-F238E27FC236}">
                    <a16:creationId xmlns:a16="http://schemas.microsoft.com/office/drawing/2014/main" id="{D49F60F6-E958-9FD5-ED35-72CE07FE9F02}"/>
                  </a:ext>
                </a:extLst>
              </p:cNvPr>
              <p:cNvSpPr/>
              <p:nvPr/>
            </p:nvSpPr>
            <p:spPr>
              <a:xfrm>
                <a:off x="4050882" y="2522235"/>
                <a:ext cx="1998130" cy="592738"/>
              </a:xfrm>
              <a:prstGeom prst="rect">
                <a:avLst/>
              </a:prstGeom>
              <a:solidFill>
                <a:srgbClr val="2FBF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المتطوعين</a:t>
                </a:r>
                <a:endParaRPr kumimoji="0" lang="en-US"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21" name="Rectangle 31">
                <a:extLst>
                  <a:ext uri="{FF2B5EF4-FFF2-40B4-BE49-F238E27FC236}">
                    <a16:creationId xmlns:a16="http://schemas.microsoft.com/office/drawing/2014/main" id="{3DF47127-3926-C67D-D95D-EFF964E32FE4}"/>
                  </a:ext>
                </a:extLst>
              </p:cNvPr>
              <p:cNvSpPr/>
              <p:nvPr/>
            </p:nvSpPr>
            <p:spPr>
              <a:xfrm>
                <a:off x="1948965" y="2522235"/>
                <a:ext cx="1998130" cy="592738"/>
              </a:xfrm>
              <a:prstGeom prst="rect">
                <a:avLst/>
              </a:prstGeom>
              <a:solidFill>
                <a:srgbClr val="96CC4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المستفيدين</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22" name="Arrow: Right 7">
                <a:extLst>
                  <a:ext uri="{FF2B5EF4-FFF2-40B4-BE49-F238E27FC236}">
                    <a16:creationId xmlns:a16="http://schemas.microsoft.com/office/drawing/2014/main" id="{3B5C654B-0DEE-C187-BE5B-52512F0B3241}"/>
                  </a:ext>
                </a:extLst>
              </p:cNvPr>
              <p:cNvSpPr/>
              <p:nvPr/>
            </p:nvSpPr>
            <p:spPr>
              <a:xfrm rot="16200000">
                <a:off x="949854" y="2224527"/>
                <a:ext cx="1601669" cy="409414"/>
              </a:xfrm>
              <a:prstGeom prst="rightArrow">
                <a:avLst>
                  <a:gd name="adj1" fmla="val 66821"/>
                  <a:gd name="adj2" fmla="val 68222"/>
                </a:avLst>
              </a:prstGeom>
              <a:solidFill>
                <a:srgbClr val="104C5A"/>
              </a:solid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ar-SA" sz="280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التأثير</a:t>
                </a:r>
                <a:endParaRPr kumimoji="0" lang="en-US" sz="360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23" name="Arrow: Right 3">
                <a:extLst>
                  <a:ext uri="{FF2B5EF4-FFF2-40B4-BE49-F238E27FC236}">
                    <a16:creationId xmlns:a16="http://schemas.microsoft.com/office/drawing/2014/main" id="{EA4D9B1C-5528-A9EB-80AC-C31C8A43235C}"/>
                  </a:ext>
                </a:extLst>
              </p:cNvPr>
              <p:cNvSpPr/>
              <p:nvPr/>
            </p:nvSpPr>
            <p:spPr>
              <a:xfrm>
                <a:off x="1618964" y="3134456"/>
                <a:ext cx="4773689" cy="280275"/>
              </a:xfrm>
              <a:prstGeom prst="rightArrow">
                <a:avLst>
                  <a:gd name="adj1" fmla="val 66821"/>
                  <a:gd name="adj2" fmla="val 89248"/>
                </a:avLst>
              </a:prstGeom>
              <a:solidFill>
                <a:srgbClr val="104C5A"/>
              </a:solid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ar-SA" sz="240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الاهتمام</a:t>
                </a:r>
                <a:r>
                  <a:rPr kumimoji="0" lang="ar-SA" sz="105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 </a:t>
                </a:r>
                <a:endParaRPr kumimoji="0" lang="en-US" sz="105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pSp>
        <p:sp>
          <p:nvSpPr>
            <p:cNvPr id="14" name="مستطيل 13">
              <a:extLst>
                <a:ext uri="{FF2B5EF4-FFF2-40B4-BE49-F238E27FC236}">
                  <a16:creationId xmlns:a16="http://schemas.microsoft.com/office/drawing/2014/main" id="{F58B21EA-E602-08F1-6B80-2CCCC3E9EF87}"/>
                </a:ext>
              </a:extLst>
            </p:cNvPr>
            <p:cNvSpPr/>
            <p:nvPr/>
          </p:nvSpPr>
          <p:spPr>
            <a:xfrm>
              <a:off x="10203687" y="3172807"/>
              <a:ext cx="304800" cy="234422"/>
            </a:xfrm>
            <a:prstGeom prst="rect">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rPr>
                <a:t>1</a:t>
              </a:r>
              <a:endParaRPr kumimoji="0" lang="en-US"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endParaRPr>
            </a:p>
          </p:txBody>
        </p:sp>
        <p:sp>
          <p:nvSpPr>
            <p:cNvPr id="15" name="مستطيل 14">
              <a:extLst>
                <a:ext uri="{FF2B5EF4-FFF2-40B4-BE49-F238E27FC236}">
                  <a16:creationId xmlns:a16="http://schemas.microsoft.com/office/drawing/2014/main" id="{FB5B2381-9924-5926-CFF1-4E603161CD43}"/>
                </a:ext>
              </a:extLst>
            </p:cNvPr>
            <p:cNvSpPr/>
            <p:nvPr/>
          </p:nvSpPr>
          <p:spPr>
            <a:xfrm>
              <a:off x="10203687" y="4769907"/>
              <a:ext cx="304800" cy="234422"/>
            </a:xfrm>
            <a:prstGeom prst="rect">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rPr>
                <a:t>2</a:t>
              </a:r>
              <a:endParaRPr kumimoji="0" lang="en-US"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endParaRPr>
            </a:p>
          </p:txBody>
        </p:sp>
        <p:sp>
          <p:nvSpPr>
            <p:cNvPr id="16" name="مستطيل 15">
              <a:extLst>
                <a:ext uri="{FF2B5EF4-FFF2-40B4-BE49-F238E27FC236}">
                  <a16:creationId xmlns:a16="http://schemas.microsoft.com/office/drawing/2014/main" id="{E878F7F4-B272-B7AA-1854-A3C7D894446F}"/>
                </a:ext>
              </a:extLst>
            </p:cNvPr>
            <p:cNvSpPr/>
            <p:nvPr/>
          </p:nvSpPr>
          <p:spPr>
            <a:xfrm>
              <a:off x="6165087" y="3165336"/>
              <a:ext cx="304800" cy="234422"/>
            </a:xfrm>
            <a:prstGeom prst="rect">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rPr>
                <a:t>3</a:t>
              </a:r>
              <a:endParaRPr kumimoji="0" lang="en-US"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endParaRPr>
            </a:p>
          </p:txBody>
        </p:sp>
        <p:sp>
          <p:nvSpPr>
            <p:cNvPr id="17" name="مستطيل 16">
              <a:extLst>
                <a:ext uri="{FF2B5EF4-FFF2-40B4-BE49-F238E27FC236}">
                  <a16:creationId xmlns:a16="http://schemas.microsoft.com/office/drawing/2014/main" id="{CD2E520B-5105-4AA3-2A9A-3297ADADFB5E}"/>
                </a:ext>
              </a:extLst>
            </p:cNvPr>
            <p:cNvSpPr/>
            <p:nvPr/>
          </p:nvSpPr>
          <p:spPr>
            <a:xfrm>
              <a:off x="6165087" y="4759021"/>
              <a:ext cx="304800" cy="234422"/>
            </a:xfrm>
            <a:prstGeom prst="rect">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rPr>
                <a:t>4</a:t>
              </a:r>
              <a:endParaRPr kumimoji="0" lang="en-US"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endParaRPr>
            </a:p>
          </p:txBody>
        </p:sp>
      </p:grpSp>
      <p:graphicFrame>
        <p:nvGraphicFramePr>
          <p:cNvPr id="24" name="جدول 23">
            <a:extLst>
              <a:ext uri="{FF2B5EF4-FFF2-40B4-BE49-F238E27FC236}">
                <a16:creationId xmlns:a16="http://schemas.microsoft.com/office/drawing/2014/main" id="{2F74CED5-2630-A747-8960-A6CF3C6FA1B2}"/>
              </a:ext>
            </a:extLst>
          </p:cNvPr>
          <p:cNvGraphicFramePr>
            <a:graphicFrameLocks noGrp="1"/>
          </p:cNvGraphicFramePr>
          <p:nvPr>
            <p:extLst>
              <p:ext uri="{D42A27DB-BD31-4B8C-83A1-F6EECF244321}">
                <p14:modId xmlns:p14="http://schemas.microsoft.com/office/powerpoint/2010/main" val="559796224"/>
              </p:ext>
            </p:extLst>
          </p:nvPr>
        </p:nvGraphicFramePr>
        <p:xfrm>
          <a:off x="1693300" y="5494849"/>
          <a:ext cx="8412480" cy="457200"/>
        </p:xfrm>
        <a:graphic>
          <a:graphicData uri="http://schemas.openxmlformats.org/drawingml/2006/table">
            <a:tbl>
              <a:tblPr firstRow="1" bandRow="1"/>
              <a:tblGrid>
                <a:gridCol w="1828800">
                  <a:extLst>
                    <a:ext uri="{9D8B030D-6E8A-4147-A177-3AD203B41FA5}">
                      <a16:colId xmlns:a16="http://schemas.microsoft.com/office/drawing/2014/main" val="3701230610"/>
                    </a:ext>
                  </a:extLst>
                </a:gridCol>
                <a:gridCol w="274320">
                  <a:extLst>
                    <a:ext uri="{9D8B030D-6E8A-4147-A177-3AD203B41FA5}">
                      <a16:colId xmlns:a16="http://schemas.microsoft.com/office/drawing/2014/main" val="2054667897"/>
                    </a:ext>
                  </a:extLst>
                </a:gridCol>
                <a:gridCol w="1828800">
                  <a:extLst>
                    <a:ext uri="{9D8B030D-6E8A-4147-A177-3AD203B41FA5}">
                      <a16:colId xmlns:a16="http://schemas.microsoft.com/office/drawing/2014/main" val="3009827090"/>
                    </a:ext>
                  </a:extLst>
                </a:gridCol>
                <a:gridCol w="274320">
                  <a:extLst>
                    <a:ext uri="{9D8B030D-6E8A-4147-A177-3AD203B41FA5}">
                      <a16:colId xmlns:a16="http://schemas.microsoft.com/office/drawing/2014/main" val="1297572756"/>
                    </a:ext>
                  </a:extLst>
                </a:gridCol>
                <a:gridCol w="1828800">
                  <a:extLst>
                    <a:ext uri="{9D8B030D-6E8A-4147-A177-3AD203B41FA5}">
                      <a16:colId xmlns:a16="http://schemas.microsoft.com/office/drawing/2014/main" val="69982227"/>
                    </a:ext>
                  </a:extLst>
                </a:gridCol>
                <a:gridCol w="274320">
                  <a:extLst>
                    <a:ext uri="{9D8B030D-6E8A-4147-A177-3AD203B41FA5}">
                      <a16:colId xmlns:a16="http://schemas.microsoft.com/office/drawing/2014/main" val="1093839942"/>
                    </a:ext>
                  </a:extLst>
                </a:gridCol>
                <a:gridCol w="1828800">
                  <a:extLst>
                    <a:ext uri="{9D8B030D-6E8A-4147-A177-3AD203B41FA5}">
                      <a16:colId xmlns:a16="http://schemas.microsoft.com/office/drawing/2014/main" val="2476379838"/>
                    </a:ext>
                  </a:extLst>
                </a:gridCol>
                <a:gridCol w="274320">
                  <a:extLst>
                    <a:ext uri="{9D8B030D-6E8A-4147-A177-3AD203B41FA5}">
                      <a16:colId xmlns:a16="http://schemas.microsoft.com/office/drawing/2014/main" val="3251429001"/>
                    </a:ext>
                  </a:extLst>
                </a:gridCol>
              </a:tblGrid>
              <a:tr h="365760">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rPr>
                        <a:t>مراقبتهم</a:t>
                      </a:r>
                      <a:endParaRPr lang="en-US"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6CC42"/>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dirty="0">
                          <a:latin typeface="Neo Sans Arabic Medium" panose="020B0704030504040204" pitchFamily="34" charset="-78"/>
                          <a:cs typeface="Neo Sans Arabic Medium" panose="020B0704030504040204" pitchFamily="34" charset="-78"/>
                        </a:rPr>
                        <a:t>4</a:t>
                      </a:r>
                      <a:endParaRPr lang="en-US" dirty="0">
                        <a:latin typeface="Neo Sans Arabic Medium" panose="020B0704030504040204" pitchFamily="34"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rPr>
                        <a:t>إبقائهم دوماً راضين</a:t>
                      </a:r>
                      <a:endParaRPr lang="en-US"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FBFC0"/>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dirty="0">
                          <a:latin typeface="Neo Sans Arabic Medium" panose="020B0704030504040204" pitchFamily="34" charset="-78"/>
                          <a:cs typeface="Neo Sans Arabic Medium" panose="020B0704030504040204" pitchFamily="34" charset="-78"/>
                        </a:rPr>
                        <a:t>3</a:t>
                      </a:r>
                      <a:endParaRPr lang="en-US" dirty="0">
                        <a:latin typeface="Neo Sans Arabic Medium" panose="020B0704030504040204" pitchFamily="34"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rPr>
                        <a:t>إشراكهم بشكل كاف والحفاظ على اهتمامهم</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6CC42"/>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dirty="0">
                          <a:latin typeface="Neo Sans Arabic Medium" panose="020B0704030504040204" pitchFamily="34" charset="-78"/>
                          <a:cs typeface="Neo Sans Arabic Medium" panose="020B0704030504040204" pitchFamily="34" charset="-78"/>
                        </a:rPr>
                        <a:t>2</a:t>
                      </a:r>
                      <a:endParaRPr lang="en-US" dirty="0">
                        <a:latin typeface="Neo Sans Arabic Medium" panose="020B0704030504040204" pitchFamily="34"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justLow" rtl="1"/>
                      <a:r>
                        <a:rPr lang="ar-SA"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rPr>
                        <a:t>يجب إعطائهم أولوية قصوى في الإدارة والتواصل</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FBFC0"/>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dirty="0">
                          <a:latin typeface="Neo Sans Arabic Medium" panose="020B0704030504040204" pitchFamily="34" charset="-78"/>
                          <a:cs typeface="Neo Sans Arabic Medium" panose="020B0704030504040204" pitchFamily="34" charset="-78"/>
                        </a:rPr>
                        <a:t>1</a:t>
                      </a:r>
                      <a:endParaRPr lang="en-US" dirty="0">
                        <a:latin typeface="Neo Sans Arabic Medium" panose="020B0704030504040204" pitchFamily="34"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04C5A"/>
                    </a:solidFill>
                  </a:tcPr>
                </a:tc>
                <a:extLst>
                  <a:ext uri="{0D108BD9-81ED-4DB2-BD59-A6C34878D82A}">
                    <a16:rowId xmlns:a16="http://schemas.microsoft.com/office/drawing/2014/main" val="846852625"/>
                  </a:ext>
                </a:extLst>
              </a:tr>
            </a:tbl>
          </a:graphicData>
        </a:graphic>
      </p:graphicFrame>
    </p:spTree>
    <p:extLst>
      <p:ext uri="{BB962C8B-B14F-4D97-AF65-F5344CB8AC3E}">
        <p14:creationId xmlns:p14="http://schemas.microsoft.com/office/powerpoint/2010/main" val="2264427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DC5F267-4CD1-1119-EA1F-9881B5C7CEA9}"/>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A3C51E0F-91BD-0209-A78E-302ECF24ED0C}"/>
              </a:ext>
            </a:extLst>
          </p:cNvPr>
          <p:cNvSpPr txBox="1"/>
          <p:nvPr/>
        </p:nvSpPr>
        <p:spPr>
          <a:xfrm>
            <a:off x="4522343" y="504638"/>
            <a:ext cx="7180032" cy="573427"/>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نموذج استهداف المعنيين وفق بُعدي الأثر والسهولة</a:t>
            </a:r>
            <a:endParaRPr kumimoji="0" lang="en-US" sz="24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pSp>
        <p:nvGrpSpPr>
          <p:cNvPr id="2" name="Group 15">
            <a:extLst>
              <a:ext uri="{FF2B5EF4-FFF2-40B4-BE49-F238E27FC236}">
                <a16:creationId xmlns:a16="http://schemas.microsoft.com/office/drawing/2014/main" id="{285F46E6-4584-AAC9-6C77-04D70F2F42F8}"/>
              </a:ext>
            </a:extLst>
          </p:cNvPr>
          <p:cNvGrpSpPr/>
          <p:nvPr/>
        </p:nvGrpSpPr>
        <p:grpSpPr>
          <a:xfrm>
            <a:off x="935228" y="1255267"/>
            <a:ext cx="10321543" cy="4713542"/>
            <a:chOff x="745014" y="1484751"/>
            <a:chExt cx="10718769" cy="4713542"/>
          </a:xfrm>
        </p:grpSpPr>
        <p:cxnSp>
          <p:nvCxnSpPr>
            <p:cNvPr id="4" name="Google Shape;1099;p24">
              <a:extLst>
                <a:ext uri="{FF2B5EF4-FFF2-40B4-BE49-F238E27FC236}">
                  <a16:creationId xmlns:a16="http://schemas.microsoft.com/office/drawing/2014/main" id="{5FFB3F8E-47DD-151A-E7C7-7F275E3C32E0}"/>
                </a:ext>
              </a:extLst>
            </p:cNvPr>
            <p:cNvCxnSpPr/>
            <p:nvPr/>
          </p:nvCxnSpPr>
          <p:spPr>
            <a:xfrm rot="10800000" flipH="1">
              <a:off x="867350" y="6089403"/>
              <a:ext cx="10097717" cy="2953"/>
            </a:xfrm>
            <a:prstGeom prst="straightConnector1">
              <a:avLst/>
            </a:prstGeom>
            <a:noFill/>
            <a:ln w="19050" cap="flat" cmpd="sng">
              <a:solidFill>
                <a:srgbClr val="345271"/>
              </a:solidFill>
              <a:prstDash val="solid"/>
              <a:round/>
              <a:headEnd type="stealth" w="med" len="med"/>
              <a:tailEnd type="stealth" w="med" len="med"/>
            </a:ln>
          </p:spPr>
        </p:cxnSp>
        <p:sp>
          <p:nvSpPr>
            <p:cNvPr id="7" name="Google Shape;1100;p24">
              <a:extLst>
                <a:ext uri="{FF2B5EF4-FFF2-40B4-BE49-F238E27FC236}">
                  <a16:creationId xmlns:a16="http://schemas.microsoft.com/office/drawing/2014/main" id="{B6253628-DF9F-514D-2944-60D8787C907D}"/>
                </a:ext>
              </a:extLst>
            </p:cNvPr>
            <p:cNvSpPr/>
            <p:nvPr/>
          </p:nvSpPr>
          <p:spPr>
            <a:xfrm flipH="1">
              <a:off x="745014" y="1694101"/>
              <a:ext cx="5053350" cy="2060643"/>
            </a:xfrm>
            <a:prstGeom prst="rect">
              <a:avLst/>
            </a:prstGeom>
            <a:noFill/>
            <a:ln w="25400" cap="flat" cmpd="sng">
              <a:solidFill>
                <a:srgbClr val="095463"/>
              </a:solidFill>
              <a:prstDash val="solid"/>
              <a:miter lim="800000"/>
              <a:headEnd type="none" w="sm" len="sm"/>
              <a:tailEnd type="none" w="sm" len="sm"/>
            </a:ln>
          </p:spPr>
          <p:txBody>
            <a:bodyPr spcFirstLastPara="1" wrap="square" lIns="91375" tIns="45675" rIns="91375" bIns="45675" anchor="t"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kumimoji="0" lang="ar-SA"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rPr>
                <a:t>ب</a:t>
              </a:r>
            </a:p>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lang="ar-SA" sz="1400" kern="0" dirty="0">
                <a:solidFill>
                  <a:srgbClr val="000000"/>
                </a:solidFill>
                <a:latin typeface="Neo Sans Arabic Bold" panose="020B0804030504040204" pitchFamily="34" charset="-78"/>
                <a:ea typeface="Arial"/>
                <a:cs typeface="Neo Sans Arabic Bold" panose="020B0804030504040204" pitchFamily="34" charset="-78"/>
                <a:sym typeface="Arial"/>
              </a:endParaRPr>
            </a:p>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kumimoji="0" lang="ar-SA"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rPr>
                <a:t>المتطوعين</a:t>
              </a: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8" name="Google Shape;1101;p24">
              <a:extLst>
                <a:ext uri="{FF2B5EF4-FFF2-40B4-BE49-F238E27FC236}">
                  <a16:creationId xmlns:a16="http://schemas.microsoft.com/office/drawing/2014/main" id="{1B497AC4-515C-CA42-C04D-A7BF03269537}"/>
                </a:ext>
              </a:extLst>
            </p:cNvPr>
            <p:cNvSpPr/>
            <p:nvPr/>
          </p:nvSpPr>
          <p:spPr>
            <a:xfrm flipH="1">
              <a:off x="5800407" y="1694101"/>
              <a:ext cx="5053350" cy="2060643"/>
            </a:xfrm>
            <a:prstGeom prst="rect">
              <a:avLst/>
            </a:prstGeom>
            <a:solidFill>
              <a:sysClr val="window" lastClr="FFFFFF"/>
            </a:solidFill>
            <a:ln w="25400" cap="flat" cmpd="sng">
              <a:solidFill>
                <a:srgbClr val="345271"/>
              </a:solidFill>
              <a:prstDash val="solid"/>
              <a:miter lim="800000"/>
              <a:headEnd type="none" w="sm" len="sm"/>
              <a:tailEnd type="none" w="sm" len="sm"/>
            </a:ln>
          </p:spPr>
          <p:txBody>
            <a:bodyPr spcFirstLastPara="1" wrap="square" lIns="91375" tIns="45675" rIns="91375" bIns="45675" anchor="t"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kumimoji="0" lang="ar-JO" sz="1400" b="1" i="0" u="none" strike="noStrike" kern="0" cap="none" spc="0" normalizeH="0" baseline="0" noProof="0" dirty="0">
                  <a:ln>
                    <a:noFill/>
                  </a:ln>
                  <a:solidFill>
                    <a:srgbClr val="DC6900"/>
                  </a:solidFill>
                  <a:effectLst/>
                  <a:uLnTx/>
                  <a:uFillTx/>
                  <a:latin typeface="Neo Sans Arabic Bold" panose="020B0804030504040204" pitchFamily="34" charset="-78"/>
                  <a:ea typeface="Sakkal Majalla"/>
                  <a:cs typeface="Neo Sans Arabic Bold" panose="020B0804030504040204" pitchFamily="34" charset="-78"/>
                  <a:sym typeface="Sakkal Majalla"/>
                </a:rPr>
                <a:t>	</a:t>
              </a:r>
              <a:r>
                <a:rPr kumimoji="0" lang="ar-SA" sz="1400" b="1" i="0" u="none" strike="noStrike" kern="0" cap="none" spc="0" normalizeH="0" baseline="0" noProof="0" dirty="0">
                  <a:ln>
                    <a:noFill/>
                  </a:ln>
                  <a:solidFill>
                    <a:srgbClr val="DC6900"/>
                  </a:solidFill>
                  <a:effectLst/>
                  <a:uLnTx/>
                  <a:uFillTx/>
                  <a:latin typeface="Neo Sans Arabic Bold" panose="020B0804030504040204" pitchFamily="34" charset="-78"/>
                  <a:ea typeface="Sakkal Majalla"/>
                  <a:cs typeface="Neo Sans Arabic Bold" panose="020B0804030504040204" pitchFamily="34" charset="-78"/>
                  <a:sym typeface="Sakkal Majalla"/>
                </a:rPr>
                <a:t>ال</a:t>
              </a:r>
            </a:p>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lang="ar-SA" sz="1400" b="1" kern="0" dirty="0">
                <a:solidFill>
                  <a:srgbClr val="DC6900"/>
                </a:solidFill>
                <a:latin typeface="Neo Sans Arabic Bold" panose="020B0804030504040204" pitchFamily="34" charset="-78"/>
                <a:ea typeface="Arial"/>
                <a:cs typeface="Neo Sans Arabic Bold" panose="020B0804030504040204" pitchFamily="34" charset="-78"/>
                <a:sym typeface="Sakkal Majalla"/>
              </a:endParaRPr>
            </a:p>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kumimoji="0" lang="ar-SA" sz="1400" b="1" i="0" u="none" strike="noStrike" kern="0" cap="none" spc="0" normalizeH="0" baseline="0" noProof="0" dirty="0">
                <a:ln>
                  <a:noFill/>
                </a:ln>
                <a:solidFill>
                  <a:srgbClr val="DC6900"/>
                </a:solidFill>
                <a:effectLst/>
                <a:uLnTx/>
                <a:uFillTx/>
                <a:latin typeface="Neo Sans Arabic Bold" panose="020B0804030504040204" pitchFamily="34" charset="-78"/>
                <a:ea typeface="Arial"/>
                <a:cs typeface="Neo Sans Arabic Bold" panose="020B0804030504040204" pitchFamily="34" charset="-78"/>
                <a:sym typeface="Sakkal Majalla"/>
              </a:endParaRPr>
            </a:p>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lang="ar-SA" sz="1400" b="1" kern="0" dirty="0">
                  <a:solidFill>
                    <a:srgbClr val="DC6900"/>
                  </a:solidFill>
                  <a:latin typeface="Neo Sans Arabic Bold" panose="020B0804030504040204" pitchFamily="34" charset="-78"/>
                  <a:ea typeface="Arial"/>
                  <a:cs typeface="Neo Sans Arabic Bold" panose="020B0804030504040204" pitchFamily="34" charset="-78"/>
                  <a:sym typeface="Sakkal Majalla"/>
                </a:rPr>
                <a:t>الإدارة العليا</a:t>
              </a: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9" name="Google Shape;1102;p24">
              <a:extLst>
                <a:ext uri="{FF2B5EF4-FFF2-40B4-BE49-F238E27FC236}">
                  <a16:creationId xmlns:a16="http://schemas.microsoft.com/office/drawing/2014/main" id="{9392332D-BC89-CD73-F383-65A5B9870441}"/>
                </a:ext>
              </a:extLst>
            </p:cNvPr>
            <p:cNvSpPr/>
            <p:nvPr/>
          </p:nvSpPr>
          <p:spPr>
            <a:xfrm flipH="1">
              <a:off x="745014" y="3754745"/>
              <a:ext cx="5053350" cy="2062373"/>
            </a:xfrm>
            <a:prstGeom prst="rect">
              <a:avLst/>
            </a:prstGeom>
            <a:noFill/>
            <a:ln w="25400" cap="flat" cmpd="sng">
              <a:solidFill>
                <a:srgbClr val="095463"/>
              </a:solidFill>
              <a:prstDash val="solid"/>
              <a:miter lim="800000"/>
              <a:headEnd type="none" w="sm" len="sm"/>
              <a:tailEnd type="none" w="sm" len="sm"/>
            </a:ln>
          </p:spPr>
          <p:txBody>
            <a:bodyPr spcFirstLastPara="1" wrap="square" lIns="91375" tIns="45675" rIns="91375" bIns="45675" anchor="b"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kumimoji="0" lang="ar-SA"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rPr>
                <a:t>  		الموظفين</a:t>
              </a:r>
            </a:p>
          </p:txBody>
        </p:sp>
        <p:sp>
          <p:nvSpPr>
            <p:cNvPr id="10" name="Google Shape;1103;p24">
              <a:extLst>
                <a:ext uri="{FF2B5EF4-FFF2-40B4-BE49-F238E27FC236}">
                  <a16:creationId xmlns:a16="http://schemas.microsoft.com/office/drawing/2014/main" id="{0339BF88-FE00-2E78-2606-930324845F0B}"/>
                </a:ext>
              </a:extLst>
            </p:cNvPr>
            <p:cNvSpPr/>
            <p:nvPr/>
          </p:nvSpPr>
          <p:spPr>
            <a:xfrm flipH="1">
              <a:off x="5800407" y="3754745"/>
              <a:ext cx="5053350" cy="2062373"/>
            </a:xfrm>
            <a:prstGeom prst="rect">
              <a:avLst/>
            </a:prstGeom>
            <a:solidFill>
              <a:sysClr val="window" lastClr="FFFFFF"/>
            </a:solidFill>
            <a:ln w="25400" cap="flat" cmpd="sng">
              <a:solidFill>
                <a:srgbClr val="095463"/>
              </a:solidFill>
              <a:prstDash val="solid"/>
              <a:miter lim="800000"/>
              <a:headEnd type="none" w="sm" len="sm"/>
              <a:tailEnd type="none" w="sm" len="sm"/>
            </a:ln>
          </p:spPr>
          <p:txBody>
            <a:bodyPr spcFirstLastPara="1" wrap="square" lIns="91375" tIns="45675" rIns="91375" bIns="45675" anchor="b"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kumimoji="0" lang="ar-SA"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rPr>
                <a:t>		الزوار</a:t>
              </a: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cxnSp>
          <p:nvCxnSpPr>
            <p:cNvPr id="11" name="Google Shape;1104;p24">
              <a:extLst>
                <a:ext uri="{FF2B5EF4-FFF2-40B4-BE49-F238E27FC236}">
                  <a16:creationId xmlns:a16="http://schemas.microsoft.com/office/drawing/2014/main" id="{E65D5A67-6BFF-3151-B976-EEBA3FD8D265}"/>
                </a:ext>
              </a:extLst>
            </p:cNvPr>
            <p:cNvCxnSpPr/>
            <p:nvPr/>
          </p:nvCxnSpPr>
          <p:spPr>
            <a:xfrm flipH="1">
              <a:off x="11320689" y="1681481"/>
              <a:ext cx="0" cy="4122607"/>
            </a:xfrm>
            <a:prstGeom prst="straightConnector1">
              <a:avLst/>
            </a:prstGeom>
            <a:noFill/>
            <a:ln w="19050" cap="flat" cmpd="sng">
              <a:solidFill>
                <a:srgbClr val="345271"/>
              </a:solidFill>
              <a:prstDash val="solid"/>
              <a:round/>
              <a:headEnd type="stealth" w="med" len="med"/>
              <a:tailEnd type="stealth" w="med" len="med"/>
            </a:ln>
          </p:spPr>
        </p:cxnSp>
        <p:sp>
          <p:nvSpPr>
            <p:cNvPr id="12" name="Google Shape;1105;p24">
              <a:extLst>
                <a:ext uri="{FF2B5EF4-FFF2-40B4-BE49-F238E27FC236}">
                  <a16:creationId xmlns:a16="http://schemas.microsoft.com/office/drawing/2014/main" id="{6A74271D-A743-2A28-5287-CAE65BFC4680}"/>
                </a:ext>
              </a:extLst>
            </p:cNvPr>
            <p:cNvSpPr txBox="1"/>
            <p:nvPr/>
          </p:nvSpPr>
          <p:spPr>
            <a:xfrm flipH="1">
              <a:off x="4220283" y="5952072"/>
              <a:ext cx="3392715" cy="246221"/>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600"/>
                <a:buFont typeface="Arial"/>
                <a:buNone/>
                <a:tabLst/>
                <a:defRPr/>
              </a:pPr>
              <a:r>
                <a:rPr kumimoji="0" lang="ar-JO" sz="1600" b="1" i="0" u="none" strike="noStrike" kern="0" cap="none" spc="0" normalizeH="0" baseline="0" noProof="0">
                  <a:ln>
                    <a:noFill/>
                  </a:ln>
                  <a:solidFill>
                    <a:srgbClr val="000000"/>
                  </a:solidFill>
                  <a:effectLst/>
                  <a:uLnTx/>
                  <a:uFillTx/>
                  <a:latin typeface="Neo Sans Arabic Bold" panose="020B0804030504040204" pitchFamily="34" charset="-78"/>
                  <a:ea typeface="Sakkal Majalla"/>
                  <a:cs typeface="Neo Sans Arabic Bold" panose="020B0804030504040204" pitchFamily="34" charset="-78"/>
                  <a:sym typeface="Sakkal Majalla"/>
                </a:rPr>
                <a:t>سهولة التنفيذ</a:t>
              </a:r>
              <a:endParaRPr kumimoji="0" sz="1400" b="0" i="0" u="none" strike="noStrike" kern="0" cap="none" spc="0" normalizeH="0" baseline="0" noProof="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13" name="Google Shape;1106;p24">
              <a:extLst>
                <a:ext uri="{FF2B5EF4-FFF2-40B4-BE49-F238E27FC236}">
                  <a16:creationId xmlns:a16="http://schemas.microsoft.com/office/drawing/2014/main" id="{BDACA6C0-5787-6A13-24BF-7B41C480EF0D}"/>
                </a:ext>
              </a:extLst>
            </p:cNvPr>
            <p:cNvSpPr txBox="1"/>
            <p:nvPr/>
          </p:nvSpPr>
          <p:spPr>
            <a:xfrm rot="5400000" flipH="1">
              <a:off x="10761515" y="3568070"/>
              <a:ext cx="1148839" cy="255697"/>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600"/>
                <a:buFont typeface="Arial"/>
                <a:buNone/>
                <a:tabLst/>
                <a:defRPr/>
              </a:pPr>
              <a:r>
                <a:rPr kumimoji="0" lang="ar-JO" sz="1600" b="1" i="0" u="none" strike="noStrike" kern="0" cap="none" spc="0" normalizeH="0" baseline="0" noProof="0" dirty="0">
                  <a:ln>
                    <a:noFill/>
                  </a:ln>
                  <a:solidFill>
                    <a:srgbClr val="404040"/>
                  </a:solidFill>
                  <a:effectLst/>
                  <a:uLnTx/>
                  <a:uFillTx/>
                  <a:latin typeface="Neo Sans Arabic Bold" panose="020B0804030504040204" pitchFamily="34" charset="-78"/>
                  <a:ea typeface="Sakkal Majalla"/>
                  <a:cs typeface="Neo Sans Arabic Bold" panose="020B0804030504040204" pitchFamily="34" charset="-78"/>
                  <a:sym typeface="Sakkal Majalla"/>
                </a:rPr>
                <a:t>الأثر</a:t>
              </a:r>
              <a:r>
                <a:rPr kumimoji="0" lang="ar-SA" sz="1600" b="1" i="0" u="none" strike="noStrike" kern="0" cap="none" spc="0" normalizeH="0" baseline="0" noProof="0" dirty="0">
                  <a:ln>
                    <a:noFill/>
                  </a:ln>
                  <a:solidFill>
                    <a:srgbClr val="404040"/>
                  </a:solidFill>
                  <a:effectLst/>
                  <a:uLnTx/>
                  <a:uFillTx/>
                  <a:latin typeface="Neo Sans Arabic Bold" panose="020B0804030504040204" pitchFamily="34" charset="-78"/>
                  <a:ea typeface="Sakkal Majalla"/>
                  <a:cs typeface="Neo Sans Arabic Bold" panose="020B0804030504040204" pitchFamily="34" charset="-78"/>
                  <a:sym typeface="Sakkal Majalla"/>
                </a:rPr>
                <a:t> المتوقع</a:t>
              </a: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5" name="Google Shape;1107;p24">
              <a:extLst>
                <a:ext uri="{FF2B5EF4-FFF2-40B4-BE49-F238E27FC236}">
                  <a16:creationId xmlns:a16="http://schemas.microsoft.com/office/drawing/2014/main" id="{9186CC51-CA26-6AA3-363B-C1C90B65020F}"/>
                </a:ext>
              </a:extLst>
            </p:cNvPr>
            <p:cNvSpPr txBox="1"/>
            <p:nvPr/>
          </p:nvSpPr>
          <p:spPr>
            <a:xfrm flipH="1">
              <a:off x="9821359" y="5874213"/>
              <a:ext cx="974790" cy="184666"/>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200"/>
                <a:buFont typeface="Arial"/>
                <a:buNone/>
                <a:tabLst/>
                <a:defRPr/>
              </a:pPr>
              <a:r>
                <a:rPr kumimoji="0" lang="ar-JO" sz="1200" b="1" i="0" u="none" strike="noStrike" kern="0" cap="none" spc="0" normalizeH="0" baseline="0" noProof="0" dirty="0">
                  <a:ln>
                    <a:noFill/>
                  </a:ln>
                  <a:solidFill>
                    <a:srgbClr val="2FBFC0"/>
                  </a:solidFill>
                  <a:effectLst/>
                  <a:uLnTx/>
                  <a:uFillTx/>
                  <a:latin typeface="Neo Sans Arabic Bold" panose="020B0804030504040204" pitchFamily="34" charset="-78"/>
                  <a:ea typeface="Sakkal Majalla"/>
                  <a:cs typeface="Neo Sans Arabic Bold" panose="020B0804030504040204" pitchFamily="34" charset="-78"/>
                  <a:sym typeface="Sakkal Majalla"/>
                </a:rPr>
                <a:t>صعبة</a:t>
              </a:r>
              <a:endParaRPr kumimoji="0" sz="1400" b="0" i="0" u="none" strike="noStrike" kern="0" cap="none" spc="0" normalizeH="0" baseline="0" noProof="0" dirty="0">
                <a:ln>
                  <a:noFill/>
                </a:ln>
                <a:solidFill>
                  <a:srgbClr val="2FBFC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6" name="Google Shape;1108;p24">
              <a:extLst>
                <a:ext uri="{FF2B5EF4-FFF2-40B4-BE49-F238E27FC236}">
                  <a16:creationId xmlns:a16="http://schemas.microsoft.com/office/drawing/2014/main" id="{FE276C5C-BC08-0D64-F568-8B1C3127F8C7}"/>
                </a:ext>
              </a:extLst>
            </p:cNvPr>
            <p:cNvSpPr txBox="1"/>
            <p:nvPr/>
          </p:nvSpPr>
          <p:spPr>
            <a:xfrm rot="5400000" flipH="1">
              <a:off x="10656092" y="1826599"/>
              <a:ext cx="875470" cy="191773"/>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200"/>
                <a:buFont typeface="Arial"/>
                <a:buNone/>
                <a:tabLst/>
                <a:defRPr/>
              </a:pPr>
              <a:r>
                <a:rPr kumimoji="0" lang="ar-JO" sz="1200" b="1" i="0" u="none" strike="noStrike" kern="0" cap="none" spc="0" normalizeH="0" baseline="0" noProof="0" dirty="0">
                  <a:ln>
                    <a:noFill/>
                  </a:ln>
                  <a:solidFill>
                    <a:srgbClr val="2FBFC0"/>
                  </a:solidFill>
                  <a:effectLst/>
                  <a:uLnTx/>
                  <a:uFillTx/>
                  <a:latin typeface="Neo Sans Arabic Bold" panose="020B0804030504040204" pitchFamily="34" charset="-78"/>
                  <a:ea typeface="Sakkal Majalla"/>
                  <a:cs typeface="Neo Sans Arabic Bold" panose="020B0804030504040204" pitchFamily="34" charset="-78"/>
                  <a:sym typeface="Sakkal Majalla"/>
                </a:rPr>
                <a:t>مرتفع</a:t>
              </a:r>
              <a:endParaRPr kumimoji="0" sz="1400" b="0" i="0" u="none" strike="noStrike" kern="0" cap="none" spc="0" normalizeH="0" baseline="0" noProof="0" dirty="0">
                <a:ln>
                  <a:noFill/>
                </a:ln>
                <a:solidFill>
                  <a:srgbClr val="2FBFC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7" name="Google Shape;1109;p24">
              <a:extLst>
                <a:ext uri="{FF2B5EF4-FFF2-40B4-BE49-F238E27FC236}">
                  <a16:creationId xmlns:a16="http://schemas.microsoft.com/office/drawing/2014/main" id="{9325A765-1F67-2762-227C-E765CEDC77FC}"/>
                </a:ext>
              </a:extLst>
            </p:cNvPr>
            <p:cNvSpPr txBox="1"/>
            <p:nvPr/>
          </p:nvSpPr>
          <p:spPr>
            <a:xfrm rot="5400000" flipH="1">
              <a:off x="10656091" y="5278306"/>
              <a:ext cx="875471" cy="191773"/>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200"/>
                <a:buFont typeface="Arial"/>
                <a:buNone/>
                <a:tabLst/>
                <a:defRPr/>
              </a:pPr>
              <a:r>
                <a:rPr kumimoji="0" lang="ar-JO" sz="1200" b="1" i="0" u="none" strike="noStrike" kern="0" cap="none" spc="0" normalizeH="0" baseline="0" noProof="0" dirty="0">
                  <a:ln>
                    <a:noFill/>
                  </a:ln>
                  <a:solidFill>
                    <a:srgbClr val="2FBFC0"/>
                  </a:solidFill>
                  <a:effectLst/>
                  <a:uLnTx/>
                  <a:uFillTx/>
                  <a:latin typeface="Neo Sans Arabic Bold" panose="020B0804030504040204" pitchFamily="34" charset="-78"/>
                  <a:ea typeface="Sakkal Majalla"/>
                  <a:cs typeface="Neo Sans Arabic Bold" panose="020B0804030504040204" pitchFamily="34" charset="-78"/>
                  <a:sym typeface="Sakkal Majalla"/>
                </a:rPr>
                <a:t>منخفض</a:t>
              </a:r>
              <a:endParaRPr kumimoji="0" sz="1400" b="0" i="0" u="none" strike="noStrike" kern="0" cap="none" spc="0" normalizeH="0" baseline="0" noProof="0" dirty="0">
                <a:ln>
                  <a:noFill/>
                </a:ln>
                <a:solidFill>
                  <a:srgbClr val="2FBFC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8" name="Google Shape;1110;p24">
              <a:extLst>
                <a:ext uri="{FF2B5EF4-FFF2-40B4-BE49-F238E27FC236}">
                  <a16:creationId xmlns:a16="http://schemas.microsoft.com/office/drawing/2014/main" id="{48D040C8-55B0-2F69-56FD-4F55742EC729}"/>
                </a:ext>
              </a:extLst>
            </p:cNvPr>
            <p:cNvSpPr txBox="1"/>
            <p:nvPr/>
          </p:nvSpPr>
          <p:spPr>
            <a:xfrm flipH="1">
              <a:off x="1076823" y="5862102"/>
              <a:ext cx="746175" cy="184666"/>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200"/>
                <a:buFont typeface="Arial"/>
                <a:buNone/>
                <a:tabLst/>
                <a:defRPr/>
              </a:pPr>
              <a:r>
                <a:rPr kumimoji="0" lang="ar-JO" sz="1200" b="1" i="0" u="none" strike="noStrike" kern="0" cap="none" spc="0" normalizeH="0" baseline="0" noProof="0" dirty="0">
                  <a:ln>
                    <a:noFill/>
                  </a:ln>
                  <a:solidFill>
                    <a:srgbClr val="2FBFC0"/>
                  </a:solidFill>
                  <a:effectLst/>
                  <a:uLnTx/>
                  <a:uFillTx/>
                  <a:latin typeface="Neo Sans Arabic Bold" panose="020B0804030504040204" pitchFamily="34" charset="-78"/>
                  <a:ea typeface="Sakkal Majalla"/>
                  <a:cs typeface="Neo Sans Arabic Bold" panose="020B0804030504040204" pitchFamily="34" charset="-78"/>
                  <a:sym typeface="Sakkal Majalla"/>
                </a:rPr>
                <a:t>سهلة</a:t>
              </a:r>
              <a:endParaRPr kumimoji="0" sz="1400" b="0" i="0" u="none" strike="noStrike" kern="0" cap="none" spc="0" normalizeH="0" baseline="0" noProof="0" dirty="0">
                <a:ln>
                  <a:noFill/>
                </a:ln>
                <a:solidFill>
                  <a:srgbClr val="2FBFC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9" name="مربع نص 45">
              <a:extLst>
                <a:ext uri="{FF2B5EF4-FFF2-40B4-BE49-F238E27FC236}">
                  <a16:creationId xmlns:a16="http://schemas.microsoft.com/office/drawing/2014/main" id="{DB9DA22E-A1BE-F121-684D-5B5C2CC16EE8}"/>
                </a:ext>
              </a:extLst>
            </p:cNvPr>
            <p:cNvSpPr txBox="1"/>
            <p:nvPr/>
          </p:nvSpPr>
          <p:spPr>
            <a:xfrm>
              <a:off x="9151298" y="1738131"/>
              <a:ext cx="1662624" cy="307777"/>
            </a:xfrm>
            <a:prstGeom prst="rect">
              <a:avLst/>
            </a:prstGeom>
            <a:solidFill>
              <a:srgbClr val="2FBFC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4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أولوية عليا</a:t>
              </a:r>
            </a:p>
          </p:txBody>
        </p:sp>
        <p:sp>
          <p:nvSpPr>
            <p:cNvPr id="30" name="مربع نص 46">
              <a:extLst>
                <a:ext uri="{FF2B5EF4-FFF2-40B4-BE49-F238E27FC236}">
                  <a16:creationId xmlns:a16="http://schemas.microsoft.com/office/drawing/2014/main" id="{1CAB2D48-EFA3-D206-F4EC-241816A0D27E}"/>
                </a:ext>
              </a:extLst>
            </p:cNvPr>
            <p:cNvSpPr txBox="1"/>
            <p:nvPr/>
          </p:nvSpPr>
          <p:spPr>
            <a:xfrm>
              <a:off x="9151298" y="5453487"/>
              <a:ext cx="1648861" cy="307777"/>
            </a:xfrm>
            <a:prstGeom prst="rect">
              <a:avLst/>
            </a:prstGeom>
            <a:solidFill>
              <a:srgbClr val="2FBFC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4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أولوية منخفضة</a:t>
              </a:r>
            </a:p>
          </p:txBody>
        </p:sp>
        <p:sp>
          <p:nvSpPr>
            <p:cNvPr id="31" name="مربع نص 47">
              <a:extLst>
                <a:ext uri="{FF2B5EF4-FFF2-40B4-BE49-F238E27FC236}">
                  <a16:creationId xmlns:a16="http://schemas.microsoft.com/office/drawing/2014/main" id="{2EB7E112-34B4-E750-EC6F-91DC936A8351}"/>
                </a:ext>
              </a:extLst>
            </p:cNvPr>
            <p:cNvSpPr txBox="1"/>
            <p:nvPr/>
          </p:nvSpPr>
          <p:spPr>
            <a:xfrm>
              <a:off x="4128821" y="1753611"/>
              <a:ext cx="1639420" cy="307777"/>
            </a:xfrm>
            <a:prstGeom prst="rect">
              <a:avLst/>
            </a:prstGeom>
            <a:solidFill>
              <a:srgbClr val="2FBFC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4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مكاسب سريعة</a:t>
              </a:r>
            </a:p>
          </p:txBody>
        </p:sp>
        <p:sp>
          <p:nvSpPr>
            <p:cNvPr id="32" name="مربع نص 48">
              <a:extLst>
                <a:ext uri="{FF2B5EF4-FFF2-40B4-BE49-F238E27FC236}">
                  <a16:creationId xmlns:a16="http://schemas.microsoft.com/office/drawing/2014/main" id="{B5675D9B-B2A3-AD48-2C85-26DC79C356ED}"/>
                </a:ext>
              </a:extLst>
            </p:cNvPr>
            <p:cNvSpPr txBox="1"/>
            <p:nvPr/>
          </p:nvSpPr>
          <p:spPr>
            <a:xfrm>
              <a:off x="4128821" y="5453487"/>
              <a:ext cx="1619410" cy="307521"/>
            </a:xfrm>
            <a:prstGeom prst="rect">
              <a:avLst/>
            </a:prstGeom>
            <a:solidFill>
              <a:srgbClr val="2FBFC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4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أولوية متوسطة</a:t>
              </a:r>
            </a:p>
          </p:txBody>
        </p:sp>
      </p:grpSp>
    </p:spTree>
    <p:extLst>
      <p:ext uri="{BB962C8B-B14F-4D97-AF65-F5344CB8AC3E}">
        <p14:creationId xmlns:p14="http://schemas.microsoft.com/office/powerpoint/2010/main" val="1483401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FBF5C1-3EE9-563B-C277-6248CD3F97AF}"/>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173B8620-EBC8-52FB-B1F8-8A4B4FD06587}"/>
              </a:ext>
            </a:extLst>
          </p:cNvPr>
          <p:cNvSpPr txBox="1"/>
          <p:nvPr/>
        </p:nvSpPr>
        <p:spPr>
          <a:xfrm>
            <a:off x="4522343" y="504638"/>
            <a:ext cx="7180032" cy="573427"/>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تحليل صاحب المصلحة</a:t>
            </a:r>
            <a:endParaRPr kumimoji="0" lang="en-US" sz="24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aphicFrame>
        <p:nvGraphicFramePr>
          <p:cNvPr id="5" name="جدول 5">
            <a:extLst>
              <a:ext uri="{FF2B5EF4-FFF2-40B4-BE49-F238E27FC236}">
                <a16:creationId xmlns:a16="http://schemas.microsoft.com/office/drawing/2014/main" id="{FB0B1E34-4C55-649B-DAF3-D7334C4212DA}"/>
              </a:ext>
            </a:extLst>
          </p:cNvPr>
          <p:cNvGraphicFramePr>
            <a:graphicFrameLocks noGrp="1"/>
          </p:cNvGraphicFramePr>
          <p:nvPr>
            <p:extLst>
              <p:ext uri="{D42A27DB-BD31-4B8C-83A1-F6EECF244321}">
                <p14:modId xmlns:p14="http://schemas.microsoft.com/office/powerpoint/2010/main" val="388047569"/>
              </p:ext>
            </p:extLst>
          </p:nvPr>
        </p:nvGraphicFramePr>
        <p:xfrm>
          <a:off x="554915" y="1268839"/>
          <a:ext cx="11147460" cy="5450459"/>
        </p:xfrm>
        <a:graphic>
          <a:graphicData uri="http://schemas.openxmlformats.org/drawingml/2006/table">
            <a:tbl>
              <a:tblPr rtl="1" firstRow="1" bandRow="1"/>
              <a:tblGrid>
                <a:gridCol w="3868551">
                  <a:extLst>
                    <a:ext uri="{9D8B030D-6E8A-4147-A177-3AD203B41FA5}">
                      <a16:colId xmlns:a16="http://schemas.microsoft.com/office/drawing/2014/main" val="3509996526"/>
                    </a:ext>
                  </a:extLst>
                </a:gridCol>
                <a:gridCol w="3695481">
                  <a:extLst>
                    <a:ext uri="{9D8B030D-6E8A-4147-A177-3AD203B41FA5}">
                      <a16:colId xmlns:a16="http://schemas.microsoft.com/office/drawing/2014/main" val="1946176779"/>
                    </a:ext>
                  </a:extLst>
                </a:gridCol>
                <a:gridCol w="3583428">
                  <a:extLst>
                    <a:ext uri="{9D8B030D-6E8A-4147-A177-3AD203B41FA5}">
                      <a16:colId xmlns:a16="http://schemas.microsoft.com/office/drawing/2014/main" val="3489412770"/>
                    </a:ext>
                  </a:extLst>
                </a:gridCol>
              </a:tblGrid>
              <a:tr h="409088">
                <a:tc rowSpan="2">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ar-SA" sz="1800" dirty="0">
                        <a:solidFill>
                          <a:schemeClr val="bg2">
                            <a:lumMod val="10000"/>
                          </a:schemeClr>
                        </a:solidFill>
                        <a:latin typeface="Neo Sans Arabic Medium" panose="020B0704030504040204" pitchFamily="34" charset="-78"/>
                        <a:cs typeface="Neo Sans Arabic Medium" panose="020B0704030504040204" pitchFamily="34"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800" dirty="0">
                          <a:solidFill>
                            <a:schemeClr val="bg2">
                              <a:lumMod val="10000"/>
                            </a:schemeClr>
                          </a:solidFill>
                          <a:latin typeface="Neo Sans Arabic Medium" panose="020B0704030504040204" pitchFamily="34" charset="-78"/>
                          <a:cs typeface="Neo Sans Arabic Medium" panose="020B0704030504040204" pitchFamily="34" charset="-78"/>
                        </a:rPr>
                        <a:t>صاحب المصلحة</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1827886"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EDF9EF">
                              <a:lumMod val="10000"/>
                            </a:srgbClr>
                          </a:solidFill>
                          <a:effectLst/>
                          <a:highlight>
                            <a:srgbClr val="5ECDCB"/>
                          </a:highlight>
                          <a:uLnTx/>
                          <a:uFillTx/>
                          <a:latin typeface="Neo Sans Arabic Medium" panose="020B0704030504040204" pitchFamily="34" charset="-78"/>
                          <a:ea typeface="+mn-ea"/>
                          <a:cs typeface="Neo Sans Arabic Medium" panose="020B0704030504040204" pitchFamily="34" charset="-78"/>
                        </a:rPr>
                        <a:t>نقاط القوة </a:t>
                      </a:r>
                      <a:r>
                        <a:rPr kumimoji="0" lang="ar-SA" sz="1600" b="0" i="0" u="none" strike="noStrike" kern="1200" cap="none" spc="0" normalizeH="0" baseline="0" noProof="0" dirty="0">
                          <a:ln>
                            <a:noFill/>
                          </a:ln>
                          <a:solidFill>
                            <a:srgbClr val="EDF9EF">
                              <a:lumMod val="10000"/>
                            </a:srgbClr>
                          </a:solidFill>
                          <a:effectLst/>
                          <a:highlight>
                            <a:srgbClr val="5ECDCB"/>
                          </a:highlight>
                          <a:uLnTx/>
                          <a:uFillTx/>
                          <a:latin typeface="Neo Sans Arabic Medium" panose="020B0704030504040204" pitchFamily="34" charset="-78"/>
                          <a:ea typeface="+mn-ea"/>
                          <a:cs typeface="Neo Sans Arabic Medium" panose="020B0704030504040204" pitchFamily="34" charset="-78"/>
                        </a:rPr>
                        <a:t>- </a:t>
                      </a:r>
                      <a:r>
                        <a:rPr kumimoji="0" lang="en-US" sz="1600" b="0" i="0" u="none" strike="noStrike" kern="1200" cap="none" spc="0" normalizeH="0" baseline="0" noProof="0" dirty="0">
                          <a:ln>
                            <a:noFill/>
                          </a:ln>
                          <a:solidFill>
                            <a:srgbClr val="EDF9EF">
                              <a:lumMod val="10000"/>
                            </a:srgbClr>
                          </a:solidFill>
                          <a:effectLst/>
                          <a:highlight>
                            <a:srgbClr val="5ECDCB"/>
                          </a:highlight>
                          <a:uLnTx/>
                          <a:uFillTx/>
                          <a:latin typeface="Neo Sans Arabic Medium" panose="020B0704030504040204" pitchFamily="34" charset="-78"/>
                          <a:ea typeface="+mn-ea"/>
                          <a:cs typeface="Neo Sans Arabic Medium" panose="020B0704030504040204" pitchFamily="34" charset="-78"/>
                        </a:rPr>
                        <a:t>S</a:t>
                      </a:r>
                      <a:endParaRPr kumimoji="0" lang="ar-SA" sz="1600" b="0" i="0" u="none" strike="noStrike" kern="1200" cap="none" spc="0" normalizeH="0" baseline="0" noProof="0" dirty="0">
                        <a:ln>
                          <a:noFill/>
                        </a:ln>
                        <a:solidFill>
                          <a:srgbClr val="EDF9EF">
                            <a:lumMod val="10000"/>
                          </a:srgbClr>
                        </a:solidFill>
                        <a:effectLst/>
                        <a:highlight>
                          <a:srgbClr val="5ECDCB"/>
                        </a:highlight>
                        <a:uLnTx/>
                        <a:uFillTx/>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algn="r" defTabSz="914400" rtl="1" eaLnBrk="1" latinLnBrk="0" hangingPunct="1"/>
                      <a:r>
                        <a:rPr lang="ar-SA" sz="1800" b="0"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نقاط الضعف </a:t>
                      </a:r>
                      <a:r>
                        <a:rPr lang="ar-SA" sz="1600" b="1"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 </a:t>
                      </a:r>
                      <a:r>
                        <a:rPr lang="en-US" sz="1600" b="1"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W</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328982"/>
                  </a:ext>
                </a:extLst>
              </a:tr>
              <a:tr h="1680457">
                <a:tc vMerge="1">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endParaRPr dirty="0"/>
                    </a:p>
                  </a:txBody>
                  <a:tcPr anchor="ctr">
                    <a:lnL w="12700" cmpd="sng">
                      <a:solidFill>
                        <a:sysClr val="window" lastClr="FFFFFF"/>
                      </a:solidFill>
                    </a:lnL>
                    <a:lnR w="12700" cap="flat" cmpd="sng" algn="ctr">
                      <a:solidFill>
                        <a:schemeClr val="tx1"/>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وجود دافع انساني</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انخفاض التكاليف</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pPr marL="342900" indent="-342900" algn="r" defTabSz="914400" rtl="1" eaLnBrk="1" latinLnBrk="0" hangingPunct="1">
                        <a:lnSpc>
                          <a:spcPct val="100000"/>
                        </a:lnSpc>
                        <a:buFont typeface="Courier New" panose="02070309020205020404" pitchFamily="49" charset="0"/>
                        <a:buChar char="o"/>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عدم الاستقرار في عدد المتطوعين</a:t>
                      </a:r>
                    </a:p>
                    <a:p>
                      <a:pPr marL="342900" indent="-342900" algn="r" defTabSz="914400" rtl="1" eaLnBrk="1" latinLnBrk="0" hangingPunct="1">
                        <a:lnSpc>
                          <a:spcPct val="100000"/>
                        </a:lnSpc>
                        <a:buFont typeface="Courier New" panose="02070309020205020404" pitchFamily="49" charset="0"/>
                        <a:buChar char="o"/>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ضعف في التنظيم</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55168958"/>
                  </a:ext>
                </a:extLst>
              </a:tr>
              <a:tr h="1768902">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algn="r" rtl="1"/>
                      <a:r>
                        <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الفرص – </a:t>
                      </a:r>
                      <a:r>
                        <a:rPr lang="en-US"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O</a:t>
                      </a:r>
                    </a:p>
                    <a:p>
                      <a:pPr algn="r" rtl="1"/>
                      <a:endParaRPr lang="en-US"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endParaRPr>
                    </a:p>
                    <a:p>
                      <a:pPr algn="r" rtl="1"/>
                      <a:r>
                        <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زيادة الوعي المجتمعي</a:t>
                      </a:r>
                    </a:p>
                    <a:p>
                      <a:pPr algn="r" rtl="1"/>
                      <a:r>
                        <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إمكانية الشراكة مع جهات حكومية</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S-O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r>
                        <a:rPr lang="en-US"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W-O Strategies</a:t>
                      </a:r>
                      <a:endParaRPr lang="ar-SA"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05106772"/>
                  </a:ext>
                </a:extLst>
              </a:tr>
              <a:tr h="1592012">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algn="r" rtl="1"/>
                      <a:r>
                        <a:rPr lang="ar-SA" sz="1600" b="0"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التحديات</a:t>
                      </a:r>
                      <a:r>
                        <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 – </a:t>
                      </a:r>
                      <a:r>
                        <a:rPr lang="en-US"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T</a:t>
                      </a:r>
                      <a:endPar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endParaRPr>
                    </a:p>
                    <a:p>
                      <a:pPr algn="r" rtl="1"/>
                      <a:endPar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endParaRPr>
                    </a:p>
                    <a:p>
                      <a:pPr algn="r" rtl="1"/>
                      <a:r>
                        <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المنافسة مع مبادرات تطوعية اخرى</a:t>
                      </a:r>
                    </a:p>
                    <a:p>
                      <a:pPr algn="r" rtl="1"/>
                      <a:r>
                        <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البيروقراطية او القيود </a:t>
                      </a:r>
                      <a:r>
                        <a:rPr lang="ar-SA" sz="1600" b="1" dirty="0" err="1">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التنظيكية</a:t>
                      </a:r>
                      <a:endParaRPr lang="en-US"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S-T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W-T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43502529"/>
                  </a:ext>
                </a:extLst>
              </a:tr>
            </a:tbl>
          </a:graphicData>
        </a:graphic>
      </p:graphicFrame>
    </p:spTree>
    <p:extLst>
      <p:ext uri="{BB962C8B-B14F-4D97-AF65-F5344CB8AC3E}">
        <p14:creationId xmlns:p14="http://schemas.microsoft.com/office/powerpoint/2010/main" val="4214525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2. توقعات  أصحاب المصلحة </a:t>
            </a:r>
          </a:p>
        </p:txBody>
      </p:sp>
      <p:sp>
        <p:nvSpPr>
          <p:cNvPr id="7" name="مربع نص 6">
            <a:extLst>
              <a:ext uri="{FF2B5EF4-FFF2-40B4-BE49-F238E27FC236}">
                <a16:creationId xmlns:a16="http://schemas.microsoft.com/office/drawing/2014/main" id="{5EEAAF48-D580-C954-C454-4CF4FFF2EDAE}"/>
              </a:ext>
            </a:extLst>
          </p:cNvPr>
          <p:cNvSpPr txBox="1"/>
          <p:nvPr/>
        </p:nvSpPr>
        <p:spPr>
          <a:xfrm>
            <a:off x="390419" y="1367941"/>
            <a:ext cx="11311956" cy="923330"/>
          </a:xfrm>
          <a:prstGeom prst="rect">
            <a:avLst/>
          </a:prstGeom>
          <a:noFill/>
        </p:spPr>
        <p:txBody>
          <a:bodyPr wrap="square">
            <a:spAutoFit/>
          </a:bodyPr>
          <a:lstStyle/>
          <a:p>
            <a:pPr algn="justLow"/>
            <a:r>
              <a:rPr lang="ar-SA" dirty="0">
                <a:latin typeface="Neo Sans Arabic Medium" panose="020B0704030504040204" pitchFamily="34" charset="-78"/>
                <a:cs typeface="Neo Sans Arabic Medium" panose="020B0704030504040204" pitchFamily="34" charset="-78"/>
              </a:rPr>
              <a:t>توقعات أصحاب المصلحة تشير إلى الآمال والمطالب التي يحملها الأفراد أو المنظمات المؤثرة أو المتأثرة بوحدة العمل التطوعي. فهم وإدارة هذه التوقعات بشكل فعال يساعد في بناء علاقات قوية، وتقليل المخاطر، وضمان نجاح مهام وحدة العمل التطوعي. </a:t>
            </a:r>
          </a:p>
        </p:txBody>
      </p:sp>
      <p:graphicFrame>
        <p:nvGraphicFramePr>
          <p:cNvPr id="8" name="Table 2">
            <a:extLst>
              <a:ext uri="{FF2B5EF4-FFF2-40B4-BE49-F238E27FC236}">
                <a16:creationId xmlns:a16="http://schemas.microsoft.com/office/drawing/2014/main" id="{9BFC07CF-609C-EC82-6543-74C4282B29C2}"/>
              </a:ext>
            </a:extLst>
          </p:cNvPr>
          <p:cNvGraphicFramePr>
            <a:graphicFrameLocks noGrp="1"/>
          </p:cNvGraphicFramePr>
          <p:nvPr>
            <p:extLst>
              <p:ext uri="{D42A27DB-BD31-4B8C-83A1-F6EECF244321}">
                <p14:modId xmlns:p14="http://schemas.microsoft.com/office/powerpoint/2010/main" val="524163631"/>
              </p:ext>
            </p:extLst>
          </p:nvPr>
        </p:nvGraphicFramePr>
        <p:xfrm>
          <a:off x="513709" y="2499433"/>
          <a:ext cx="11188666" cy="3648282"/>
        </p:xfrm>
        <a:graphic>
          <a:graphicData uri="http://schemas.openxmlformats.org/drawingml/2006/table">
            <a:tbl>
              <a:tblPr rtl="1"/>
              <a:tblGrid>
                <a:gridCol w="1668485">
                  <a:extLst>
                    <a:ext uri="{9D8B030D-6E8A-4147-A177-3AD203B41FA5}">
                      <a16:colId xmlns:a16="http://schemas.microsoft.com/office/drawing/2014/main" val="889476432"/>
                    </a:ext>
                  </a:extLst>
                </a:gridCol>
                <a:gridCol w="3925848">
                  <a:extLst>
                    <a:ext uri="{9D8B030D-6E8A-4147-A177-3AD203B41FA5}">
                      <a16:colId xmlns:a16="http://schemas.microsoft.com/office/drawing/2014/main" val="2954684427"/>
                    </a:ext>
                  </a:extLst>
                </a:gridCol>
                <a:gridCol w="1668485">
                  <a:extLst>
                    <a:ext uri="{9D8B030D-6E8A-4147-A177-3AD203B41FA5}">
                      <a16:colId xmlns:a16="http://schemas.microsoft.com/office/drawing/2014/main" val="4243481847"/>
                    </a:ext>
                  </a:extLst>
                </a:gridCol>
                <a:gridCol w="3925848">
                  <a:extLst>
                    <a:ext uri="{9D8B030D-6E8A-4147-A177-3AD203B41FA5}">
                      <a16:colId xmlns:a16="http://schemas.microsoft.com/office/drawing/2014/main" val="3268439296"/>
                    </a:ext>
                  </a:extLst>
                </a:gridCol>
              </a:tblGrid>
              <a:tr h="380580">
                <a:tc gridSpan="2">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200" b="1" u="none" strike="noStrike" dirty="0">
                          <a:solidFill>
                            <a:schemeClr val="bg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من صاحب المصلحة (........)</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hMerge="1">
                  <a:txBody>
                    <a:bodyPr/>
                    <a:lstStyle/>
                    <a:p>
                      <a:pPr algn="ctr" rtl="1" fontAlgn="ctr"/>
                      <a:endParaRPr lang="ar-SA" sz="1200" b="1" u="none" strike="noStrike" dirty="0">
                        <a:solidFill>
                          <a:schemeClr val="bg1"/>
                        </a:solidFill>
                        <a:effectLst/>
                        <a:latin typeface="Ping AR + LT Medium" panose="00000600000000000000" pitchFamily="50" charset="-78"/>
                        <a:ea typeface="Ping AR + LT Medium" panose="00000600000000000000" pitchFamily="50" charset="-78"/>
                        <a:cs typeface="Ping AR + LT Medium" panose="00000600000000000000" pitchFamily="50" charset="-78"/>
                      </a:endParaRPr>
                    </a:p>
                  </a:txBody>
                  <a:tcPr marL="4101" marR="4101" marT="4101"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006E62"/>
                    </a:solidFill>
                  </a:tcPr>
                </a:tc>
                <a:tc gridSpan="2">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200" b="1"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من وحدة العمل التطوعي</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pPr algn="ctr" rtl="1" fontAlgn="ctr"/>
                      <a:endParaRPr lang="ar-SA" sz="1200" b="1" i="0" u="none" strike="noStrike" dirty="0">
                        <a:solidFill>
                          <a:schemeClr val="tx1"/>
                        </a:solidFill>
                        <a:effectLst/>
                        <a:latin typeface="Ping AR + LT Medium" panose="00000600000000000000" pitchFamily="50" charset="-78"/>
                        <a:ea typeface="Ping AR + LT Medium" panose="00000600000000000000" pitchFamily="50" charset="-78"/>
                        <a:cs typeface="Ping AR + LT Medium" panose="00000600000000000000" pitchFamily="50" charset="-78"/>
                      </a:endParaRPr>
                    </a:p>
                  </a:txBody>
                  <a:tcPr marL="4101" marR="4101" marT="4101"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565941353"/>
                  </a:ext>
                </a:extLst>
              </a:tr>
              <a:tr h="326030">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200" b="0" u="none" strike="noStrike" dirty="0">
                          <a:solidFill>
                            <a:schemeClr val="bg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التوقع</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200" b="0" u="none" strike="noStrike" dirty="0">
                          <a:solidFill>
                            <a:schemeClr val="bg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الوصف</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200" b="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التوقع</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200" b="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الوصف</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6CC42"/>
                    </a:solidFill>
                  </a:tcPr>
                </a:tc>
                <a:extLst>
                  <a:ext uri="{0D108BD9-81ED-4DB2-BD59-A6C34878D82A}">
                    <a16:rowId xmlns:a16="http://schemas.microsoft.com/office/drawing/2014/main" val="2610332660"/>
                  </a:ext>
                </a:extLst>
              </a:tr>
              <a:tr h="380580">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100" dirty="0"/>
                        <a:t>تحقيق أثر ملموس</a:t>
                      </a: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r>
                        <a:rPr lang="ar-SA" sz="1100" dirty="0"/>
                        <a:t>يتوقع أصحاب المصلحة (مثل المجتمع، الداعمين، الجهات الشريكة) أن تُحدث الوحدة التطوعية فرقًا حقيقيًا وواضحًا، مثل تحسين مستوى الوعي، تقديم خدمات فعّالة، أو حل مشكلة مجتمعية معينة.</a:t>
                      </a: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100" dirty="0"/>
                        <a:t>التزام المتطوعين</a:t>
                      </a: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justLow" defTabSz="914400" rtl="1" eaLnBrk="1" fontAlgn="ctr" latinLnBrk="0" hangingPunct="1">
                        <a:lnSpc>
                          <a:spcPct val="100000"/>
                        </a:lnSpc>
                        <a:spcBef>
                          <a:spcPts val="0"/>
                        </a:spcBef>
                        <a:spcAft>
                          <a:spcPts val="0"/>
                        </a:spcAft>
                        <a:buClrTx/>
                        <a:buSzTx/>
                        <a:buFontTx/>
                        <a:buNone/>
                        <a:tabLst/>
                        <a:defRPr/>
                      </a:pPr>
                      <a:r>
                        <a:rPr lang="ar-SA" sz="1100" dirty="0"/>
                        <a:t>تتوقع الوحدة من المتطوعين الالتزام بالحضور، أداء المهام، واحترام الوقت والأنظمة لضمان نجاح العمل.</a:t>
                      </a:r>
                    </a:p>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36516797"/>
                  </a:ext>
                </a:extLst>
              </a:tr>
              <a:tr h="439371">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100" dirty="0"/>
                        <a:t>لشفافية والمصداقية</a:t>
                      </a: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justLow" defTabSz="914400" rtl="1" eaLnBrk="1" fontAlgn="ctr" latinLnBrk="0" hangingPunct="1">
                        <a:lnSpc>
                          <a:spcPct val="100000"/>
                        </a:lnSpc>
                        <a:spcBef>
                          <a:spcPts val="0"/>
                        </a:spcBef>
                        <a:spcAft>
                          <a:spcPts val="0"/>
                        </a:spcAft>
                        <a:buClrTx/>
                        <a:buSzTx/>
                        <a:buFontTx/>
                        <a:buNone/>
                        <a:tabLst/>
                        <a:defRPr/>
                      </a:pPr>
                      <a:r>
                        <a:rPr lang="ar-SA" sz="1100" dirty="0"/>
                        <a:t>يريد أصحاب المصلحة تقارير واضحة عن الأنشطة، الإنجازات، والتحديات، مع مصداقية في عرض النتائج دون مبالغة.</a:t>
                      </a:r>
                    </a:p>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0" fontAlgn="ctr"/>
                      <a:r>
                        <a:rPr lang="ar-SA" sz="1100" dirty="0"/>
                        <a:t>الدعم المجتمعي</a:t>
                      </a: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justLow" defTabSz="914400" rtl="1" eaLnBrk="1" fontAlgn="ctr" latinLnBrk="0" hangingPunct="1">
                        <a:lnSpc>
                          <a:spcPct val="100000"/>
                        </a:lnSpc>
                        <a:spcBef>
                          <a:spcPts val="0"/>
                        </a:spcBef>
                        <a:spcAft>
                          <a:spcPts val="0"/>
                        </a:spcAft>
                        <a:buClrTx/>
                        <a:buSzTx/>
                        <a:buFontTx/>
                        <a:buNone/>
                        <a:tabLst/>
                        <a:defRPr/>
                      </a:pPr>
                      <a:r>
                        <a:rPr lang="ar-SA" sz="1100" dirty="0"/>
                        <a:t>تتوقع الوحدة الحصول على دعم معنوي ومادي من المجتمع، مثل التبرعات أو المشاركة في الفعاليات.</a:t>
                      </a:r>
                    </a:p>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9220443"/>
                  </a:ext>
                </a:extLst>
              </a:tr>
              <a:tr h="380580">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0" fontAlgn="ct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87732286"/>
                  </a:ext>
                </a:extLst>
              </a:tr>
              <a:tr h="392945">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0" fontAlgn="ct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23877317"/>
                  </a:ext>
                </a:extLst>
              </a:tr>
              <a:tr h="380580">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0" fontAlgn="ct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41544119"/>
                  </a:ext>
                </a:extLst>
              </a:tr>
              <a:tr h="380580">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0" fontAlgn="ct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89499078"/>
                  </a:ext>
                </a:extLst>
              </a:tr>
              <a:tr h="392945">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0" fontAlgn="ct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26516596"/>
                  </a:ext>
                </a:extLst>
              </a:tr>
            </a:tbl>
          </a:graphicData>
        </a:graphic>
      </p:graphicFrame>
    </p:spTree>
    <p:extLst>
      <p:ext uri="{BB962C8B-B14F-4D97-AF65-F5344CB8AC3E}">
        <p14:creationId xmlns:p14="http://schemas.microsoft.com/office/powerpoint/2010/main" val="2330197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6944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3200" dirty="0">
                <a:solidFill>
                  <a:prstClr val="white"/>
                </a:solidFill>
                <a:latin typeface="Bahij TheSansArabic SemiBold" panose="02040503050201020203" pitchFamily="18" charset="-78"/>
                <a:cs typeface="Bahij TheSansArabic SemiBold" panose="02040503050201020203" pitchFamily="18" charset="-78"/>
              </a:rPr>
              <a:t>نموذج </a:t>
            </a:r>
            <a:r>
              <a:rPr kumimoji="0" lang="ar-SA" sz="3200" b="0" i="0" u="none" strike="noStrike" kern="1200" cap="none" spc="0" normalizeH="0" baseline="0" noProof="0" dirty="0">
                <a:ln>
                  <a:noFill/>
                </a:ln>
                <a:solidFill>
                  <a:prstClr val="white"/>
                </a:solidFill>
                <a:effectLst/>
                <a:uLnTx/>
                <a:uFillTx/>
                <a:latin typeface="Bahij TheSansArabic SemiBold" panose="02040503050201020203" pitchFamily="18" charset="-78"/>
                <a:ea typeface="+mn-ea"/>
                <a:cs typeface="Bahij TheSansArabic SemiBold" panose="02040503050201020203" pitchFamily="18" charset="-78"/>
              </a:rPr>
              <a:t>مصفوفة  أصحاب المصلحة </a:t>
            </a:r>
          </a:p>
        </p:txBody>
      </p:sp>
      <p:graphicFrame>
        <p:nvGraphicFramePr>
          <p:cNvPr id="5" name="جدول 4">
            <a:extLst>
              <a:ext uri="{FF2B5EF4-FFF2-40B4-BE49-F238E27FC236}">
                <a16:creationId xmlns:a16="http://schemas.microsoft.com/office/drawing/2014/main" id="{A800BCF1-4455-BE36-E1D7-F0AA20C8A486}"/>
              </a:ext>
            </a:extLst>
          </p:cNvPr>
          <p:cNvGraphicFramePr>
            <a:graphicFrameLocks noGrp="1"/>
          </p:cNvGraphicFramePr>
          <p:nvPr>
            <p:extLst>
              <p:ext uri="{D42A27DB-BD31-4B8C-83A1-F6EECF244321}">
                <p14:modId xmlns:p14="http://schemas.microsoft.com/office/powerpoint/2010/main" val="1405917760"/>
              </p:ext>
            </p:extLst>
          </p:nvPr>
        </p:nvGraphicFramePr>
        <p:xfrm>
          <a:off x="306512" y="2347645"/>
          <a:ext cx="11578975" cy="3577453"/>
        </p:xfrm>
        <a:graphic>
          <a:graphicData uri="http://schemas.openxmlformats.org/drawingml/2006/table">
            <a:tbl>
              <a:tblPr firstRow="1" bandRow="1"/>
              <a:tblGrid>
                <a:gridCol w="983774">
                  <a:extLst>
                    <a:ext uri="{9D8B030D-6E8A-4147-A177-3AD203B41FA5}">
                      <a16:colId xmlns:a16="http://schemas.microsoft.com/office/drawing/2014/main" val="4040269698"/>
                    </a:ext>
                  </a:extLst>
                </a:gridCol>
                <a:gridCol w="1087406">
                  <a:extLst>
                    <a:ext uri="{9D8B030D-6E8A-4147-A177-3AD203B41FA5}">
                      <a16:colId xmlns:a16="http://schemas.microsoft.com/office/drawing/2014/main" val="3919164760"/>
                    </a:ext>
                  </a:extLst>
                </a:gridCol>
                <a:gridCol w="1203060">
                  <a:extLst>
                    <a:ext uri="{9D8B030D-6E8A-4147-A177-3AD203B41FA5}">
                      <a16:colId xmlns:a16="http://schemas.microsoft.com/office/drawing/2014/main" val="2683426220"/>
                    </a:ext>
                  </a:extLst>
                </a:gridCol>
                <a:gridCol w="1122855">
                  <a:extLst>
                    <a:ext uri="{9D8B030D-6E8A-4147-A177-3AD203B41FA5}">
                      <a16:colId xmlns:a16="http://schemas.microsoft.com/office/drawing/2014/main" val="1561302832"/>
                    </a:ext>
                  </a:extLst>
                </a:gridCol>
                <a:gridCol w="1203060">
                  <a:extLst>
                    <a:ext uri="{9D8B030D-6E8A-4147-A177-3AD203B41FA5}">
                      <a16:colId xmlns:a16="http://schemas.microsoft.com/office/drawing/2014/main" val="570828301"/>
                    </a:ext>
                  </a:extLst>
                </a:gridCol>
                <a:gridCol w="1203060">
                  <a:extLst>
                    <a:ext uri="{9D8B030D-6E8A-4147-A177-3AD203B41FA5}">
                      <a16:colId xmlns:a16="http://schemas.microsoft.com/office/drawing/2014/main" val="376867108"/>
                    </a:ext>
                  </a:extLst>
                </a:gridCol>
                <a:gridCol w="1203060">
                  <a:extLst>
                    <a:ext uri="{9D8B030D-6E8A-4147-A177-3AD203B41FA5}">
                      <a16:colId xmlns:a16="http://schemas.microsoft.com/office/drawing/2014/main" val="2092402611"/>
                    </a:ext>
                  </a:extLst>
                </a:gridCol>
                <a:gridCol w="1283264">
                  <a:extLst>
                    <a:ext uri="{9D8B030D-6E8A-4147-A177-3AD203B41FA5}">
                      <a16:colId xmlns:a16="http://schemas.microsoft.com/office/drawing/2014/main" val="1167382272"/>
                    </a:ext>
                  </a:extLst>
                </a:gridCol>
                <a:gridCol w="2289436">
                  <a:extLst>
                    <a:ext uri="{9D8B030D-6E8A-4147-A177-3AD203B41FA5}">
                      <a16:colId xmlns:a16="http://schemas.microsoft.com/office/drawing/2014/main" val="819471868"/>
                    </a:ext>
                  </a:extLst>
                </a:gridCol>
              </a:tblGrid>
              <a:tr h="327757">
                <a:tc gridSpan="8">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rtl="1"/>
                      <a:r>
                        <a:rPr lang="ar-SA" sz="1800" b="0" dirty="0">
                          <a:solidFill>
                            <a:schemeClr val="tx1"/>
                          </a:solidFill>
                          <a:latin typeface="Bahij TheSansArabic Bold" panose="02040503050201020203" pitchFamily="18" charset="-78"/>
                          <a:ea typeface="Ping AR + LT Medium" panose="00000600000000000000" pitchFamily="50" charset="-78"/>
                          <a:cs typeface="Bahij TheSansArabic Bold" panose="02040503050201020203" pitchFamily="18" charset="-78"/>
                        </a:rPr>
                        <a:t>أصحاب المصلحة الرئيسيين</a:t>
                      </a:r>
                      <a:endParaRPr lang="en-US" sz="1800" b="0" dirty="0">
                        <a:solidFill>
                          <a:schemeClr val="tx1"/>
                        </a:solidFill>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pPr algn="ctr" rtl="1"/>
                      <a:endParaRPr lang="en-US" b="0" dirty="0">
                        <a:latin typeface="Ping AR + LT Medium" panose="00000600000000000000" pitchFamily="50" charset="-78"/>
                        <a:ea typeface="Ping AR + LT Medium" panose="00000600000000000000" pitchFamily="50" charset="-78"/>
                        <a:cs typeface="Ping AR + LT Medium" panose="00000600000000000000" pitchFamily="50" charset="-78"/>
                      </a:endParaRP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a:endParaRPr lang="en-US" b="0" dirty="0">
                        <a:latin typeface="Ping AR + LT Medium" panose="00000600000000000000" pitchFamily="50" charset="-78"/>
                        <a:ea typeface="Ping AR + LT Medium" panose="00000600000000000000" pitchFamily="50" charset="-78"/>
                        <a:cs typeface="Ping AR + LT Medium" panose="00000600000000000000" pitchFamily="50" charset="-78"/>
                      </a:endParaRPr>
                    </a:p>
                  </a:txBody>
                  <a:tcPr/>
                </a:tc>
                <a:tc rowSpan="2">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rtl="1"/>
                      <a:r>
                        <a:rPr lang="ar-SA" sz="2000" b="0" dirty="0">
                          <a:solidFill>
                            <a:schemeClr val="tx1"/>
                          </a:solidFill>
                          <a:latin typeface="Bahij TheSansArabic Bold" panose="02040503050201020203" pitchFamily="18" charset="-78"/>
                          <a:ea typeface="Ping AR + LT Medium" panose="00000600000000000000" pitchFamily="50" charset="-78"/>
                          <a:cs typeface="Bahij TheSansArabic Bold" panose="02040503050201020203" pitchFamily="18" charset="-78"/>
                        </a:rPr>
                        <a:t>نطاقات التطوع</a:t>
                      </a:r>
                      <a:endParaRPr lang="en-US" sz="2000" b="0" dirty="0">
                        <a:solidFill>
                          <a:schemeClr val="tx1"/>
                        </a:solidFill>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6CC42"/>
                    </a:solidFill>
                  </a:tcPr>
                </a:tc>
                <a:extLst>
                  <a:ext uri="{0D108BD9-81ED-4DB2-BD59-A6C34878D82A}">
                    <a16:rowId xmlns:a16="http://schemas.microsoft.com/office/drawing/2014/main" val="3098140884"/>
                  </a:ext>
                </a:extLst>
              </a:tr>
              <a:tr h="61817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المتطوعون</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قادة الفرق</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الموارد البشرية</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منسق التطوع</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مدير الوحدة</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vMerge="1">
                  <a:txBody>
                    <a:bodyPr/>
                    <a:lstStyle/>
                    <a:p>
                      <a:endParaRPr dirty="0"/>
                    </a:p>
                  </a:txBody>
                  <a:tcPr/>
                </a:tc>
                <a:extLst>
                  <a:ext uri="{0D108BD9-81ED-4DB2-BD59-A6C34878D82A}">
                    <a16:rowId xmlns:a16="http://schemas.microsoft.com/office/drawing/2014/main" val="2831588079"/>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err="1">
                          <a:latin typeface="Bahij TheSansArabic Bold" panose="02040503050201020203" pitchFamily="18" charset="-78"/>
                          <a:ea typeface="Ping AR + LT Medium" panose="00000600000000000000" pitchFamily="50" charset="-78"/>
                          <a:cs typeface="Bahij TheSansArabic Bold" panose="02040503050201020203" pitchFamily="18" charset="-78"/>
                        </a:rPr>
                        <a:t>i</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a</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1. التخطيط والتعزيز </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859423747"/>
                  </a:ext>
                </a:extLst>
              </a:tr>
              <a:tr h="672393">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err="1">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c</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a</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2. تصميم الفرص والاستقطاب</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3241506941"/>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err="1">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c</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a</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3. الفرز والتسكين</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875798244"/>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err="1">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a</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4. التوجيه والتدريب</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3146980496"/>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err="1">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1200" cap="none" spc="0" normalizeH="0" baseline="0" noProof="0" dirty="0">
                          <a:ln>
                            <a:noFill/>
                          </a:ln>
                          <a:solidFill>
                            <a:srgbClr val="006E62"/>
                          </a:solidFill>
                          <a:effectLst/>
                          <a:uLnTx/>
                          <a:uFillTx/>
                          <a:latin typeface="Bahij TheSansArabic Bold" panose="02040503050201020203" pitchFamily="18" charset="-78"/>
                          <a:ea typeface="Ping AR + LT" panose="00000500000000000000" pitchFamily="50" charset="-78"/>
                          <a:cs typeface="Bahij TheSansArabic Bold" panose="02040503050201020203" pitchFamily="18" charset="-78"/>
                          <a:sym typeface="Arial"/>
                        </a:rPr>
                        <a:t>c</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a</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5. الدعم والإشراف</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3540920451"/>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err="1">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a</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6. التكريم والتقدير</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949243636"/>
                  </a:ext>
                </a:extLst>
              </a:tr>
            </a:tbl>
          </a:graphicData>
        </a:graphic>
      </p:graphicFrame>
      <p:sp>
        <p:nvSpPr>
          <p:cNvPr id="6" name="مربع نص 5">
            <a:extLst>
              <a:ext uri="{FF2B5EF4-FFF2-40B4-BE49-F238E27FC236}">
                <a16:creationId xmlns:a16="http://schemas.microsoft.com/office/drawing/2014/main" id="{9DFC6BD7-43BE-FFA4-7ECC-B7DFA0CD3675}"/>
              </a:ext>
            </a:extLst>
          </p:cNvPr>
          <p:cNvSpPr txBox="1"/>
          <p:nvPr/>
        </p:nvSpPr>
        <p:spPr>
          <a:xfrm>
            <a:off x="306512" y="1303357"/>
            <a:ext cx="11578975" cy="923330"/>
          </a:xfrm>
          <a:prstGeom prst="rect">
            <a:avLst/>
          </a:prstGeom>
          <a:noFill/>
        </p:spPr>
        <p:txBody>
          <a:bodyPr wrap="square">
            <a:spAutoFit/>
          </a:bodyPr>
          <a:lstStyle/>
          <a:p>
            <a:pPr algn="justLow">
              <a:lnSpc>
                <a:spcPct val="150000"/>
              </a:lnSpc>
              <a:defRPr/>
            </a:pPr>
            <a:r>
              <a:rPr lang="ar-SA" dirty="0">
                <a:solidFill>
                  <a:prstClr val="black"/>
                </a:solidFill>
                <a:latin typeface="Bahij TheSansArabic Bold" panose="02040503050201020203" pitchFamily="18" charset="-78"/>
                <a:ea typeface="Ping AR + LT" panose="00000500000000000000" pitchFamily="50" charset="-78"/>
                <a:cs typeface="Bahij TheSansArabic Bold" panose="02040503050201020203" pitchFamily="18" charset="-78"/>
              </a:rPr>
              <a:t>أدوار أصحاب المصلحة لوحدة العمل التطوعي مرتكزة على نطاقات العمل التطوعي المعتمدة في المعيار الوطني (إدامة) وسيتم توصيف كل دور من حيث ارتباطه بأصحاب المصلحة وفقاً لمصفوفة </a:t>
            </a:r>
            <a:r>
              <a:rPr lang="en-US" dirty="0">
                <a:solidFill>
                  <a:prstClr val="black"/>
                </a:solidFill>
                <a:latin typeface="Bahij TheSansArabic Bold" panose="02040503050201020203" pitchFamily="18" charset="-78"/>
                <a:ea typeface="Ping AR + LT" panose="00000500000000000000" pitchFamily="50" charset="-78"/>
                <a:cs typeface="Bahij TheSansArabic Bold" panose="02040503050201020203" pitchFamily="18" charset="-78"/>
              </a:rPr>
              <a:t>RACI</a:t>
            </a:r>
            <a:endParaRPr lang="ar-SA" dirty="0">
              <a:solidFill>
                <a:prstClr val="black"/>
              </a:solidFill>
              <a:latin typeface="Bahij TheSansArabic Bold" panose="02040503050201020203" pitchFamily="18" charset="-78"/>
              <a:ea typeface="Ping AR + LT" panose="00000500000000000000" pitchFamily="50" charset="-78"/>
              <a:cs typeface="Bahij TheSansArabic Bold" panose="02040503050201020203" pitchFamily="18" charset="-78"/>
            </a:endParaRPr>
          </a:p>
        </p:txBody>
      </p:sp>
    </p:spTree>
    <p:extLst>
      <p:ext uri="{BB962C8B-B14F-4D97-AF65-F5344CB8AC3E}">
        <p14:creationId xmlns:p14="http://schemas.microsoft.com/office/powerpoint/2010/main" val="1076971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نموذج تلبية توقعات أصحاب المصلحة</a:t>
            </a:r>
            <a:endParaRPr kumimoji="0" lang="en-US"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aphicFrame>
        <p:nvGraphicFramePr>
          <p:cNvPr id="2" name="جدول 1">
            <a:extLst>
              <a:ext uri="{FF2B5EF4-FFF2-40B4-BE49-F238E27FC236}">
                <a16:creationId xmlns:a16="http://schemas.microsoft.com/office/drawing/2014/main" id="{E7F20E53-254D-56E0-4F64-8C7E75305598}"/>
              </a:ext>
            </a:extLst>
          </p:cNvPr>
          <p:cNvGraphicFramePr>
            <a:graphicFrameLocks noGrp="1"/>
          </p:cNvGraphicFramePr>
          <p:nvPr>
            <p:extLst>
              <p:ext uri="{D42A27DB-BD31-4B8C-83A1-F6EECF244321}">
                <p14:modId xmlns:p14="http://schemas.microsoft.com/office/powerpoint/2010/main" val="3420061608"/>
              </p:ext>
            </p:extLst>
          </p:nvPr>
        </p:nvGraphicFramePr>
        <p:xfrm>
          <a:off x="770559" y="1364967"/>
          <a:ext cx="11209965" cy="5367687"/>
        </p:xfrm>
        <a:graphic>
          <a:graphicData uri="http://schemas.openxmlformats.org/drawingml/2006/table">
            <a:tbl>
              <a:tblPr rtl="1"/>
              <a:tblGrid>
                <a:gridCol w="414686">
                  <a:extLst>
                    <a:ext uri="{9D8B030D-6E8A-4147-A177-3AD203B41FA5}">
                      <a16:colId xmlns:a16="http://schemas.microsoft.com/office/drawing/2014/main" val="489303781"/>
                    </a:ext>
                  </a:extLst>
                </a:gridCol>
                <a:gridCol w="1575807">
                  <a:extLst>
                    <a:ext uri="{9D8B030D-6E8A-4147-A177-3AD203B41FA5}">
                      <a16:colId xmlns:a16="http://schemas.microsoft.com/office/drawing/2014/main" val="508665314"/>
                    </a:ext>
                  </a:extLst>
                </a:gridCol>
                <a:gridCol w="1824619">
                  <a:extLst>
                    <a:ext uri="{9D8B030D-6E8A-4147-A177-3AD203B41FA5}">
                      <a16:colId xmlns:a16="http://schemas.microsoft.com/office/drawing/2014/main" val="9704281"/>
                    </a:ext>
                  </a:extLst>
                </a:gridCol>
                <a:gridCol w="599836">
                  <a:extLst>
                    <a:ext uri="{9D8B030D-6E8A-4147-A177-3AD203B41FA5}">
                      <a16:colId xmlns:a16="http://schemas.microsoft.com/office/drawing/2014/main" val="738165907"/>
                    </a:ext>
                  </a:extLst>
                </a:gridCol>
                <a:gridCol w="746435">
                  <a:extLst>
                    <a:ext uri="{9D8B030D-6E8A-4147-A177-3AD203B41FA5}">
                      <a16:colId xmlns:a16="http://schemas.microsoft.com/office/drawing/2014/main" val="1909231592"/>
                    </a:ext>
                  </a:extLst>
                </a:gridCol>
                <a:gridCol w="599836">
                  <a:extLst>
                    <a:ext uri="{9D8B030D-6E8A-4147-A177-3AD203B41FA5}">
                      <a16:colId xmlns:a16="http://schemas.microsoft.com/office/drawing/2014/main" val="2355323377"/>
                    </a:ext>
                  </a:extLst>
                </a:gridCol>
                <a:gridCol w="599836">
                  <a:extLst>
                    <a:ext uri="{9D8B030D-6E8A-4147-A177-3AD203B41FA5}">
                      <a16:colId xmlns:a16="http://schemas.microsoft.com/office/drawing/2014/main" val="1257385432"/>
                    </a:ext>
                  </a:extLst>
                </a:gridCol>
                <a:gridCol w="599836">
                  <a:extLst>
                    <a:ext uri="{9D8B030D-6E8A-4147-A177-3AD203B41FA5}">
                      <a16:colId xmlns:a16="http://schemas.microsoft.com/office/drawing/2014/main" val="3254273218"/>
                    </a:ext>
                  </a:extLst>
                </a:gridCol>
                <a:gridCol w="599836">
                  <a:extLst>
                    <a:ext uri="{9D8B030D-6E8A-4147-A177-3AD203B41FA5}">
                      <a16:colId xmlns:a16="http://schemas.microsoft.com/office/drawing/2014/main" val="123487433"/>
                    </a:ext>
                  </a:extLst>
                </a:gridCol>
                <a:gridCol w="1824619">
                  <a:extLst>
                    <a:ext uri="{9D8B030D-6E8A-4147-A177-3AD203B41FA5}">
                      <a16:colId xmlns:a16="http://schemas.microsoft.com/office/drawing/2014/main" val="1161073285"/>
                    </a:ext>
                  </a:extLst>
                </a:gridCol>
                <a:gridCol w="1824619">
                  <a:extLst>
                    <a:ext uri="{9D8B030D-6E8A-4147-A177-3AD203B41FA5}">
                      <a16:colId xmlns:a16="http://schemas.microsoft.com/office/drawing/2014/main" val="2277124357"/>
                    </a:ext>
                  </a:extLst>
                </a:gridCol>
              </a:tblGrid>
              <a:tr h="365760">
                <a:tc rowSpan="2">
                  <a:txBody>
                    <a:bodyPr/>
                    <a:lstStyle/>
                    <a:p>
                      <a:pPr algn="ctr" rtl="1" fontAlgn="ctr"/>
                      <a:r>
                        <a:rPr lang="ar-SA" sz="1500" b="0" i="0" u="none" strike="noStrike" dirty="0">
                          <a:solidFill>
                            <a:schemeClr val="bg1"/>
                          </a:solidFill>
                          <a:effectLst/>
                          <a:latin typeface="Neo Sans Arabic Medium" panose="020B0704030504040204" pitchFamily="34" charset="-78"/>
                          <a:cs typeface="Neo Sans Arabic Medium" panose="020B0704030504040204" pitchFamily="34" charset="-78"/>
                        </a:rPr>
                        <a:t>م</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rowSpan="2">
                  <a:txBody>
                    <a:bodyPr/>
                    <a:lstStyle/>
                    <a:p>
                      <a:pPr algn="ctr" rtl="1" fontAlgn="ctr"/>
                      <a:r>
                        <a:rPr lang="ar-SA" sz="1400" b="0" i="0" u="none" strike="noStrike" dirty="0">
                          <a:solidFill>
                            <a:schemeClr val="bg1"/>
                          </a:solidFill>
                          <a:effectLst/>
                          <a:latin typeface="Neo Sans Arabic Medium" panose="020B0704030504040204" pitchFamily="34" charset="-78"/>
                          <a:cs typeface="Neo Sans Arabic Medium" panose="020B0704030504040204" pitchFamily="34" charset="-78"/>
                        </a:rPr>
                        <a:t>صاحب المصلحة</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rowSpan="2">
                  <a:txBody>
                    <a:bodyPr/>
                    <a:lstStyle/>
                    <a:p>
                      <a:pPr algn="ctr" rtl="1" fontAlgn="ctr"/>
                      <a:r>
                        <a:rPr lang="ar-SA" sz="1400" b="0" i="0" u="none" strike="noStrike" dirty="0">
                          <a:solidFill>
                            <a:schemeClr val="bg1"/>
                          </a:solidFill>
                          <a:effectLst/>
                          <a:latin typeface="Neo Sans Arabic Medium" panose="020B0704030504040204" pitchFamily="34" charset="-78"/>
                          <a:cs typeface="Neo Sans Arabic Medium" panose="020B0704030504040204" pitchFamily="34" charset="-78"/>
                        </a:rPr>
                        <a:t>توقعات صاحب المصلحة من وحدة العمل التطوعي </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gridSpan="6">
                  <a:txBody>
                    <a:bodyPr/>
                    <a:lstStyle/>
                    <a:p>
                      <a:pPr algn="ctr" rtl="1" fontAlgn="ctr"/>
                      <a:r>
                        <a:rPr lang="ar-SA" sz="1500" b="0" i="0" u="none" strike="noStrike" dirty="0">
                          <a:solidFill>
                            <a:schemeClr val="bg1"/>
                          </a:solidFill>
                          <a:effectLst/>
                          <a:latin typeface="Neo Sans Arabic Medium" panose="020B0704030504040204" pitchFamily="34" charset="-78"/>
                          <a:cs typeface="Neo Sans Arabic Medium" panose="020B0704030504040204" pitchFamily="34" charset="-78"/>
                        </a:rPr>
                        <a:t>ارتباط التوقعات بنطاقات التطوع </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ctr"/>
                      <a:endParaRPr lang="ar-SA" sz="1500" b="0" i="0" u="none" strike="noStrike">
                        <a:solidFill>
                          <a:srgbClr val="000000"/>
                        </a:solidFill>
                        <a:effectLst/>
                        <a:latin typeface="Bahij TheSansArabic ExtraBold" panose="02040503050201020203" pitchFamily="18" charset="-78"/>
                        <a:cs typeface="Bahij TheSansArabic ExtraBold" panose="02040503050201020203" pitchFamily="18" charset="-78"/>
                      </a:endParaRPr>
                    </a:p>
                  </a:txBody>
                  <a:tcPr marL="6149" marR="6149" marT="61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rowSpan="2">
                  <a:txBody>
                    <a:bodyPr/>
                    <a:lstStyle/>
                    <a:p>
                      <a:pPr algn="ctr" rtl="1" fontAlgn="ctr"/>
                      <a:r>
                        <a:rPr lang="ar-SA" sz="1400" b="0" i="0" u="none" strike="noStrike" dirty="0">
                          <a:solidFill>
                            <a:schemeClr val="bg1"/>
                          </a:solidFill>
                          <a:effectLst/>
                          <a:latin typeface="Neo Sans Arabic Medium" panose="020B0704030504040204" pitchFamily="34" charset="-78"/>
                          <a:cs typeface="Neo Sans Arabic Medium" panose="020B0704030504040204" pitchFamily="34" charset="-78"/>
                        </a:rPr>
                        <a:t>توقعات وحدة التطوع من صاحب المصلحة</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rowSpan="2">
                  <a:txBody>
                    <a:bodyPr/>
                    <a:lstStyle/>
                    <a:p>
                      <a:pPr algn="ctr" rtl="1" fontAlgn="ctr"/>
                      <a:r>
                        <a:rPr lang="ar-SA" sz="1400" b="0" i="0" u="none" strike="noStrike" dirty="0">
                          <a:solidFill>
                            <a:schemeClr val="bg1"/>
                          </a:solidFill>
                          <a:effectLst/>
                          <a:latin typeface="Neo Sans Arabic Medium" panose="020B0704030504040204" pitchFamily="34" charset="-78"/>
                          <a:cs typeface="Neo Sans Arabic Medium" panose="020B0704030504040204" pitchFamily="34" charset="-78"/>
                        </a:rPr>
                        <a:t>إجراءات وحدة التطوع لتلبية توقعات أصحاب المصلحة </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extLst>
                  <a:ext uri="{0D108BD9-81ED-4DB2-BD59-A6C34878D82A}">
                    <a16:rowId xmlns:a16="http://schemas.microsoft.com/office/drawing/2014/main" val="1603492410"/>
                  </a:ext>
                </a:extLst>
              </a:tr>
              <a:tr h="73152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التخطيط والتعزيز </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تصميم الفرص والاستقطاب</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الفرز والتسكين</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التوجيه والتدريب</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الدعم والإشراف</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التكريم والتقدير</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vMerge="1">
                  <a:txBody>
                    <a:bodyPr/>
                    <a:lstStyle/>
                    <a:p>
                      <a:endParaRPr dirty="0"/>
                    </a:p>
                  </a:txBody>
                  <a:tcPr marL="6149" marR="6149" marT="6149"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FC0"/>
                    </a:solidFill>
                  </a:tcPr>
                </a:tc>
                <a:tc vMerge="1">
                  <a:txBody>
                    <a:bodyPr/>
                    <a:lstStyle/>
                    <a:p>
                      <a:endParaRPr lang="en-US"/>
                    </a:p>
                  </a:txBody>
                  <a:tcPr/>
                </a:tc>
                <a:extLst>
                  <a:ext uri="{0D108BD9-81ED-4DB2-BD59-A6C34878D82A}">
                    <a16:rowId xmlns:a16="http://schemas.microsoft.com/office/drawing/2014/main" val="2963404283"/>
                  </a:ext>
                </a:extLst>
              </a:tr>
              <a:tr h="457200">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a:t>
                      </a:r>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المجتمع</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a:t>
                      </a:r>
                      <a:r>
                        <a:rPr lang="ar-SA" sz="1600" dirty="0"/>
                        <a:t>تقديم خدمات تطوعية ذات أثر ملموس وتحسين جودة الحياة</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1 </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0</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0</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0</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التفاعل مع المبادرات والمشاركة فيها</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تنفيذ مبادرات موجهة لاحتياجات المجتمع + قياس الأثر + حملات توعوية</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6336129"/>
                  </a:ext>
                </a:extLst>
              </a:tr>
              <a:tr h="457200">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2</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المتطوعون</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توفير فرص واضحة، تجربة مفيدة، تطوير مهارات، تقدير الجهود</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0</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الالتزام بالحضور، أداء المهام، احترام الأنظمة</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تصميم فرص مناسبة + تدريب مستمر + إشراف فعال + برامج تحفيز وتكريم</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249050"/>
                  </a:ext>
                </a:extLst>
              </a:tr>
              <a:tr h="457200">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3</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الجهات الحكومية</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الالتزام بالأنظمة وتحقيق أهداف تنموية</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0</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0</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0</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1</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0</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تقديم التسهيلات والدعم التنظيمي</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600" dirty="0"/>
                        <a:t>الالتزام باللوائح + رفع التقارير + التنسيق المستمر</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1312111"/>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8238330"/>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9716771"/>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4161983"/>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6692986"/>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9975002"/>
                  </a:ext>
                </a:extLst>
              </a:tr>
            </a:tbl>
          </a:graphicData>
        </a:graphic>
      </p:graphicFrame>
    </p:spTree>
    <p:extLst>
      <p:ext uri="{BB962C8B-B14F-4D97-AF65-F5344CB8AC3E}">
        <p14:creationId xmlns:p14="http://schemas.microsoft.com/office/powerpoint/2010/main" val="419389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TOWS Matrix</a:t>
            </a:r>
            <a:endPar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aphicFrame>
        <p:nvGraphicFramePr>
          <p:cNvPr id="4" name="جدول 5">
            <a:extLst>
              <a:ext uri="{FF2B5EF4-FFF2-40B4-BE49-F238E27FC236}">
                <a16:creationId xmlns:a16="http://schemas.microsoft.com/office/drawing/2014/main" id="{36411D85-61EB-9EC0-33A2-5CF2DCBD082A}"/>
              </a:ext>
            </a:extLst>
          </p:cNvPr>
          <p:cNvGraphicFramePr>
            <a:graphicFrameLocks noGrp="1"/>
          </p:cNvGraphicFramePr>
          <p:nvPr/>
        </p:nvGraphicFramePr>
        <p:xfrm>
          <a:off x="432138" y="1315092"/>
          <a:ext cx="11327724" cy="4850684"/>
        </p:xfrm>
        <a:graphic>
          <a:graphicData uri="http://schemas.openxmlformats.org/drawingml/2006/table">
            <a:tbl>
              <a:tblPr rtl="1" firstRow="1" bandRow="1"/>
              <a:tblGrid>
                <a:gridCol w="3931109">
                  <a:extLst>
                    <a:ext uri="{9D8B030D-6E8A-4147-A177-3AD203B41FA5}">
                      <a16:colId xmlns:a16="http://schemas.microsoft.com/office/drawing/2014/main" val="3509996526"/>
                    </a:ext>
                  </a:extLst>
                </a:gridCol>
                <a:gridCol w="3755240">
                  <a:extLst>
                    <a:ext uri="{9D8B030D-6E8A-4147-A177-3AD203B41FA5}">
                      <a16:colId xmlns:a16="http://schemas.microsoft.com/office/drawing/2014/main" val="1946176779"/>
                    </a:ext>
                  </a:extLst>
                </a:gridCol>
                <a:gridCol w="3641375">
                  <a:extLst>
                    <a:ext uri="{9D8B030D-6E8A-4147-A177-3AD203B41FA5}">
                      <a16:colId xmlns:a16="http://schemas.microsoft.com/office/drawing/2014/main" val="3489412770"/>
                    </a:ext>
                  </a:extLst>
                </a:gridCol>
              </a:tblGrid>
              <a:tr h="354205">
                <a:tc rowSpan="2">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ar-SA" sz="1800" dirty="0">
                        <a:solidFill>
                          <a:schemeClr val="bg2">
                            <a:lumMod val="10000"/>
                          </a:schemeClr>
                        </a:solidFill>
                        <a:latin typeface="Neo Sans Arabic Medium" panose="020B0704030504040204" pitchFamily="34" charset="-78"/>
                        <a:cs typeface="Neo Sans Arabic Medium" panose="020B0704030504040204" pitchFamily="34"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800" dirty="0">
                          <a:solidFill>
                            <a:schemeClr val="bg2">
                              <a:lumMod val="10000"/>
                            </a:schemeClr>
                          </a:solidFill>
                          <a:latin typeface="Neo Sans Arabic Medium" panose="020B0704030504040204" pitchFamily="34" charset="-78"/>
                          <a:cs typeface="Neo Sans Arabic Medium" panose="020B0704030504040204" pitchFamily="34" charset="-78"/>
                        </a:rPr>
                        <a:t>مجال الاستدامة</a:t>
                      </a: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1800" dirty="0">
                        <a:solidFill>
                          <a:schemeClr val="bg2">
                            <a:lumMod val="10000"/>
                          </a:schemeClr>
                        </a:solidFill>
                        <a:latin typeface="Neo Sans Arabic Medium" panose="020B0704030504040204" pitchFamily="34" charset="-78"/>
                        <a:cs typeface="Neo Sans Arabic Medium" panose="020B0704030504040204" pitchFamily="34"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dirty="0">
                          <a:solidFill>
                            <a:schemeClr val="bg2">
                              <a:lumMod val="10000"/>
                            </a:schemeClr>
                          </a:solidFill>
                          <a:latin typeface="Neo Sans Arabic Medium" panose="020B0704030504040204" pitchFamily="34" charset="-78"/>
                          <a:cs typeface="Neo Sans Arabic Medium" panose="020B0704030504040204" pitchFamily="34" charset="-78"/>
                        </a:rPr>
                        <a:t>الموارد البشرية</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1827886"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EDF9EF">
                              <a:lumMod val="10000"/>
                            </a:srgbClr>
                          </a:solidFill>
                          <a:effectLst/>
                          <a:highlight>
                            <a:srgbClr val="00FFFF"/>
                          </a:highlight>
                          <a:uLnTx/>
                          <a:uFillTx/>
                          <a:latin typeface="Neo Sans Arabic Medium" panose="020B0704030504040204" pitchFamily="34" charset="-78"/>
                          <a:ea typeface="+mn-ea"/>
                          <a:cs typeface="Neo Sans Arabic Medium" panose="020B0704030504040204" pitchFamily="34" charset="-78"/>
                        </a:rPr>
                        <a:t>نقاط القوة </a:t>
                      </a:r>
                      <a:r>
                        <a:rPr kumimoji="0" lang="ar-SA" sz="1600" b="0" i="0" u="none" strike="noStrike" kern="1200" cap="none" spc="0" normalizeH="0" baseline="0" noProof="0" dirty="0">
                          <a:ln>
                            <a:noFill/>
                          </a:ln>
                          <a:solidFill>
                            <a:srgbClr val="EDF9EF">
                              <a:lumMod val="10000"/>
                            </a:srgbClr>
                          </a:solidFill>
                          <a:effectLst/>
                          <a:highlight>
                            <a:srgbClr val="00FFFF"/>
                          </a:highlight>
                          <a:uLnTx/>
                          <a:uFillTx/>
                          <a:latin typeface="Neo Sans Arabic Medium" panose="020B0704030504040204" pitchFamily="34" charset="-78"/>
                          <a:ea typeface="+mn-ea"/>
                          <a:cs typeface="Neo Sans Arabic Medium" panose="020B0704030504040204" pitchFamily="34" charset="-78"/>
                        </a:rPr>
                        <a:t>- </a:t>
                      </a:r>
                      <a:r>
                        <a:rPr kumimoji="0" lang="en-US" sz="1600" b="0" i="0" u="none" strike="noStrike" kern="1200" cap="none" spc="0" normalizeH="0" baseline="0" noProof="0" dirty="0">
                          <a:ln>
                            <a:noFill/>
                          </a:ln>
                          <a:solidFill>
                            <a:srgbClr val="EDF9EF">
                              <a:lumMod val="10000"/>
                            </a:srgbClr>
                          </a:solidFill>
                          <a:effectLst/>
                          <a:highlight>
                            <a:srgbClr val="00FFFF"/>
                          </a:highlight>
                          <a:uLnTx/>
                          <a:uFillTx/>
                          <a:latin typeface="Neo Sans Arabic Medium" panose="020B0704030504040204" pitchFamily="34" charset="-78"/>
                          <a:ea typeface="+mn-ea"/>
                          <a:cs typeface="Neo Sans Arabic Medium" panose="020B0704030504040204" pitchFamily="34" charset="-78"/>
                        </a:rPr>
                        <a:t>S</a:t>
                      </a:r>
                      <a:endParaRPr kumimoji="0" lang="ar-SA" sz="1600" b="0" i="0" u="none" strike="noStrike" kern="1200" cap="none" spc="0" normalizeH="0" baseline="0" noProof="0" dirty="0">
                        <a:ln>
                          <a:noFill/>
                        </a:ln>
                        <a:solidFill>
                          <a:srgbClr val="EDF9EF">
                            <a:lumMod val="10000"/>
                          </a:srgbClr>
                        </a:solidFill>
                        <a:effectLst/>
                        <a:highlight>
                          <a:srgbClr val="00FFFF"/>
                        </a:highlight>
                        <a:uLnTx/>
                        <a:uFillTx/>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algn="r" defTabSz="914400" rtl="1" eaLnBrk="1" latinLnBrk="0" hangingPunct="1"/>
                      <a:r>
                        <a:rPr lang="ar-SA" sz="1800" b="0"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نقاط الضعف </a:t>
                      </a:r>
                      <a:r>
                        <a:rPr lang="ar-SA" sz="1600" b="1"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 </a:t>
                      </a:r>
                      <a:r>
                        <a:rPr lang="en-US" sz="1600" b="1"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W</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328982"/>
                  </a:ext>
                </a:extLst>
              </a:tr>
              <a:tr h="1494975">
                <a:tc vMerge="1">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endParaRPr dirty="0"/>
                    </a:p>
                  </a:txBody>
                  <a:tcPr anchor="ctr">
                    <a:lnL w="12700" cmpd="sng">
                      <a:solidFill>
                        <a:sysClr val="window" lastClr="FFFFFF"/>
                      </a:solidFill>
                    </a:lnL>
                    <a:lnR w="12700" cap="flat" cmpd="sng" algn="ctr">
                      <a:solidFill>
                        <a:schemeClr val="tx1"/>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وجود علاقات واسعة مع الجامعات</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pPr marL="342900" indent="-342900" algn="r" defTabSz="914400" rtl="1" eaLnBrk="1" latinLnBrk="0" hangingPunct="1">
                        <a:lnSpc>
                          <a:spcPct val="100000"/>
                        </a:lnSpc>
                        <a:buFont typeface="Courier New" panose="02070309020205020404" pitchFamily="49" charset="0"/>
                        <a:buChar char="o"/>
                      </a:pPr>
                      <a:r>
                        <a:rPr lang="ar-SA" sz="14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تسرب العاملين من وحدة التطوع</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55168958"/>
                  </a:ext>
                </a:extLst>
              </a:tr>
              <a:tr h="1573657">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algn="r" rtl="1"/>
                      <a:r>
                        <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الفرص – </a:t>
                      </a:r>
                      <a:r>
                        <a:rPr lang="en-US"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O</a:t>
                      </a:r>
                      <a:endPar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endParaRPr>
                    </a:p>
                    <a:p>
                      <a:pPr algn="r" rtl="1"/>
                      <a:endPar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endParaRPr>
                    </a:p>
                    <a:p>
                      <a:pPr algn="r" rtl="1"/>
                      <a:r>
                        <a:rPr lang="ar-SA" sz="1400" b="0" dirty="0">
                          <a:solidFill>
                            <a:schemeClr val="bg2">
                              <a:lumMod val="10000"/>
                            </a:schemeClr>
                          </a:solidFill>
                          <a:latin typeface="Neo Sans Arabic Medium" panose="020B0704030504040204" pitchFamily="34" charset="-78"/>
                          <a:cs typeface="Neo Sans Arabic Medium" panose="020B0704030504040204" pitchFamily="34" charset="-78"/>
                        </a:rPr>
                        <a:t>رغبة طلاب الجامعات في العمل في وحدة التطوع في الجمعية</a:t>
                      </a:r>
                      <a:endParaRPr lang="en-US" sz="1400" b="0"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S-O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ar-SA" sz="14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استقطاب الكفاءات الطلابية</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r>
                        <a:rPr lang="en-US"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W-O Strategies</a:t>
                      </a:r>
                      <a:endParaRPr lang="ar-SA"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endParaRPr lang="ar-SA"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r>
                        <a:rPr lang="ar-SA" sz="14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تفعيل برنامج الولاء</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05106772"/>
                  </a:ext>
                </a:extLst>
              </a:tr>
              <a:tr h="1416292">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algn="r" rtl="1"/>
                      <a:r>
                        <a:rPr lang="ar-SA" sz="1600" b="0"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التحديات</a:t>
                      </a:r>
                      <a:r>
                        <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 – </a:t>
                      </a:r>
                      <a:r>
                        <a:rPr lang="en-US"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T</a:t>
                      </a:r>
                      <a:endPar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endParaRPr>
                    </a:p>
                    <a:p>
                      <a:pPr algn="r" rtl="1"/>
                      <a:endPar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endParaRPr>
                    </a:p>
                    <a:p>
                      <a:pPr algn="r" rtl="1"/>
                      <a:r>
                        <a:rPr lang="ar-SA" sz="1400" b="0" dirty="0">
                          <a:solidFill>
                            <a:schemeClr val="bg2">
                              <a:lumMod val="10000"/>
                            </a:schemeClr>
                          </a:solidFill>
                          <a:latin typeface="Neo Sans Arabic Medium" panose="020B0704030504040204" pitchFamily="34" charset="-78"/>
                          <a:cs typeface="Neo Sans Arabic Medium" panose="020B0704030504040204" pitchFamily="34" charset="-78"/>
                        </a:rPr>
                        <a:t>وجود جهات منافسة تستقطب طلاب الجامعات</a:t>
                      </a:r>
                      <a:endParaRPr lang="en-US" sz="1400" b="0"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S-T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W-T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ar-SA" sz="12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بناء خارطة إحلال الموظفين</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43502529"/>
                  </a:ext>
                </a:extLst>
              </a:tr>
            </a:tbl>
          </a:graphicData>
        </a:graphic>
      </p:graphicFrame>
    </p:spTree>
    <p:extLst>
      <p:ext uri="{BB962C8B-B14F-4D97-AF65-F5344CB8AC3E}">
        <p14:creationId xmlns:p14="http://schemas.microsoft.com/office/powerpoint/2010/main" val="4052255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A650F24-0B09-C902-D072-1AC4B4D0F745}"/>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02E5D6AE-0D0D-3397-8E19-100954A661B5}"/>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نموذج إدارة المقاومة لصاحب المصلحة</a:t>
            </a:r>
            <a:endParaRPr kumimoji="0" lang="en-US"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aphicFrame>
        <p:nvGraphicFramePr>
          <p:cNvPr id="4" name="Table 5">
            <a:extLst>
              <a:ext uri="{FF2B5EF4-FFF2-40B4-BE49-F238E27FC236}">
                <a16:creationId xmlns:a16="http://schemas.microsoft.com/office/drawing/2014/main" id="{85DE821E-693F-F21D-CCD5-4A80D2A15BA5}"/>
              </a:ext>
            </a:extLst>
          </p:cNvPr>
          <p:cNvGraphicFramePr>
            <a:graphicFrameLocks noGrp="1"/>
          </p:cNvGraphicFramePr>
          <p:nvPr>
            <p:extLst>
              <p:ext uri="{D42A27DB-BD31-4B8C-83A1-F6EECF244321}">
                <p14:modId xmlns:p14="http://schemas.microsoft.com/office/powerpoint/2010/main" val="460733879"/>
              </p:ext>
            </p:extLst>
          </p:nvPr>
        </p:nvGraphicFramePr>
        <p:xfrm>
          <a:off x="388620" y="1339255"/>
          <a:ext cx="11498581" cy="4828655"/>
        </p:xfrm>
        <a:graphic>
          <a:graphicData uri="http://schemas.openxmlformats.org/drawingml/2006/table">
            <a:tbl>
              <a:tblPr firstRow="1" bandRow="1"/>
              <a:tblGrid>
                <a:gridCol w="1401770">
                  <a:extLst>
                    <a:ext uri="{9D8B030D-6E8A-4147-A177-3AD203B41FA5}">
                      <a16:colId xmlns:a16="http://schemas.microsoft.com/office/drawing/2014/main" val="20000"/>
                    </a:ext>
                  </a:extLst>
                </a:gridCol>
                <a:gridCol w="2183918">
                  <a:extLst>
                    <a:ext uri="{9D8B030D-6E8A-4147-A177-3AD203B41FA5}">
                      <a16:colId xmlns:a16="http://schemas.microsoft.com/office/drawing/2014/main" val="20001"/>
                    </a:ext>
                  </a:extLst>
                </a:gridCol>
                <a:gridCol w="507888">
                  <a:extLst>
                    <a:ext uri="{9D8B030D-6E8A-4147-A177-3AD203B41FA5}">
                      <a16:colId xmlns:a16="http://schemas.microsoft.com/office/drawing/2014/main" val="2646827633"/>
                    </a:ext>
                  </a:extLst>
                </a:gridCol>
                <a:gridCol w="507888">
                  <a:extLst>
                    <a:ext uri="{9D8B030D-6E8A-4147-A177-3AD203B41FA5}">
                      <a16:colId xmlns:a16="http://schemas.microsoft.com/office/drawing/2014/main" val="3465088317"/>
                    </a:ext>
                  </a:extLst>
                </a:gridCol>
                <a:gridCol w="507888">
                  <a:extLst>
                    <a:ext uri="{9D8B030D-6E8A-4147-A177-3AD203B41FA5}">
                      <a16:colId xmlns:a16="http://schemas.microsoft.com/office/drawing/2014/main" val="20002"/>
                    </a:ext>
                  </a:extLst>
                </a:gridCol>
                <a:gridCol w="507888">
                  <a:extLst>
                    <a:ext uri="{9D8B030D-6E8A-4147-A177-3AD203B41FA5}">
                      <a16:colId xmlns:a16="http://schemas.microsoft.com/office/drawing/2014/main" val="2404675272"/>
                    </a:ext>
                  </a:extLst>
                </a:gridCol>
                <a:gridCol w="507888">
                  <a:extLst>
                    <a:ext uri="{9D8B030D-6E8A-4147-A177-3AD203B41FA5}">
                      <a16:colId xmlns:a16="http://schemas.microsoft.com/office/drawing/2014/main" val="664007910"/>
                    </a:ext>
                  </a:extLst>
                </a:gridCol>
                <a:gridCol w="1208773">
                  <a:extLst>
                    <a:ext uri="{9D8B030D-6E8A-4147-A177-3AD203B41FA5}">
                      <a16:colId xmlns:a16="http://schemas.microsoft.com/office/drawing/2014/main" val="20005"/>
                    </a:ext>
                  </a:extLst>
                </a:gridCol>
                <a:gridCol w="507888">
                  <a:extLst>
                    <a:ext uri="{9D8B030D-6E8A-4147-A177-3AD203B41FA5}">
                      <a16:colId xmlns:a16="http://schemas.microsoft.com/office/drawing/2014/main" val="3898860660"/>
                    </a:ext>
                  </a:extLst>
                </a:gridCol>
                <a:gridCol w="751674">
                  <a:extLst>
                    <a:ext uri="{9D8B030D-6E8A-4147-A177-3AD203B41FA5}">
                      <a16:colId xmlns:a16="http://schemas.microsoft.com/office/drawing/2014/main" val="1911190887"/>
                    </a:ext>
                  </a:extLst>
                </a:gridCol>
                <a:gridCol w="914198">
                  <a:extLst>
                    <a:ext uri="{9D8B030D-6E8A-4147-A177-3AD203B41FA5}">
                      <a16:colId xmlns:a16="http://schemas.microsoft.com/office/drawing/2014/main" val="3223270661"/>
                    </a:ext>
                  </a:extLst>
                </a:gridCol>
                <a:gridCol w="914198">
                  <a:extLst>
                    <a:ext uri="{9D8B030D-6E8A-4147-A177-3AD203B41FA5}">
                      <a16:colId xmlns:a16="http://schemas.microsoft.com/office/drawing/2014/main" val="3498035555"/>
                    </a:ext>
                  </a:extLst>
                </a:gridCol>
                <a:gridCol w="568834">
                  <a:extLst>
                    <a:ext uri="{9D8B030D-6E8A-4147-A177-3AD203B41FA5}">
                      <a16:colId xmlns:a16="http://schemas.microsoft.com/office/drawing/2014/main" val="1661282248"/>
                    </a:ext>
                  </a:extLst>
                </a:gridCol>
                <a:gridCol w="507888">
                  <a:extLst>
                    <a:ext uri="{9D8B030D-6E8A-4147-A177-3AD203B41FA5}">
                      <a16:colId xmlns:a16="http://schemas.microsoft.com/office/drawing/2014/main" val="3298153384"/>
                    </a:ext>
                  </a:extLst>
                </a:gridCol>
              </a:tblGrid>
              <a:tr h="713855">
                <a:tc>
                  <a:txBody>
                    <a:bodyPr/>
                    <a:lstStyle>
                      <a:lvl1pPr marL="0" algn="l" defTabSz="914400" rtl="0" eaLnBrk="1" latinLnBrk="0" hangingPunct="1">
                        <a:defRPr sz="1800" b="1" kern="1200">
                          <a:solidFill>
                            <a:schemeClr val="lt1"/>
                          </a:solidFill>
                          <a:latin typeface="Gill Sans MT" panose="020B0502020104020203"/>
                        </a:defRPr>
                      </a:lvl1pPr>
                      <a:lvl2pPr marL="457200" algn="l" defTabSz="914400" rtl="0" eaLnBrk="1" latinLnBrk="0" hangingPunct="1">
                        <a:defRPr sz="1800" b="1" kern="1200">
                          <a:solidFill>
                            <a:schemeClr val="lt1"/>
                          </a:solidFill>
                          <a:latin typeface="Gill Sans MT" panose="020B0502020104020203"/>
                        </a:defRPr>
                      </a:lvl2pPr>
                      <a:lvl3pPr marL="914400" algn="l" defTabSz="914400" rtl="0" eaLnBrk="1" latinLnBrk="0" hangingPunct="1">
                        <a:defRPr sz="1800" b="1" kern="1200">
                          <a:solidFill>
                            <a:schemeClr val="lt1"/>
                          </a:solidFill>
                          <a:latin typeface="Gill Sans MT" panose="020B0502020104020203"/>
                        </a:defRPr>
                      </a:lvl3pPr>
                      <a:lvl4pPr marL="1371600" algn="l" defTabSz="914400" rtl="0" eaLnBrk="1" latinLnBrk="0" hangingPunct="1">
                        <a:defRPr sz="1800" b="1" kern="1200">
                          <a:solidFill>
                            <a:schemeClr val="lt1"/>
                          </a:solidFill>
                          <a:latin typeface="Gill Sans MT" panose="020B0502020104020203"/>
                        </a:defRPr>
                      </a:lvl4pPr>
                      <a:lvl5pPr marL="1828800" algn="l" defTabSz="914400" rtl="0" eaLnBrk="1" latinLnBrk="0" hangingPunct="1">
                        <a:defRPr sz="1800" b="1" kern="1200">
                          <a:solidFill>
                            <a:schemeClr val="lt1"/>
                          </a:solidFill>
                          <a:latin typeface="Gill Sans MT" panose="020B0502020104020203"/>
                        </a:defRPr>
                      </a:lvl5pPr>
                      <a:lvl6pPr marL="2286000" algn="l" defTabSz="914400" rtl="0" eaLnBrk="1" latinLnBrk="0" hangingPunct="1">
                        <a:defRPr sz="1800" b="1" kern="1200">
                          <a:solidFill>
                            <a:schemeClr val="lt1"/>
                          </a:solidFill>
                          <a:latin typeface="Gill Sans MT" panose="020B0502020104020203"/>
                        </a:defRPr>
                      </a:lvl6pPr>
                      <a:lvl7pPr marL="2743200" algn="l" defTabSz="914400" rtl="0" eaLnBrk="1" latinLnBrk="0" hangingPunct="1">
                        <a:defRPr sz="1800" b="1" kern="1200">
                          <a:solidFill>
                            <a:schemeClr val="lt1"/>
                          </a:solidFill>
                          <a:latin typeface="Gill Sans MT" panose="020B0502020104020203"/>
                        </a:defRPr>
                      </a:lvl7pPr>
                      <a:lvl8pPr marL="3200400" algn="l" defTabSz="914400" rtl="0" eaLnBrk="1" latinLnBrk="0" hangingPunct="1">
                        <a:defRPr sz="1800" b="1" kern="1200">
                          <a:solidFill>
                            <a:schemeClr val="lt1"/>
                          </a:solidFill>
                          <a:latin typeface="Gill Sans MT" panose="020B0502020104020203"/>
                        </a:defRPr>
                      </a:lvl8pPr>
                      <a:lvl9pPr marL="3657600" algn="l" defTabSz="914400" rtl="0" eaLnBrk="1" latinLnBrk="0" hangingPunct="1">
                        <a:defRPr sz="1800" b="1" kern="1200">
                          <a:solidFill>
                            <a:schemeClr val="lt1"/>
                          </a:solidFill>
                          <a:latin typeface="Gill Sans MT" panose="020B0502020104020203"/>
                        </a:defRPr>
                      </a:lvl9pPr>
                    </a:lstStyle>
                    <a:p>
                      <a:pPr algn="ctr"/>
                      <a:r>
                        <a:rPr lang="ar-SA" sz="1200" b="0" dirty="0">
                          <a:solidFill>
                            <a:schemeClr val="tx1"/>
                          </a:solidFill>
                          <a:latin typeface="Neo Sans Arabic Medium" panose="020B0704030504040204" pitchFamily="34" charset="-78"/>
                          <a:cs typeface="Neo Sans Arabic Medium" panose="020B0704030504040204" pitchFamily="34" charset="-78"/>
                        </a:rPr>
                        <a:t>نمط المقاومة</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gridSpan="3">
                  <a:txBody>
                    <a:bodyPr/>
                    <a:lstStyle>
                      <a:lvl1pPr marL="0" algn="l" defTabSz="914400" rtl="0" eaLnBrk="1" latinLnBrk="0" hangingPunct="1">
                        <a:defRPr sz="1800" b="1" kern="1200">
                          <a:solidFill>
                            <a:schemeClr val="lt1"/>
                          </a:solidFill>
                          <a:latin typeface="Gill Sans MT" panose="020B0502020104020203"/>
                        </a:defRPr>
                      </a:lvl1pPr>
                      <a:lvl2pPr marL="457200" algn="l" defTabSz="914400" rtl="0" eaLnBrk="1" latinLnBrk="0" hangingPunct="1">
                        <a:defRPr sz="1800" b="1" kern="1200">
                          <a:solidFill>
                            <a:schemeClr val="lt1"/>
                          </a:solidFill>
                          <a:latin typeface="Gill Sans MT" panose="020B0502020104020203"/>
                        </a:defRPr>
                      </a:lvl2pPr>
                      <a:lvl3pPr marL="914400" algn="l" defTabSz="914400" rtl="0" eaLnBrk="1" latinLnBrk="0" hangingPunct="1">
                        <a:defRPr sz="1800" b="1" kern="1200">
                          <a:solidFill>
                            <a:schemeClr val="lt1"/>
                          </a:solidFill>
                          <a:latin typeface="Gill Sans MT" panose="020B0502020104020203"/>
                        </a:defRPr>
                      </a:lvl3pPr>
                      <a:lvl4pPr marL="1371600" algn="l" defTabSz="914400" rtl="0" eaLnBrk="1" latinLnBrk="0" hangingPunct="1">
                        <a:defRPr sz="1800" b="1" kern="1200">
                          <a:solidFill>
                            <a:schemeClr val="lt1"/>
                          </a:solidFill>
                          <a:latin typeface="Gill Sans MT" panose="020B0502020104020203"/>
                        </a:defRPr>
                      </a:lvl4pPr>
                      <a:lvl5pPr marL="1828800" algn="l" defTabSz="914400" rtl="0" eaLnBrk="1" latinLnBrk="0" hangingPunct="1">
                        <a:defRPr sz="1800" b="1" kern="1200">
                          <a:solidFill>
                            <a:schemeClr val="lt1"/>
                          </a:solidFill>
                          <a:latin typeface="Gill Sans MT" panose="020B0502020104020203"/>
                        </a:defRPr>
                      </a:lvl5pPr>
                      <a:lvl6pPr marL="2286000" algn="l" defTabSz="914400" rtl="0" eaLnBrk="1" latinLnBrk="0" hangingPunct="1">
                        <a:defRPr sz="1800" b="1" kern="1200">
                          <a:solidFill>
                            <a:schemeClr val="lt1"/>
                          </a:solidFill>
                          <a:latin typeface="Gill Sans MT" panose="020B0502020104020203"/>
                        </a:defRPr>
                      </a:lvl6pPr>
                      <a:lvl7pPr marL="2743200" algn="l" defTabSz="914400" rtl="0" eaLnBrk="1" latinLnBrk="0" hangingPunct="1">
                        <a:defRPr sz="1800" b="1" kern="1200">
                          <a:solidFill>
                            <a:schemeClr val="lt1"/>
                          </a:solidFill>
                          <a:latin typeface="Gill Sans MT" panose="020B0502020104020203"/>
                        </a:defRPr>
                      </a:lvl7pPr>
                      <a:lvl8pPr marL="3200400" algn="l" defTabSz="914400" rtl="0" eaLnBrk="1" latinLnBrk="0" hangingPunct="1">
                        <a:defRPr sz="1800" b="1" kern="1200">
                          <a:solidFill>
                            <a:schemeClr val="lt1"/>
                          </a:solidFill>
                          <a:latin typeface="Gill Sans MT" panose="020B0502020104020203"/>
                        </a:defRPr>
                      </a:lvl8pPr>
                      <a:lvl9pPr marL="3657600" algn="l" defTabSz="914400" rtl="0" eaLnBrk="1" latinLnBrk="0" hangingPunct="1">
                        <a:defRPr sz="1800" b="1" kern="1200">
                          <a:solidFill>
                            <a:schemeClr val="lt1"/>
                          </a:solidFill>
                          <a:latin typeface="Gill Sans MT" panose="020B0502020104020203"/>
                        </a:defRPr>
                      </a:lvl9pPr>
                    </a:lstStyle>
                    <a:p>
                      <a:pPr algn="ctr"/>
                      <a:r>
                        <a:rPr lang="ar-SA" sz="1200" b="0" dirty="0">
                          <a:solidFill>
                            <a:schemeClr val="tx1"/>
                          </a:solidFill>
                          <a:latin typeface="Neo Sans Arabic Medium" panose="020B0704030504040204" pitchFamily="34" charset="-78"/>
                          <a:cs typeface="Neo Sans Arabic Medium" panose="020B0704030504040204" pitchFamily="34" charset="-78"/>
                        </a:rPr>
                        <a:t>أسباب المقاومة</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endParaRPr lang="en-US"/>
                    </a:p>
                  </a:txBody>
                  <a:tcPr/>
                </a:tc>
                <a:tc hMerge="1">
                  <a:txBody>
                    <a:bodyPr/>
                    <a:lstStyle/>
                    <a:p>
                      <a:endParaRPr lang="en-US"/>
                    </a:p>
                  </a:txBody>
                  <a:tcPr/>
                </a:tc>
                <a:tc gridSpan="3">
                  <a:txBody>
                    <a:bodyPr/>
                    <a:lstStyle>
                      <a:lvl1pPr marL="0" algn="l" defTabSz="914400" rtl="0" eaLnBrk="1" latinLnBrk="0" hangingPunct="1">
                        <a:defRPr sz="1800" b="1" kern="1200">
                          <a:solidFill>
                            <a:schemeClr val="lt1"/>
                          </a:solidFill>
                          <a:latin typeface="Gill Sans MT" panose="020B0502020104020203"/>
                        </a:defRPr>
                      </a:lvl1pPr>
                      <a:lvl2pPr marL="457200" algn="l" defTabSz="914400" rtl="0" eaLnBrk="1" latinLnBrk="0" hangingPunct="1">
                        <a:defRPr sz="1800" b="1" kern="1200">
                          <a:solidFill>
                            <a:schemeClr val="lt1"/>
                          </a:solidFill>
                          <a:latin typeface="Gill Sans MT" panose="020B0502020104020203"/>
                        </a:defRPr>
                      </a:lvl2pPr>
                      <a:lvl3pPr marL="914400" algn="l" defTabSz="914400" rtl="0" eaLnBrk="1" latinLnBrk="0" hangingPunct="1">
                        <a:defRPr sz="1800" b="1" kern="1200">
                          <a:solidFill>
                            <a:schemeClr val="lt1"/>
                          </a:solidFill>
                          <a:latin typeface="Gill Sans MT" panose="020B0502020104020203"/>
                        </a:defRPr>
                      </a:lvl3pPr>
                      <a:lvl4pPr marL="1371600" algn="l" defTabSz="914400" rtl="0" eaLnBrk="1" latinLnBrk="0" hangingPunct="1">
                        <a:defRPr sz="1800" b="1" kern="1200">
                          <a:solidFill>
                            <a:schemeClr val="lt1"/>
                          </a:solidFill>
                          <a:latin typeface="Gill Sans MT" panose="020B0502020104020203"/>
                        </a:defRPr>
                      </a:lvl4pPr>
                      <a:lvl5pPr marL="1828800" algn="l" defTabSz="914400" rtl="0" eaLnBrk="1" latinLnBrk="0" hangingPunct="1">
                        <a:defRPr sz="1800" b="1" kern="1200">
                          <a:solidFill>
                            <a:schemeClr val="lt1"/>
                          </a:solidFill>
                          <a:latin typeface="Gill Sans MT" panose="020B0502020104020203"/>
                        </a:defRPr>
                      </a:lvl5pPr>
                      <a:lvl6pPr marL="2286000" algn="l" defTabSz="914400" rtl="0" eaLnBrk="1" latinLnBrk="0" hangingPunct="1">
                        <a:defRPr sz="1800" b="1" kern="1200">
                          <a:solidFill>
                            <a:schemeClr val="lt1"/>
                          </a:solidFill>
                          <a:latin typeface="Gill Sans MT" panose="020B0502020104020203"/>
                        </a:defRPr>
                      </a:lvl6pPr>
                      <a:lvl7pPr marL="2743200" algn="l" defTabSz="914400" rtl="0" eaLnBrk="1" latinLnBrk="0" hangingPunct="1">
                        <a:defRPr sz="1800" b="1" kern="1200">
                          <a:solidFill>
                            <a:schemeClr val="lt1"/>
                          </a:solidFill>
                          <a:latin typeface="Gill Sans MT" panose="020B0502020104020203"/>
                        </a:defRPr>
                      </a:lvl7pPr>
                      <a:lvl8pPr marL="3200400" algn="l" defTabSz="914400" rtl="0" eaLnBrk="1" latinLnBrk="0" hangingPunct="1">
                        <a:defRPr sz="1800" b="1" kern="1200">
                          <a:solidFill>
                            <a:schemeClr val="lt1"/>
                          </a:solidFill>
                          <a:latin typeface="Gill Sans MT" panose="020B0502020104020203"/>
                        </a:defRPr>
                      </a:lvl8pPr>
                      <a:lvl9pPr marL="3657600" algn="l" defTabSz="914400" rtl="0" eaLnBrk="1" latinLnBrk="0" hangingPunct="1">
                        <a:defRPr sz="1800" b="1" kern="1200">
                          <a:solidFill>
                            <a:schemeClr val="lt1"/>
                          </a:solidFill>
                          <a:latin typeface="Gill Sans MT" panose="020B0502020104020203"/>
                        </a:defRPr>
                      </a:lvl9pPr>
                    </a:lstStyle>
                    <a:p>
                      <a:pPr algn="ctr"/>
                      <a:r>
                        <a:rPr lang="ar-SA" sz="1200" b="0" dirty="0">
                          <a:solidFill>
                            <a:schemeClr val="tx1"/>
                          </a:solidFill>
                          <a:latin typeface="Neo Sans Arabic Medium" panose="020B0704030504040204" pitchFamily="34" charset="-78"/>
                          <a:cs typeface="Neo Sans Arabic Medium" panose="020B0704030504040204" pitchFamily="34" charset="-78"/>
                        </a:rPr>
                        <a:t>درجة المقاومة</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pPr algn="ctr"/>
                      <a:endParaRPr lang="en-US" sz="1200" b="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tx1">
                          <a:lumMod val="65000"/>
                          <a:lumOff val="35000"/>
                        </a:schemeClr>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A3260"/>
                    </a:solidFill>
                  </a:tcPr>
                </a:tc>
                <a:tc hMerge="1">
                  <a:txBody>
                    <a:bodyPr/>
                    <a:lstStyle/>
                    <a:p>
                      <a:endParaRPr lang="en-US"/>
                    </a:p>
                  </a:txBody>
                  <a:tcPr/>
                </a:tc>
                <a:tc gridSpan="3">
                  <a:txBody>
                    <a:bodyPr/>
                    <a:lstStyle>
                      <a:lvl1pPr marL="0" algn="l" defTabSz="914400" rtl="0" eaLnBrk="1" latinLnBrk="0" hangingPunct="1">
                        <a:defRPr sz="1800" b="1" kern="1200">
                          <a:solidFill>
                            <a:schemeClr val="lt1"/>
                          </a:solidFill>
                          <a:latin typeface="Gill Sans MT" panose="020B0502020104020203"/>
                        </a:defRPr>
                      </a:lvl1pPr>
                      <a:lvl2pPr marL="457200" algn="l" defTabSz="914400" rtl="0" eaLnBrk="1" latinLnBrk="0" hangingPunct="1">
                        <a:defRPr sz="1800" b="1" kern="1200">
                          <a:solidFill>
                            <a:schemeClr val="lt1"/>
                          </a:solidFill>
                          <a:latin typeface="Gill Sans MT" panose="020B0502020104020203"/>
                        </a:defRPr>
                      </a:lvl2pPr>
                      <a:lvl3pPr marL="914400" algn="l" defTabSz="914400" rtl="0" eaLnBrk="1" latinLnBrk="0" hangingPunct="1">
                        <a:defRPr sz="1800" b="1" kern="1200">
                          <a:solidFill>
                            <a:schemeClr val="lt1"/>
                          </a:solidFill>
                          <a:latin typeface="Gill Sans MT" panose="020B0502020104020203"/>
                        </a:defRPr>
                      </a:lvl3pPr>
                      <a:lvl4pPr marL="1371600" algn="l" defTabSz="914400" rtl="0" eaLnBrk="1" latinLnBrk="0" hangingPunct="1">
                        <a:defRPr sz="1800" b="1" kern="1200">
                          <a:solidFill>
                            <a:schemeClr val="lt1"/>
                          </a:solidFill>
                          <a:latin typeface="Gill Sans MT" panose="020B0502020104020203"/>
                        </a:defRPr>
                      </a:lvl4pPr>
                      <a:lvl5pPr marL="1828800" algn="l" defTabSz="914400" rtl="0" eaLnBrk="1" latinLnBrk="0" hangingPunct="1">
                        <a:defRPr sz="1800" b="1" kern="1200">
                          <a:solidFill>
                            <a:schemeClr val="lt1"/>
                          </a:solidFill>
                          <a:latin typeface="Gill Sans MT" panose="020B0502020104020203"/>
                        </a:defRPr>
                      </a:lvl5pPr>
                      <a:lvl6pPr marL="2286000" algn="l" defTabSz="914400" rtl="0" eaLnBrk="1" latinLnBrk="0" hangingPunct="1">
                        <a:defRPr sz="1800" b="1" kern="1200">
                          <a:solidFill>
                            <a:schemeClr val="lt1"/>
                          </a:solidFill>
                          <a:latin typeface="Gill Sans MT" panose="020B0502020104020203"/>
                        </a:defRPr>
                      </a:lvl6pPr>
                      <a:lvl7pPr marL="2743200" algn="l" defTabSz="914400" rtl="0" eaLnBrk="1" latinLnBrk="0" hangingPunct="1">
                        <a:defRPr sz="1800" b="1" kern="1200">
                          <a:solidFill>
                            <a:schemeClr val="lt1"/>
                          </a:solidFill>
                          <a:latin typeface="Gill Sans MT" panose="020B0502020104020203"/>
                        </a:defRPr>
                      </a:lvl7pPr>
                      <a:lvl8pPr marL="3200400" algn="l" defTabSz="914400" rtl="0" eaLnBrk="1" latinLnBrk="0" hangingPunct="1">
                        <a:defRPr sz="1800" b="1" kern="1200">
                          <a:solidFill>
                            <a:schemeClr val="lt1"/>
                          </a:solidFill>
                          <a:latin typeface="Gill Sans MT" panose="020B0502020104020203"/>
                        </a:defRPr>
                      </a:lvl8pPr>
                      <a:lvl9pPr marL="3657600" algn="l" defTabSz="914400" rtl="0" eaLnBrk="1" latinLnBrk="0" hangingPunct="1">
                        <a:defRPr sz="1800" b="1" kern="1200">
                          <a:solidFill>
                            <a:schemeClr val="lt1"/>
                          </a:solidFill>
                          <a:latin typeface="Gill Sans MT" panose="020B0502020104020203"/>
                        </a:defRPr>
                      </a:lvl9pPr>
                    </a:lstStyle>
                    <a:p>
                      <a:pPr algn="ctr"/>
                      <a:r>
                        <a:rPr lang="ar-SA" sz="1200" b="0" dirty="0">
                          <a:solidFill>
                            <a:schemeClr val="tx1"/>
                          </a:solidFill>
                          <a:latin typeface="Neo Sans Arabic Medium" panose="020B0704030504040204" pitchFamily="34" charset="-78"/>
                          <a:cs typeface="Neo Sans Arabic Medium" panose="020B0704030504040204" pitchFamily="34" charset="-78"/>
                        </a:rPr>
                        <a:t>استراتيجيات التغلب على المقاومة</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endParaRPr lang="en-US"/>
                    </a:p>
                  </a:txBody>
                  <a:tcPr/>
                </a:tc>
                <a:tc hMerge="1">
                  <a:txBody>
                    <a:bodyPr/>
                    <a:lstStyle/>
                    <a:p>
                      <a:endParaRPr lang="en-US"/>
                    </a:p>
                  </a:txBody>
                  <a:tcPr/>
                </a:tc>
                <a:tc gridSpan="4">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rtl="1"/>
                      <a:r>
                        <a:rPr lang="ar-SA" sz="1200" b="0" dirty="0">
                          <a:solidFill>
                            <a:schemeClr val="tx1"/>
                          </a:solidFill>
                          <a:latin typeface="Neo Sans Arabic Medium" panose="020B0704030504040204" pitchFamily="34" charset="-78"/>
                          <a:cs typeface="Neo Sans Arabic Medium" panose="020B0704030504040204" pitchFamily="34" charset="-78"/>
                        </a:rPr>
                        <a:t>التحول من مقاوم لداعم</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7624">
                <a:tc rowSpan="3">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algn="ctr"/>
                      <a:r>
                        <a:rPr lang="ar-SA" sz="1000" dirty="0">
                          <a:solidFill>
                            <a:schemeClr val="bg1"/>
                          </a:solidFill>
                          <a:latin typeface="Neo Sans Arabic Medium" panose="020B0704030504040204" pitchFamily="34" charset="-78"/>
                          <a:cs typeface="Neo Sans Arabic Medium" panose="020B0704030504040204" pitchFamily="34" charset="-78"/>
                        </a:rPr>
                        <a:t>ضمني</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171450" indent="-171450" algn="l">
                        <a:buFont typeface="Arial" panose="020B0604020202020204" pitchFamily="34" charset="0"/>
                        <a:buChar char="•"/>
                      </a:pPr>
                      <a:r>
                        <a:rPr lang="ar-SA" sz="1000" dirty="0"/>
                        <a:t>عدم فهم الهدف</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gridSpan="3">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l">
                        <a:buFont typeface="Arial" panose="020B0604020202020204" pitchFamily="34" charset="0"/>
                        <a:buNone/>
                      </a:pPr>
                      <a:r>
                        <a:rPr lang="ar-SA" sz="1000" dirty="0"/>
                        <a:t>توضيح أهداف وفوائد العمل التطوعي</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hMerge="1">
                  <a:txBody>
                    <a:bodyPr/>
                    <a:lstStyle/>
                    <a:p>
                      <a:endParaRPr lang="en-US"/>
                    </a:p>
                  </a:txBody>
                  <a:tcPr/>
                </a:tc>
                <a:tc rowSpan="3" hMerge="1">
                  <a:txBody>
                    <a:bodyPr/>
                    <a:lstStyle/>
                    <a:p>
                      <a:endParaRPr lang="en-US"/>
                    </a:p>
                  </a:txBody>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عالي</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hMerge="1">
                  <a:txBody>
                    <a:bodyPr/>
                    <a:lstStyle/>
                    <a:p>
                      <a:endParaRPr lang="en-US"/>
                    </a:p>
                  </a:txBody>
                  <a:tcPr/>
                </a:tc>
                <a:extLst>
                  <a:ext uri="{0D108BD9-81ED-4DB2-BD59-A6C34878D82A}">
                    <a16:rowId xmlns:a16="http://schemas.microsoft.com/office/drawing/2014/main" val="10001"/>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t>عدم إدراك الفائدة</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1922157973"/>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725140851"/>
                  </a:ext>
                </a:extLst>
              </a:tr>
              <a:tr h="227624">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r>
                        <a:rPr lang="ar-SA" sz="1000" dirty="0">
                          <a:latin typeface="Neo Sans Arabic Medium" panose="020B0704030504040204" pitchFamily="34" charset="-78"/>
                          <a:cs typeface="Neo Sans Arabic Medium" panose="020B0704030504040204" pitchFamily="34" charset="-78"/>
                        </a:rPr>
                        <a:t>فكري/عاطفي</a:t>
                      </a: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t>عدم توافق مع الاهتمامات</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l">
                        <a:buFont typeface="Arial" panose="020B0604020202020204" pitchFamily="34" charset="0"/>
                        <a:buNone/>
                      </a:pPr>
                      <a:r>
                        <a:rPr lang="ar-SA" sz="1000" dirty="0"/>
                        <a:t>ربط الفرصة باهتمامات صاحب المصلحة</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hMerge="1">
                  <a:txBody>
                    <a:bodyPr/>
                    <a:lstStyle/>
                    <a:p>
                      <a:endParaRPr lang="en-US"/>
                    </a:p>
                  </a:txBody>
                  <a:tcPr/>
                </a:tc>
                <a:tc rowSpan="3" hMerge="1">
                  <a:txBody>
                    <a:bodyPr/>
                    <a:lstStyle/>
                    <a:p>
                      <a:endParaRPr lang="en-US"/>
                    </a:p>
                  </a:txBody>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latin typeface="Neo Sans Arabic Medium" panose="020B0704030504040204" pitchFamily="34" charset="-78"/>
                          <a:cs typeface="Neo Sans Arabic Medium" panose="020B0704030504040204" pitchFamily="34" charset="-78"/>
                        </a:rPr>
                        <a:t>عالي</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hMerge="1">
                  <a:txBody>
                    <a:bodyPr/>
                    <a:lstStyle/>
                    <a:p>
                      <a:endParaRPr lang="en-US"/>
                    </a:p>
                  </a:txBody>
                  <a:tcPr/>
                </a:tc>
                <a:extLst>
                  <a:ext uri="{0D108BD9-81ED-4DB2-BD59-A6C34878D82A}">
                    <a16:rowId xmlns:a16="http://schemas.microsoft.com/office/drawing/2014/main" val="3623398343"/>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t>الشعور بعدم الملاءمة</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1559608050"/>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1822361996"/>
                  </a:ext>
                </a:extLst>
              </a:tr>
              <a:tr h="227624">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dirty="0">
                          <a:latin typeface="Neo Sans Arabic Medium" panose="020B0704030504040204" pitchFamily="34" charset="-78"/>
                          <a:cs typeface="Neo Sans Arabic Medium" panose="020B0704030504040204" pitchFamily="34" charset="-78"/>
                        </a:rPr>
                        <a:t>فكري/عاطفي</a:t>
                      </a: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t>الخوف من الفشل</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l">
                        <a:buFont typeface="Arial" panose="020B0604020202020204" pitchFamily="34" charset="0"/>
                        <a:buNone/>
                      </a:pPr>
                      <a:r>
                        <a:rPr lang="ar-SA" sz="1000" dirty="0"/>
                        <a:t>تقديم نماذج نجاح وتجارب إيجابية</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hMerge="1">
                  <a:txBody>
                    <a:bodyPr/>
                    <a:lstStyle/>
                    <a:p>
                      <a:endParaRPr lang="en-US"/>
                    </a:p>
                  </a:txBody>
                  <a:tcPr/>
                </a:tc>
                <a:tc rowSpan="3" hMerge="1">
                  <a:txBody>
                    <a:bodyPr/>
                    <a:lstStyle/>
                    <a:p>
                      <a:endParaRPr lang="en-US"/>
                    </a:p>
                  </a:txBody>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متوسط</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عالي</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hMerge="1">
                  <a:txBody>
                    <a:bodyPr/>
                    <a:lstStyle/>
                    <a:p>
                      <a:endParaRPr lang="en-US"/>
                    </a:p>
                  </a:txBody>
                  <a:tcPr/>
                </a:tc>
                <a:extLst>
                  <a:ext uri="{0D108BD9-81ED-4DB2-BD59-A6C34878D82A}">
                    <a16:rowId xmlns:a16="http://schemas.microsoft.com/office/drawing/2014/main" val="3490689591"/>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t>الشك في الجدوى</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2331572949"/>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4235316135"/>
                  </a:ext>
                </a:extLst>
              </a:tr>
              <a:tr h="227624">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dirty="0">
                          <a:solidFill>
                            <a:schemeClr val="bg1"/>
                          </a:solidFill>
                          <a:latin typeface="Neo Sans Arabic Medium" panose="020B0704030504040204" pitchFamily="34" charset="-78"/>
                          <a:cs typeface="Neo Sans Arabic Medium" panose="020B0704030504040204" pitchFamily="34" charset="-78"/>
                        </a:rPr>
                        <a:t>ضمني</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t>الخوف من الالتزام</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r>
                        <a:rPr lang="en-US" sz="1000" b="1" dirty="0">
                          <a:latin typeface="Neo Sans Arabic Medium" panose="020B0704030504040204" pitchFamily="34" charset="-78"/>
                          <a:cs typeface="Neo Sans Arabic Medium" panose="020B0704030504040204" pitchFamily="34" charset="-78"/>
                        </a:rPr>
                        <a:t>H</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l">
                        <a:buFont typeface="Arial" panose="020B0604020202020204" pitchFamily="34" charset="0"/>
                        <a:buNone/>
                      </a:pPr>
                      <a:r>
                        <a:rPr lang="ar-SA" sz="1000" dirty="0"/>
                        <a:t>توفير مرونة في الوقت والمهام</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hMerge="1">
                  <a:txBody>
                    <a:bodyPr/>
                    <a:lstStyle/>
                    <a:p>
                      <a:endParaRPr lang="en-US"/>
                    </a:p>
                  </a:txBody>
                  <a:tcPr/>
                </a:tc>
                <a:tc rowSpan="3" hMerge="1">
                  <a:txBody>
                    <a:bodyPr/>
                    <a:lstStyle/>
                    <a:p>
                      <a:endParaRPr lang="en-US"/>
                    </a:p>
                  </a:txBody>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latin typeface="Neo Sans Arabic Medium" panose="020B0704030504040204" pitchFamily="34" charset="-78"/>
                          <a:cs typeface="Neo Sans Arabic Medium" panose="020B0704030504040204" pitchFamily="34" charset="-78"/>
                        </a:rPr>
                        <a:t>منخفض</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latin typeface="Neo Sans Arabic Medium" panose="020B0704030504040204" pitchFamily="34" charset="-78"/>
                          <a:cs typeface="Neo Sans Arabic Medium" panose="020B0704030504040204" pitchFamily="34" charset="-78"/>
                        </a:rPr>
                        <a:t>متوسط</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latin typeface="Neo Sans Arabic Medium" panose="020B0704030504040204" pitchFamily="34" charset="-78"/>
                          <a:cs typeface="Neo Sans Arabic Medium" panose="020B0704030504040204" pitchFamily="34" charset="-78"/>
                        </a:rPr>
                        <a:t>عالي</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hMerge="1">
                  <a:txBody>
                    <a:bodyPr/>
                    <a:lstStyle/>
                    <a:p>
                      <a:endParaRPr lang="en-US"/>
                    </a:p>
                  </a:txBody>
                  <a:tcPr/>
                </a:tc>
                <a:extLst>
                  <a:ext uri="{0D108BD9-81ED-4DB2-BD59-A6C34878D82A}">
                    <a16:rowId xmlns:a16="http://schemas.microsoft.com/office/drawing/2014/main" val="1819397216"/>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t>ضغط الوقت</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r>
                        <a:rPr lang="en-US" sz="1000" b="1" dirty="0">
                          <a:latin typeface="Neo Sans Arabic Medium" panose="020B0704030504040204" pitchFamily="34" charset="-78"/>
                          <a:cs typeface="Neo Sans Arabic Medium" panose="020B0704030504040204" pitchFamily="34" charset="-78"/>
                        </a:rPr>
                        <a:t>H</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3407089148"/>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2920618205"/>
                  </a:ext>
                </a:extLst>
              </a:tr>
              <a:tr h="365760">
                <a:tc gridSpan="14">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r>
                        <a:rPr lang="ar-SA" sz="1400" dirty="0">
                          <a:solidFill>
                            <a:schemeClr val="tx1"/>
                          </a:solidFill>
                          <a:latin typeface="Neo Sans Arabic Medium" panose="020B0704030504040204" pitchFamily="34" charset="-78"/>
                          <a:cs typeface="Neo Sans Arabic Medium" panose="020B0704030504040204" pitchFamily="34" charset="-78"/>
                        </a:rPr>
                        <a:t>إجراءات تقليل التكرار</a:t>
                      </a:r>
                      <a:endParaRPr lang="en-US" sz="1400" dirty="0">
                        <a:solidFill>
                          <a:schemeClr val="tx1"/>
                        </a:solidFill>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pPr marL="171450" indent="-171450" algn="l">
                        <a:buFont typeface="Arial" panose="020B0604020202020204" pitchFamily="34" charset="0"/>
                        <a:buChar char="•"/>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a:p>
                  </a:txBody>
                  <a:tcPr/>
                </a:tc>
                <a:extLst>
                  <a:ext uri="{0D108BD9-81ED-4DB2-BD59-A6C34878D82A}">
                    <a16:rowId xmlns:a16="http://schemas.microsoft.com/office/drawing/2014/main" val="2741862298"/>
                  </a:ext>
                </a:extLst>
              </a:tr>
              <a:tr h="822960">
                <a:tc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r>
                        <a:rPr lang="ar-SA" sz="1000" dirty="0"/>
                        <a:t>تعزيز التقدير والتحفيز</a:t>
                      </a:r>
                    </a:p>
                    <a:p>
                      <a:pPr algn="ctr"/>
                      <a:r>
                        <a:rPr lang="ar-SA" sz="1000" dirty="0"/>
                        <a:t>متابعة دورية وقياس الرضا</a:t>
                      </a: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hMerge="1">
                  <a:txBody>
                    <a:bodyPr/>
                    <a:lstStyle/>
                    <a:p>
                      <a:pPr marL="171450" indent="-171450" algn="l">
                        <a:buFont typeface="Arial" panose="020B0604020202020204" pitchFamily="34" charset="0"/>
                        <a:buChar char="•"/>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gridSpan="5">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r>
                        <a:rPr lang="ar-SA" sz="1000" dirty="0"/>
                        <a:t>الاستماع الفعّال للمخاوف</a:t>
                      </a:r>
                    </a:p>
                    <a:p>
                      <a:pPr algn="ctr"/>
                      <a:r>
                        <a:rPr lang="ar-SA" sz="1000" dirty="0"/>
                        <a:t>تقديم تدريب وتأهيل مستمر</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gridSpan="4">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r>
                        <a:rPr lang="ar-SA" sz="1000" dirty="0"/>
                        <a:t>التواصل المستمر والشفاف </a:t>
                      </a:r>
                    </a:p>
                    <a:p>
                      <a:pPr algn="ctr"/>
                      <a:r>
                        <a:rPr lang="ar-SA" sz="1000" dirty="0"/>
                        <a:t>التوضيح المبكر للتوقعات</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extLst>
                  <a:ext uri="{0D108BD9-81ED-4DB2-BD59-A6C34878D82A}">
                    <a16:rowId xmlns:a16="http://schemas.microsoft.com/office/drawing/2014/main" val="609871641"/>
                  </a:ext>
                </a:extLst>
              </a:tr>
            </a:tbl>
          </a:graphicData>
        </a:graphic>
      </p:graphicFrame>
    </p:spTree>
    <p:extLst>
      <p:ext uri="{BB962C8B-B14F-4D97-AF65-F5344CB8AC3E}">
        <p14:creationId xmlns:p14="http://schemas.microsoft.com/office/powerpoint/2010/main" val="466022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4F3D78E-CD76-086F-D2D5-93B651A91D8C}"/>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CB10C046-E833-E560-6458-ED5FE4176DC9}"/>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خارطة الاستراتيجيات</a:t>
            </a:r>
          </a:p>
        </p:txBody>
      </p:sp>
      <p:graphicFrame>
        <p:nvGraphicFramePr>
          <p:cNvPr id="2" name="Google Shape;1423;p31">
            <a:extLst>
              <a:ext uri="{FF2B5EF4-FFF2-40B4-BE49-F238E27FC236}">
                <a16:creationId xmlns:a16="http://schemas.microsoft.com/office/drawing/2014/main" id="{7A586ACF-3B8D-4A14-479A-532B15249271}"/>
              </a:ext>
            </a:extLst>
          </p:cNvPr>
          <p:cNvGraphicFramePr/>
          <p:nvPr>
            <p:extLst>
              <p:ext uri="{D42A27DB-BD31-4B8C-83A1-F6EECF244321}">
                <p14:modId xmlns:p14="http://schemas.microsoft.com/office/powerpoint/2010/main" val="3584984743"/>
              </p:ext>
            </p:extLst>
          </p:nvPr>
        </p:nvGraphicFramePr>
        <p:xfrm>
          <a:off x="573174" y="1360480"/>
          <a:ext cx="11045651" cy="1219220"/>
        </p:xfrm>
        <a:graphic>
          <a:graphicData uri="http://schemas.openxmlformats.org/drawingml/2006/table">
            <a:tbl>
              <a:tblPr>
                <a:noFill/>
              </a:tblPr>
              <a:tblGrid>
                <a:gridCol w="1810766">
                  <a:extLst>
                    <a:ext uri="{9D8B030D-6E8A-4147-A177-3AD203B41FA5}">
                      <a16:colId xmlns:a16="http://schemas.microsoft.com/office/drawing/2014/main" val="531740689"/>
                    </a:ext>
                  </a:extLst>
                </a:gridCol>
                <a:gridCol w="2435553">
                  <a:extLst>
                    <a:ext uri="{9D8B030D-6E8A-4147-A177-3AD203B41FA5}">
                      <a16:colId xmlns:a16="http://schemas.microsoft.com/office/drawing/2014/main" val="2165962980"/>
                    </a:ext>
                  </a:extLst>
                </a:gridCol>
                <a:gridCol w="1980211">
                  <a:extLst>
                    <a:ext uri="{9D8B030D-6E8A-4147-A177-3AD203B41FA5}">
                      <a16:colId xmlns:a16="http://schemas.microsoft.com/office/drawing/2014/main" val="20001"/>
                    </a:ext>
                  </a:extLst>
                </a:gridCol>
                <a:gridCol w="1980211">
                  <a:extLst>
                    <a:ext uri="{9D8B030D-6E8A-4147-A177-3AD203B41FA5}">
                      <a16:colId xmlns:a16="http://schemas.microsoft.com/office/drawing/2014/main" val="2203383409"/>
                    </a:ext>
                  </a:extLst>
                </a:gridCol>
                <a:gridCol w="2503715">
                  <a:extLst>
                    <a:ext uri="{9D8B030D-6E8A-4147-A177-3AD203B41FA5}">
                      <a16:colId xmlns:a16="http://schemas.microsoft.com/office/drawing/2014/main" val="2382692348"/>
                    </a:ext>
                  </a:extLst>
                </a:gridCol>
                <a:gridCol w="335195">
                  <a:extLst>
                    <a:ext uri="{9D8B030D-6E8A-4147-A177-3AD203B41FA5}">
                      <a16:colId xmlns:a16="http://schemas.microsoft.com/office/drawing/2014/main" val="2220426600"/>
                    </a:ext>
                  </a:extLst>
                </a:gridCol>
              </a:tblGrid>
              <a:tr h="284930">
                <a:tc gridSpan="4">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FFFFFF"/>
                        </a:buClr>
                        <a:buSzPts val="1400"/>
                        <a:buFont typeface="Sakkal Majalla"/>
                        <a:buNone/>
                      </a:pPr>
                      <a:r>
                        <a:rPr lang="ar-SA" sz="1600" b="0" i="0" u="none" strike="noStrike" cap="none" dirty="0">
                          <a:solidFill>
                            <a:schemeClr val="bg2">
                              <a:lumMod val="10000"/>
                            </a:schemeClr>
                          </a:solidFill>
                          <a:latin typeface="Neo Sans Arabic Medium" panose="020B0704030504040204" pitchFamily="34" charset="-78"/>
                          <a:ea typeface="Sakkal Majalla"/>
                          <a:cs typeface="Neo Sans Arabic Medium" panose="020B0704030504040204" pitchFamily="34" charset="-78"/>
                          <a:sym typeface="Sakkal Majalla"/>
                        </a:rPr>
                        <a:t>الاستراتيجيات</a:t>
                      </a:r>
                      <a:endParaRPr lang="ar-JO" sz="1600" b="0" i="0" u="none" strike="noStrike" cap="none" dirty="0">
                        <a:solidFill>
                          <a:schemeClr val="bg2">
                            <a:lumMod val="10000"/>
                          </a:schemeClr>
                        </a:solidFill>
                        <a:latin typeface="Neo Sans Arabic Medium" panose="020B0704030504040204" pitchFamily="34" charset="-78"/>
                        <a:ea typeface="Sakkal Majalla"/>
                        <a:cs typeface="Neo Sans Arabic Medium" panose="020B0704030504040204" pitchFamily="34" charset="-78"/>
                        <a:sym typeface="Sakkal Majalla"/>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88C656"/>
                    </a:solidFill>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1">
                        <a:lnSpc>
                          <a:spcPct val="100000"/>
                        </a:lnSpc>
                        <a:spcBef>
                          <a:spcPts val="0"/>
                        </a:spcBef>
                        <a:spcAft>
                          <a:spcPts val="0"/>
                        </a:spcAft>
                        <a:buClr>
                          <a:srgbClr val="FFFFFF"/>
                        </a:buClr>
                        <a:buSzPts val="1400"/>
                        <a:buFont typeface="Sakkal Majalla"/>
                        <a:buNone/>
                      </a:pPr>
                      <a:endParaRPr lang="ar-JO" sz="1800" b="0" i="0" u="none" strike="noStrike" cap="none" dirty="0">
                        <a:solidFill>
                          <a:schemeClr val="bg2">
                            <a:lumMod val="10000"/>
                          </a:schemeClr>
                        </a:solidFill>
                        <a:latin typeface="Lina sans Medium" panose="00000600000000000000" pitchFamily="50" charset="-78"/>
                        <a:ea typeface="Sakkal Majalla"/>
                        <a:cs typeface="Lina sans Medium" panose="00000600000000000000" pitchFamily="50" charset="-78"/>
                        <a:sym typeface="Sakkal Majalla"/>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4D4"/>
                    </a:solidFill>
                  </a:tcPr>
                </a:tc>
                <a:tc hMerge="1">
                  <a:txBody>
                    <a:bodyPr/>
                    <a:lstStyle/>
                    <a:p>
                      <a:endParaRPr lang="en-US"/>
                    </a:p>
                  </a:txBody>
                  <a:tcPr/>
                </a:tc>
                <a:tc>
                  <a:txBody>
                    <a:bodyPr/>
                    <a:lstStyle>
                      <a:lvl1pPr marL="0" algn="l" defTabSz="1827886" rtl="0" eaLnBrk="1" latinLnBrk="0" hangingPunct="1">
                        <a:defRPr sz="3598" kern="1200">
                          <a:solidFill>
                            <a:schemeClr val="tx1"/>
                          </a:solidFill>
                          <a:latin typeface="Calibri" panose="020F0502020204030204"/>
                        </a:defRPr>
                      </a:lvl1pPr>
                      <a:lvl2pPr marL="913943" algn="l" defTabSz="1827886" rtl="0" eaLnBrk="1" latinLnBrk="0" hangingPunct="1">
                        <a:defRPr sz="3598" kern="1200">
                          <a:solidFill>
                            <a:schemeClr val="tx1"/>
                          </a:solidFill>
                          <a:latin typeface="Calibri" panose="020F0502020204030204"/>
                        </a:defRPr>
                      </a:lvl2pPr>
                      <a:lvl3pPr marL="1827886" algn="l" defTabSz="1827886" rtl="0" eaLnBrk="1" latinLnBrk="0" hangingPunct="1">
                        <a:defRPr sz="3598" kern="1200">
                          <a:solidFill>
                            <a:schemeClr val="tx1"/>
                          </a:solidFill>
                          <a:latin typeface="Calibri" panose="020F0502020204030204"/>
                        </a:defRPr>
                      </a:lvl3pPr>
                      <a:lvl4pPr marL="2741828" algn="l" defTabSz="1827886" rtl="0" eaLnBrk="1" latinLnBrk="0" hangingPunct="1">
                        <a:defRPr sz="3598" kern="1200">
                          <a:solidFill>
                            <a:schemeClr val="tx1"/>
                          </a:solidFill>
                          <a:latin typeface="Calibri" panose="020F0502020204030204"/>
                        </a:defRPr>
                      </a:lvl4pPr>
                      <a:lvl5pPr marL="3655771" algn="l" defTabSz="1827886" rtl="0" eaLnBrk="1" latinLnBrk="0" hangingPunct="1">
                        <a:defRPr sz="3598" kern="1200">
                          <a:solidFill>
                            <a:schemeClr val="tx1"/>
                          </a:solidFill>
                          <a:latin typeface="Calibri" panose="020F0502020204030204"/>
                        </a:defRPr>
                      </a:lvl5pPr>
                      <a:lvl6pPr marL="4569714" algn="l" defTabSz="1827886" rtl="0" eaLnBrk="1" latinLnBrk="0" hangingPunct="1">
                        <a:defRPr sz="3598" kern="1200">
                          <a:solidFill>
                            <a:schemeClr val="tx1"/>
                          </a:solidFill>
                          <a:latin typeface="Calibri" panose="020F0502020204030204"/>
                        </a:defRPr>
                      </a:lvl6pPr>
                      <a:lvl7pPr marL="5483657" algn="l" defTabSz="1827886" rtl="0" eaLnBrk="1" latinLnBrk="0" hangingPunct="1">
                        <a:defRPr sz="3598" kern="1200">
                          <a:solidFill>
                            <a:schemeClr val="tx1"/>
                          </a:solidFill>
                          <a:latin typeface="Calibri" panose="020F0502020204030204"/>
                        </a:defRPr>
                      </a:lvl7pPr>
                      <a:lvl8pPr marL="6397600" algn="l" defTabSz="1827886" rtl="0" eaLnBrk="1" latinLnBrk="0" hangingPunct="1">
                        <a:defRPr sz="3598" kern="1200">
                          <a:solidFill>
                            <a:schemeClr val="tx1"/>
                          </a:solidFill>
                          <a:latin typeface="Calibri" panose="020F0502020204030204"/>
                        </a:defRPr>
                      </a:lvl8pPr>
                      <a:lvl9pPr marL="7311542" algn="l" defTabSz="1827886" rtl="0" eaLnBrk="1" latinLnBrk="0" hangingPunct="1">
                        <a:defRPr sz="3598" kern="1200">
                          <a:solidFill>
                            <a:schemeClr val="tx1"/>
                          </a:solidFill>
                          <a:latin typeface="Calibri" panose="020F0502020204030204"/>
                        </a:defRPr>
                      </a:lvl9pPr>
                    </a:lstStyle>
                    <a:p>
                      <a:pPr marL="0" marR="0" lvl="0" indent="0" algn="ctr" rtl="1">
                        <a:lnSpc>
                          <a:spcPct val="100000"/>
                        </a:lnSpc>
                        <a:spcBef>
                          <a:spcPts val="0"/>
                        </a:spcBef>
                        <a:spcAft>
                          <a:spcPts val="0"/>
                        </a:spcAft>
                        <a:buClr>
                          <a:srgbClr val="FFFFFF"/>
                        </a:buClr>
                        <a:buSzPts val="1400"/>
                        <a:buFont typeface="Sakkal Majalla"/>
                        <a:buNone/>
                      </a:pPr>
                      <a:r>
                        <a:rPr lang="ar-SA" sz="1600" u="none" strike="noStrike" cap="none" dirty="0">
                          <a:solidFill>
                            <a:schemeClr val="tx1"/>
                          </a:solidFill>
                          <a:latin typeface="Neo Sans Arabic Medium" panose="020B0704030504040204" pitchFamily="34" charset="-78"/>
                          <a:cs typeface="Neo Sans Arabic Medium" panose="020B0704030504040204" pitchFamily="34" charset="-78"/>
                        </a:rPr>
                        <a:t>مجال  الاستدامة</a:t>
                      </a:r>
                      <a:endParaRPr sz="1600" u="none" strike="noStrike" cap="none" dirty="0">
                        <a:solidFill>
                          <a:schemeClr val="tx1"/>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88C656"/>
                    </a:solidFill>
                  </a:tcPr>
                </a:tc>
                <a:tc>
                  <a:txBody>
                    <a:bodyPr/>
                    <a:lstStyle>
                      <a:lvl1pPr marL="0" algn="l" defTabSz="1827886" rtl="0" eaLnBrk="1" latinLnBrk="0" hangingPunct="1">
                        <a:defRPr sz="3598" kern="1200">
                          <a:solidFill>
                            <a:schemeClr val="tx1"/>
                          </a:solidFill>
                          <a:latin typeface="Calibri" panose="020F0502020204030204"/>
                        </a:defRPr>
                      </a:lvl1pPr>
                      <a:lvl2pPr marL="913943" algn="l" defTabSz="1827886" rtl="0" eaLnBrk="1" latinLnBrk="0" hangingPunct="1">
                        <a:defRPr sz="3598" kern="1200">
                          <a:solidFill>
                            <a:schemeClr val="tx1"/>
                          </a:solidFill>
                          <a:latin typeface="Calibri" panose="020F0502020204030204"/>
                        </a:defRPr>
                      </a:lvl2pPr>
                      <a:lvl3pPr marL="1827886" algn="l" defTabSz="1827886" rtl="0" eaLnBrk="1" latinLnBrk="0" hangingPunct="1">
                        <a:defRPr sz="3598" kern="1200">
                          <a:solidFill>
                            <a:schemeClr val="tx1"/>
                          </a:solidFill>
                          <a:latin typeface="Calibri" panose="020F0502020204030204"/>
                        </a:defRPr>
                      </a:lvl3pPr>
                      <a:lvl4pPr marL="2741828" algn="l" defTabSz="1827886" rtl="0" eaLnBrk="1" latinLnBrk="0" hangingPunct="1">
                        <a:defRPr sz="3598" kern="1200">
                          <a:solidFill>
                            <a:schemeClr val="tx1"/>
                          </a:solidFill>
                          <a:latin typeface="Calibri" panose="020F0502020204030204"/>
                        </a:defRPr>
                      </a:lvl4pPr>
                      <a:lvl5pPr marL="3655771" algn="l" defTabSz="1827886" rtl="0" eaLnBrk="1" latinLnBrk="0" hangingPunct="1">
                        <a:defRPr sz="3598" kern="1200">
                          <a:solidFill>
                            <a:schemeClr val="tx1"/>
                          </a:solidFill>
                          <a:latin typeface="Calibri" panose="020F0502020204030204"/>
                        </a:defRPr>
                      </a:lvl5pPr>
                      <a:lvl6pPr marL="4569714" algn="l" defTabSz="1827886" rtl="0" eaLnBrk="1" latinLnBrk="0" hangingPunct="1">
                        <a:defRPr sz="3598" kern="1200">
                          <a:solidFill>
                            <a:schemeClr val="tx1"/>
                          </a:solidFill>
                          <a:latin typeface="Calibri" panose="020F0502020204030204"/>
                        </a:defRPr>
                      </a:lvl6pPr>
                      <a:lvl7pPr marL="5483657" algn="l" defTabSz="1827886" rtl="0" eaLnBrk="1" latinLnBrk="0" hangingPunct="1">
                        <a:defRPr sz="3598" kern="1200">
                          <a:solidFill>
                            <a:schemeClr val="tx1"/>
                          </a:solidFill>
                          <a:latin typeface="Calibri" panose="020F0502020204030204"/>
                        </a:defRPr>
                      </a:lvl7pPr>
                      <a:lvl8pPr marL="6397600" algn="l" defTabSz="1827886" rtl="0" eaLnBrk="1" latinLnBrk="0" hangingPunct="1">
                        <a:defRPr sz="3598" kern="1200">
                          <a:solidFill>
                            <a:schemeClr val="tx1"/>
                          </a:solidFill>
                          <a:latin typeface="Calibri" panose="020F0502020204030204"/>
                        </a:defRPr>
                      </a:lvl8pPr>
                      <a:lvl9pPr marL="7311542" algn="l" defTabSz="1827886" rtl="0" eaLnBrk="1" latinLnBrk="0" hangingPunct="1">
                        <a:defRPr sz="3598" kern="1200">
                          <a:solidFill>
                            <a:schemeClr val="tx1"/>
                          </a:solidFill>
                          <a:latin typeface="Calibri" panose="020F0502020204030204"/>
                        </a:defRPr>
                      </a:lvl9pPr>
                    </a:lstStyle>
                    <a:p>
                      <a:pPr marL="0" marR="0" lvl="0" indent="0" algn="ctr" rtl="1">
                        <a:lnSpc>
                          <a:spcPct val="100000"/>
                        </a:lnSpc>
                        <a:spcBef>
                          <a:spcPts val="0"/>
                        </a:spcBef>
                        <a:spcAft>
                          <a:spcPts val="0"/>
                        </a:spcAft>
                        <a:buClr>
                          <a:srgbClr val="FFFFFF"/>
                        </a:buClr>
                        <a:buSzPts val="1400"/>
                        <a:buFont typeface="Sakkal Majalla"/>
                        <a:buNone/>
                      </a:pPr>
                      <a:r>
                        <a:rPr lang="ar-SA" sz="1600" u="none" strike="noStrike" cap="none" dirty="0">
                          <a:solidFill>
                            <a:schemeClr val="bg1"/>
                          </a:solidFill>
                          <a:latin typeface="Neo Sans Arabic Medium" panose="020B0704030504040204" pitchFamily="34" charset="-78"/>
                          <a:cs typeface="Neo Sans Arabic Medium" panose="020B0704030504040204" pitchFamily="34" charset="-78"/>
                        </a:rPr>
                        <a:t>م</a:t>
                      </a:r>
                      <a:endParaRPr sz="1600" u="none" strike="noStrike" cap="none" dirty="0">
                        <a:solidFill>
                          <a:schemeClr val="bg1"/>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88C656"/>
                    </a:solidFill>
                  </a:tcPr>
                </a:tc>
                <a:extLst>
                  <a:ext uri="{0D108BD9-81ED-4DB2-BD59-A6C34878D82A}">
                    <a16:rowId xmlns:a16="http://schemas.microsoft.com/office/drawing/2014/main" val="10000"/>
                  </a:ext>
                </a:extLst>
              </a:tr>
              <a:tr h="274320">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rPr>
                        <a:t>الرابعة</a:t>
                      </a:r>
                      <a:endParaRPr lang="en-US"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5ECDCB">
                            <a:tint val="66000"/>
                            <a:satMod val="160000"/>
                          </a:srgbClr>
                        </a:gs>
                        <a:gs pos="50000">
                          <a:srgbClr val="5ECDCB">
                            <a:tint val="44500"/>
                            <a:satMod val="160000"/>
                          </a:srgbClr>
                        </a:gs>
                        <a:gs pos="100000">
                          <a:srgbClr val="5ECDCB">
                            <a:tint val="23500"/>
                            <a:satMod val="160000"/>
                          </a:srgbClr>
                        </a:gs>
                      </a:gsLst>
                      <a:path path="circle">
                        <a:fillToRect r="100000" b="100000"/>
                      </a:path>
                      <a:tileRect l="-100000" t="-100000"/>
                    </a:gra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rPr>
                        <a:t>الثالثة</a:t>
                      </a:r>
                      <a:endParaRPr lang="en-US"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5ECDCB">
                            <a:tint val="66000"/>
                            <a:satMod val="160000"/>
                          </a:srgbClr>
                        </a:gs>
                        <a:gs pos="50000">
                          <a:srgbClr val="5ECDCB">
                            <a:tint val="44500"/>
                            <a:satMod val="160000"/>
                          </a:srgbClr>
                        </a:gs>
                        <a:gs pos="100000">
                          <a:srgbClr val="5ECDCB">
                            <a:tint val="23500"/>
                            <a:satMod val="160000"/>
                          </a:srgbClr>
                        </a:gs>
                      </a:gsLst>
                      <a:path path="circle">
                        <a:fillToRect r="100000" b="100000"/>
                      </a:path>
                      <a:tileRect l="-100000" t="-100000"/>
                    </a:gra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1">
                        <a:lnSpc>
                          <a:spcPct val="100000"/>
                        </a:lnSpc>
                        <a:spcBef>
                          <a:spcPts val="0"/>
                        </a:spcBef>
                        <a:spcAft>
                          <a:spcPts val="0"/>
                        </a:spcAft>
                        <a:buClr>
                          <a:srgbClr val="404040"/>
                        </a:buClr>
                        <a:buSzPts val="1200"/>
                        <a:buFont typeface="Sakkal Majalla"/>
                        <a:buNone/>
                      </a:pPr>
                      <a:r>
                        <a:rPr lang="ar-SA" sz="1600" u="none" strike="noStrike" cap="none" dirty="0">
                          <a:latin typeface="Neo Sans Arabic Medium" panose="020B0704030504040204" pitchFamily="34" charset="-78"/>
                          <a:cs typeface="Neo Sans Arabic Medium" panose="020B0704030504040204" pitchFamily="34" charset="-78"/>
                        </a:rPr>
                        <a:t>الثانية</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5ECDCB">
                            <a:tint val="66000"/>
                            <a:satMod val="160000"/>
                          </a:srgbClr>
                        </a:gs>
                        <a:gs pos="50000">
                          <a:srgbClr val="5ECDCB">
                            <a:tint val="44500"/>
                            <a:satMod val="160000"/>
                          </a:srgbClr>
                        </a:gs>
                        <a:gs pos="100000">
                          <a:srgbClr val="5ECDCB">
                            <a:tint val="23500"/>
                            <a:satMod val="160000"/>
                          </a:srgbClr>
                        </a:gs>
                      </a:gsLst>
                      <a:path path="circle">
                        <a:fillToRect r="100000" b="100000"/>
                      </a:path>
                      <a:tileRect l="-100000" t="-100000"/>
                    </a:gra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r>
                        <a:rPr lang="ar-SA" sz="1600" u="none" strike="noStrike" cap="none" dirty="0">
                          <a:latin typeface="Neo Sans Arabic Medium" panose="020B0704030504040204" pitchFamily="34" charset="-78"/>
                          <a:cs typeface="Neo Sans Arabic Medium" panose="020B0704030504040204" pitchFamily="34" charset="-78"/>
                        </a:rPr>
                        <a:t>الأولى </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5ECDCB">
                            <a:tint val="66000"/>
                            <a:satMod val="160000"/>
                          </a:srgbClr>
                        </a:gs>
                        <a:gs pos="50000">
                          <a:srgbClr val="5ECDCB">
                            <a:tint val="44500"/>
                            <a:satMod val="160000"/>
                          </a:srgbClr>
                        </a:gs>
                        <a:gs pos="100000">
                          <a:srgbClr val="5ECDCB">
                            <a:tint val="23500"/>
                            <a:satMod val="160000"/>
                          </a:srgbClr>
                        </a:gs>
                      </a:gsLst>
                      <a:path path="circle">
                        <a:fillToRect r="100000" b="100000"/>
                      </a:path>
                      <a:tileRect l="-100000" t="-100000"/>
                    </a:gradFill>
                  </a:tcPr>
                </a:tc>
                <a:tc rowSpan="2">
                  <a:txBody>
                    <a:bodyPr/>
                    <a:lstStyle>
                      <a:lvl1pPr marL="0" algn="l" defTabSz="1827886" rtl="0" eaLnBrk="1" latinLnBrk="0" hangingPunct="1">
                        <a:defRPr sz="3598" kern="1200">
                          <a:solidFill>
                            <a:schemeClr val="tx1"/>
                          </a:solidFill>
                          <a:latin typeface="Calibri" panose="020F0502020204030204"/>
                        </a:defRPr>
                      </a:lvl1pPr>
                      <a:lvl2pPr marL="913943" algn="l" defTabSz="1827886" rtl="0" eaLnBrk="1" latinLnBrk="0" hangingPunct="1">
                        <a:defRPr sz="3598" kern="1200">
                          <a:solidFill>
                            <a:schemeClr val="tx1"/>
                          </a:solidFill>
                          <a:latin typeface="Calibri" panose="020F0502020204030204"/>
                        </a:defRPr>
                      </a:lvl2pPr>
                      <a:lvl3pPr marL="1827886" algn="l" defTabSz="1827886" rtl="0" eaLnBrk="1" latinLnBrk="0" hangingPunct="1">
                        <a:defRPr sz="3598" kern="1200">
                          <a:solidFill>
                            <a:schemeClr val="tx1"/>
                          </a:solidFill>
                          <a:latin typeface="Calibri" panose="020F0502020204030204"/>
                        </a:defRPr>
                      </a:lvl3pPr>
                      <a:lvl4pPr marL="2741828" algn="l" defTabSz="1827886" rtl="0" eaLnBrk="1" latinLnBrk="0" hangingPunct="1">
                        <a:defRPr sz="3598" kern="1200">
                          <a:solidFill>
                            <a:schemeClr val="tx1"/>
                          </a:solidFill>
                          <a:latin typeface="Calibri" panose="020F0502020204030204"/>
                        </a:defRPr>
                      </a:lvl4pPr>
                      <a:lvl5pPr marL="3655771" algn="l" defTabSz="1827886" rtl="0" eaLnBrk="1" latinLnBrk="0" hangingPunct="1">
                        <a:defRPr sz="3598" kern="1200">
                          <a:solidFill>
                            <a:schemeClr val="tx1"/>
                          </a:solidFill>
                          <a:latin typeface="Calibri" panose="020F0502020204030204"/>
                        </a:defRPr>
                      </a:lvl5pPr>
                      <a:lvl6pPr marL="4569714" algn="l" defTabSz="1827886" rtl="0" eaLnBrk="1" latinLnBrk="0" hangingPunct="1">
                        <a:defRPr sz="3598" kern="1200">
                          <a:solidFill>
                            <a:schemeClr val="tx1"/>
                          </a:solidFill>
                          <a:latin typeface="Calibri" panose="020F0502020204030204"/>
                        </a:defRPr>
                      </a:lvl6pPr>
                      <a:lvl7pPr marL="5483657" algn="l" defTabSz="1827886" rtl="0" eaLnBrk="1" latinLnBrk="0" hangingPunct="1">
                        <a:defRPr sz="3598" kern="1200">
                          <a:solidFill>
                            <a:schemeClr val="tx1"/>
                          </a:solidFill>
                          <a:latin typeface="Calibri" panose="020F0502020204030204"/>
                        </a:defRPr>
                      </a:lvl7pPr>
                      <a:lvl8pPr marL="6397600" algn="l" defTabSz="1827886" rtl="0" eaLnBrk="1" latinLnBrk="0" hangingPunct="1">
                        <a:defRPr sz="3598" kern="1200">
                          <a:solidFill>
                            <a:schemeClr val="tx1"/>
                          </a:solidFill>
                          <a:latin typeface="Calibri" panose="020F0502020204030204"/>
                        </a:defRPr>
                      </a:lvl8pPr>
                      <a:lvl9pPr marL="7311542" algn="l" defTabSz="1827886" rtl="0" eaLnBrk="1" latinLnBrk="0" hangingPunct="1">
                        <a:defRPr sz="3598" kern="1200">
                          <a:solidFill>
                            <a:schemeClr val="tx1"/>
                          </a:solidFill>
                          <a:latin typeface="Calibri" panose="020F0502020204030204"/>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u="none" strike="noStrike" cap="none" dirty="0">
                          <a:latin typeface="Neo Sans Arabic Medium" panose="020B0704030504040204" pitchFamily="34" charset="-78"/>
                          <a:cs typeface="Neo Sans Arabic Medium" panose="020B0704030504040204" pitchFamily="34" charset="-78"/>
                        </a:rPr>
                        <a:t>الموارد البشرية</a:t>
                      </a:r>
                    </a:p>
                  </a:txBody>
                  <a:tcPr marL="91450" marR="91450" marT="45725" marB="4572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rowSpan="2">
                  <a:txBody>
                    <a:bodyPr/>
                    <a:lstStyle>
                      <a:lvl1pPr marL="0" algn="l" defTabSz="1827886" rtl="0" eaLnBrk="1" latinLnBrk="0" hangingPunct="1">
                        <a:defRPr sz="3598" kern="1200">
                          <a:solidFill>
                            <a:schemeClr val="tx1"/>
                          </a:solidFill>
                          <a:latin typeface="Calibri" panose="020F0502020204030204"/>
                        </a:defRPr>
                      </a:lvl1pPr>
                      <a:lvl2pPr marL="913943" algn="l" defTabSz="1827886" rtl="0" eaLnBrk="1" latinLnBrk="0" hangingPunct="1">
                        <a:defRPr sz="3598" kern="1200">
                          <a:solidFill>
                            <a:schemeClr val="tx1"/>
                          </a:solidFill>
                          <a:latin typeface="Calibri" panose="020F0502020204030204"/>
                        </a:defRPr>
                      </a:lvl2pPr>
                      <a:lvl3pPr marL="1827886" algn="l" defTabSz="1827886" rtl="0" eaLnBrk="1" latinLnBrk="0" hangingPunct="1">
                        <a:defRPr sz="3598" kern="1200">
                          <a:solidFill>
                            <a:schemeClr val="tx1"/>
                          </a:solidFill>
                          <a:latin typeface="Calibri" panose="020F0502020204030204"/>
                        </a:defRPr>
                      </a:lvl3pPr>
                      <a:lvl4pPr marL="2741828" algn="l" defTabSz="1827886" rtl="0" eaLnBrk="1" latinLnBrk="0" hangingPunct="1">
                        <a:defRPr sz="3598" kern="1200">
                          <a:solidFill>
                            <a:schemeClr val="tx1"/>
                          </a:solidFill>
                          <a:latin typeface="Calibri" panose="020F0502020204030204"/>
                        </a:defRPr>
                      </a:lvl4pPr>
                      <a:lvl5pPr marL="3655771" algn="l" defTabSz="1827886" rtl="0" eaLnBrk="1" latinLnBrk="0" hangingPunct="1">
                        <a:defRPr sz="3598" kern="1200">
                          <a:solidFill>
                            <a:schemeClr val="tx1"/>
                          </a:solidFill>
                          <a:latin typeface="Calibri" panose="020F0502020204030204"/>
                        </a:defRPr>
                      </a:lvl5pPr>
                      <a:lvl6pPr marL="4569714" algn="l" defTabSz="1827886" rtl="0" eaLnBrk="1" latinLnBrk="0" hangingPunct="1">
                        <a:defRPr sz="3598" kern="1200">
                          <a:solidFill>
                            <a:schemeClr val="tx1"/>
                          </a:solidFill>
                          <a:latin typeface="Calibri" panose="020F0502020204030204"/>
                        </a:defRPr>
                      </a:lvl6pPr>
                      <a:lvl7pPr marL="5483657" algn="l" defTabSz="1827886" rtl="0" eaLnBrk="1" latinLnBrk="0" hangingPunct="1">
                        <a:defRPr sz="3598" kern="1200">
                          <a:solidFill>
                            <a:schemeClr val="tx1"/>
                          </a:solidFill>
                          <a:latin typeface="Calibri" panose="020F0502020204030204"/>
                        </a:defRPr>
                      </a:lvl7pPr>
                      <a:lvl8pPr marL="6397600" algn="l" defTabSz="1827886" rtl="0" eaLnBrk="1" latinLnBrk="0" hangingPunct="1">
                        <a:defRPr sz="3598" kern="1200">
                          <a:solidFill>
                            <a:schemeClr val="tx1"/>
                          </a:solidFill>
                          <a:latin typeface="Calibri" panose="020F0502020204030204"/>
                        </a:defRPr>
                      </a:lvl8pPr>
                      <a:lvl9pPr marL="7311542" algn="l" defTabSz="1827886" rtl="0" eaLnBrk="1" latinLnBrk="0" hangingPunct="1">
                        <a:defRPr sz="3598" kern="1200">
                          <a:solidFill>
                            <a:schemeClr val="tx1"/>
                          </a:solidFill>
                          <a:latin typeface="Calibri" panose="020F0502020204030204"/>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48640">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تحسين تجربة المتطوع</a:t>
                      </a:r>
                      <a:endParaRPr lang="en-US"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r>
                        <a:rPr lang="ar-SA" sz="1600" dirty="0"/>
                        <a:t>تأهيل وتطوير المتطوعين</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r>
                        <a:rPr lang="ar-SA" sz="1600" dirty="0"/>
                        <a:t>استقطاب متطوعين جدد</a:t>
                      </a: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92143592"/>
                  </a:ext>
                </a:extLst>
              </a:tr>
            </a:tbl>
          </a:graphicData>
        </a:graphic>
      </p:graphicFrame>
      <p:graphicFrame>
        <p:nvGraphicFramePr>
          <p:cNvPr id="5" name="جدول 4">
            <a:extLst>
              <a:ext uri="{FF2B5EF4-FFF2-40B4-BE49-F238E27FC236}">
                <a16:creationId xmlns:a16="http://schemas.microsoft.com/office/drawing/2014/main" id="{9ECA3C1C-48CE-76B7-637F-035E7B516AD8}"/>
              </a:ext>
            </a:extLst>
          </p:cNvPr>
          <p:cNvGraphicFramePr>
            <a:graphicFrameLocks noGrp="1"/>
          </p:cNvGraphicFramePr>
          <p:nvPr>
            <p:extLst>
              <p:ext uri="{D42A27DB-BD31-4B8C-83A1-F6EECF244321}">
                <p14:modId xmlns:p14="http://schemas.microsoft.com/office/powerpoint/2010/main" val="1984931723"/>
              </p:ext>
            </p:extLst>
          </p:nvPr>
        </p:nvGraphicFramePr>
        <p:xfrm>
          <a:off x="573175" y="2682912"/>
          <a:ext cx="11058145" cy="3833620"/>
        </p:xfrm>
        <a:graphic>
          <a:graphicData uri="http://schemas.openxmlformats.org/drawingml/2006/table">
            <a:tbl>
              <a:tblPr>
                <a:noFill/>
              </a:tblPr>
              <a:tblGrid>
                <a:gridCol w="1734616">
                  <a:extLst>
                    <a:ext uri="{9D8B030D-6E8A-4147-A177-3AD203B41FA5}">
                      <a16:colId xmlns:a16="http://schemas.microsoft.com/office/drawing/2014/main" val="4225445459"/>
                    </a:ext>
                  </a:extLst>
                </a:gridCol>
                <a:gridCol w="2516506">
                  <a:extLst>
                    <a:ext uri="{9D8B030D-6E8A-4147-A177-3AD203B41FA5}">
                      <a16:colId xmlns:a16="http://schemas.microsoft.com/office/drawing/2014/main" val="4141826183"/>
                    </a:ext>
                  </a:extLst>
                </a:gridCol>
                <a:gridCol w="1982451">
                  <a:extLst>
                    <a:ext uri="{9D8B030D-6E8A-4147-A177-3AD203B41FA5}">
                      <a16:colId xmlns:a16="http://schemas.microsoft.com/office/drawing/2014/main" val="1165040606"/>
                    </a:ext>
                  </a:extLst>
                </a:gridCol>
                <a:gridCol w="1982451">
                  <a:extLst>
                    <a:ext uri="{9D8B030D-6E8A-4147-A177-3AD203B41FA5}">
                      <a16:colId xmlns:a16="http://schemas.microsoft.com/office/drawing/2014/main" val="1694472251"/>
                    </a:ext>
                  </a:extLst>
                </a:gridCol>
                <a:gridCol w="2506547">
                  <a:extLst>
                    <a:ext uri="{9D8B030D-6E8A-4147-A177-3AD203B41FA5}">
                      <a16:colId xmlns:a16="http://schemas.microsoft.com/office/drawing/2014/main" val="1829455999"/>
                    </a:ext>
                  </a:extLst>
                </a:gridCol>
                <a:gridCol w="335574">
                  <a:extLst>
                    <a:ext uri="{9D8B030D-6E8A-4147-A177-3AD203B41FA5}">
                      <a16:colId xmlns:a16="http://schemas.microsoft.com/office/drawing/2014/main" val="808410758"/>
                    </a:ext>
                  </a:extLst>
                </a:gridCol>
              </a:tblGrid>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التكلفة</a:t>
                      </a:r>
                      <a:endParaRPr lang="en-US" sz="1600" u="none" strike="noStrike" cap="none" dirty="0">
                        <a:solidFill>
                          <a:sysClr val="windowText" lastClr="000000"/>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المسؤول</a:t>
                      </a:r>
                      <a:endParaRPr lang="en-US" sz="1600" u="none" strike="noStrike" cap="none" dirty="0">
                        <a:solidFill>
                          <a:sysClr val="windowText" lastClr="000000"/>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تاريخ الانجاز</a:t>
                      </a:r>
                      <a:endParaRPr lang="en-US" sz="1600" u="none" strike="noStrike" cap="none" dirty="0">
                        <a:solidFill>
                          <a:sysClr val="windowText" lastClr="000000"/>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المستهدف</a:t>
                      </a:r>
                      <a:endParaRPr lang="en-US" sz="1600" u="none" strike="noStrike" cap="none" dirty="0">
                        <a:solidFill>
                          <a:sysClr val="windowText" lastClr="000000"/>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gridSpan="2">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المؤشر</a:t>
                      </a: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hMerge="1">
                  <a:txBody>
                    <a:bodyPr/>
                    <a:lstStyle/>
                    <a:p>
                      <a:pPr marL="0" marR="0" lvl="0" indent="0" algn="ctr" rtl="1">
                        <a:lnSpc>
                          <a:spcPct val="100000"/>
                        </a:lnSpc>
                        <a:spcBef>
                          <a:spcPts val="0"/>
                        </a:spcBef>
                        <a:spcAft>
                          <a:spcPts val="0"/>
                        </a:spcAft>
                        <a:buClr>
                          <a:srgbClr val="404040"/>
                        </a:buClr>
                        <a:buSzPts val="1200"/>
                        <a:buFont typeface="Sakkal Majalla"/>
                        <a:buNone/>
                      </a:pPr>
                      <a:endParaRPr sz="3200" u="none" strike="noStrike" cap="none" dirty="0">
                        <a:solidFill>
                          <a:schemeClr val="bg2">
                            <a:lumMod val="10000"/>
                          </a:schemeClr>
                        </a:solidFill>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456014935"/>
                  </a:ext>
                </a:extLst>
              </a:tr>
              <a:tr h="453730">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5000</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محمد عمر/الموارد البشرية</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31/03/2026</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100</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dirty="0"/>
                        <a:t>عدد المتطوعين المسجلين</a:t>
                      </a: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753218055"/>
                  </a:ext>
                </a:extLst>
              </a:tr>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8000</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
                          <a:srgbClr val="404040"/>
                        </a:buClr>
                        <a:buSzPct val="100000"/>
                        <a:buFont typeface="+mj-lt"/>
                        <a:buNone/>
                        <a:tabLst/>
                        <a:defRPr/>
                      </a:pPr>
                      <a:r>
                        <a:rPr lang="ar-SA" sz="1600" u="none" strike="noStrike" cap="none" dirty="0">
                          <a:latin typeface="Neo Sans Arabic Medium" panose="020B0704030504040204" pitchFamily="34" charset="-78"/>
                          <a:cs typeface="Neo Sans Arabic Medium" panose="020B0704030504040204" pitchFamily="34" charset="-78"/>
                        </a:rPr>
                        <a:t>محمد عمر/الموارد البشرية</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30/06/2026</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80%</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dirty="0"/>
                        <a:t>نسبة المتطوعين الذين اجتازوا التدريب</a:t>
                      </a: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75498178"/>
                  </a:ext>
                </a:extLst>
              </a:tr>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4000</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
                          <a:srgbClr val="404040"/>
                        </a:buClr>
                        <a:buSzPct val="100000"/>
                        <a:buFont typeface="+mj-lt"/>
                        <a:buNone/>
                        <a:tabLst/>
                        <a:defRPr/>
                      </a:pPr>
                      <a:r>
                        <a:rPr lang="ar-SA" sz="1600" u="none" strike="noStrike" cap="none" dirty="0">
                          <a:latin typeface="Neo Sans Arabic Medium" panose="020B0704030504040204" pitchFamily="34" charset="-78"/>
                          <a:cs typeface="Neo Sans Arabic Medium" panose="020B0704030504040204" pitchFamily="34" charset="-78"/>
                        </a:rPr>
                        <a:t>محمد عمر/</a:t>
                      </a:r>
                      <a:r>
                        <a:rPr lang="ar-SA" sz="1600" u="none" strike="noStrike" cap="none">
                          <a:latin typeface="Neo Sans Arabic Medium" panose="020B0704030504040204" pitchFamily="34" charset="-78"/>
                          <a:cs typeface="Neo Sans Arabic Medium" panose="020B0704030504040204" pitchFamily="34" charset="-78"/>
                        </a:rPr>
                        <a:t>الموارد البشرية</a:t>
                      </a:r>
                      <a:endParaRPr lang="en-US" sz="1600" u="none" strike="noStrike" cap="none">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30/09/2026</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85%</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dirty="0"/>
                        <a:t>نسبة الرضا</a:t>
                      </a: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866994615"/>
                  </a:ext>
                </a:extLst>
              </a:tr>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58112839"/>
                  </a:ext>
                </a:extLst>
              </a:tr>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43227846"/>
                  </a:ext>
                </a:extLst>
              </a:tr>
              <a:tr h="262689">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الحلول</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88C656"/>
                    </a:solidFill>
                  </a:tcPr>
                </a:tc>
                <a:tc hMerge="1">
                  <a:txBody>
                    <a:bodyPr/>
                    <a:lstStyle/>
                    <a:p>
                      <a:pPr marL="0" marR="0" lvl="0" indent="0" algn="r" rtl="1">
                        <a:lnSpc>
                          <a:spcPct val="100000"/>
                        </a:lnSpc>
                        <a:spcBef>
                          <a:spcPts val="0"/>
                        </a:spcBef>
                        <a:spcAft>
                          <a:spcPts val="0"/>
                        </a:spcAft>
                        <a:buClr>
                          <a:srgbClr val="404040"/>
                        </a:buClr>
                        <a:buSzPct val="100000"/>
                        <a:buFont typeface="+mj-lt"/>
                        <a:buNone/>
                      </a:pPr>
                      <a:endParaRPr lang="en-US"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hMerge="1">
                  <a:txBody>
                    <a:bodyPr/>
                    <a:lstStyle/>
                    <a:p>
                      <a:pPr marL="0" marR="0" lvl="0" indent="0" algn="r" rtl="1">
                        <a:lnSpc>
                          <a:spcPct val="100000"/>
                        </a:lnSpc>
                        <a:spcBef>
                          <a:spcPts val="0"/>
                        </a:spcBef>
                        <a:spcAft>
                          <a:spcPts val="0"/>
                        </a:spcAft>
                        <a:buClr>
                          <a:srgbClr val="404040"/>
                        </a:buClr>
                        <a:buSzPct val="100000"/>
                        <a:buFont typeface="+mj-lt"/>
                        <a:buNone/>
                      </a:pPr>
                      <a:endParaRPr lang="en-US"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المخاطر</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88C656"/>
                    </a:solidFill>
                  </a:tcPr>
                </a:tc>
                <a:tc hMerge="1">
                  <a:txBody>
                    <a:body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hMerge="1">
                  <a:txBody>
                    <a:bodyPr/>
                    <a:lstStyle/>
                    <a:p>
                      <a:pPr marL="0" marR="0" lvl="0" indent="0" algn="ctr" rtl="1">
                        <a:lnSpc>
                          <a:spcPct val="100000"/>
                        </a:lnSpc>
                        <a:spcBef>
                          <a:spcPts val="0"/>
                        </a:spcBef>
                        <a:spcAft>
                          <a:spcPts val="0"/>
                        </a:spcAft>
                        <a:buClr>
                          <a:srgbClr val="404040"/>
                        </a:buClr>
                        <a:buSzPts val="1200"/>
                        <a:buFont typeface="Sakkal Majalla"/>
                        <a:buNone/>
                      </a:pPr>
                      <a:endParaRPr sz="1800" u="none" strike="noStrike" cap="none" dirty="0">
                        <a:solidFill>
                          <a:schemeClr val="bg2">
                            <a:lumMod val="10000"/>
                          </a:schemeClr>
                        </a:solidFill>
                        <a:latin typeface="IBM Plex Sans" panose="020B0503050203000203" pitchFamily="34" charset="0"/>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21659486"/>
                  </a:ext>
                </a:extLst>
              </a:tr>
              <a:tr h="453730">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تحسين معايير الاختيار والتسويق الموجه</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r" rtl="1">
                        <a:lnSpc>
                          <a:spcPct val="100000"/>
                        </a:lnSpc>
                        <a:spcBef>
                          <a:spcPts val="0"/>
                        </a:spcBef>
                        <a:spcAft>
                          <a:spcPts val="0"/>
                        </a:spcAft>
                        <a:buClr>
                          <a:srgbClr val="404040"/>
                        </a:buClr>
                        <a:buSzPct val="100000"/>
                        <a:buFont typeface="+mj-lt"/>
                        <a:buNone/>
                      </a:pPr>
                      <a:endParaRPr lang="en-US"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hMerge="1">
                  <a:txBody>
                    <a:bodyPr/>
                    <a:lstStyle/>
                    <a:p>
                      <a:pPr marL="0" marR="0" lvl="0" indent="0" algn="r" rtl="1">
                        <a:lnSpc>
                          <a:spcPct val="100000"/>
                        </a:lnSpc>
                        <a:spcBef>
                          <a:spcPts val="0"/>
                        </a:spcBef>
                        <a:spcAft>
                          <a:spcPts val="0"/>
                        </a:spcAft>
                        <a:buClr>
                          <a:srgbClr val="404040"/>
                        </a:buClr>
                        <a:buSzPct val="100000"/>
                        <a:buFont typeface="+mj-lt"/>
                        <a:buNone/>
                      </a:pPr>
                      <a:endParaRPr lang="en-US"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استقطاب غير مناسب</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hMerge="1">
                  <a:txBody>
                    <a:bodyPr/>
                    <a:lstStyle/>
                    <a:p>
                      <a:pPr marL="0" marR="0" lvl="0" indent="0" algn="ctr" rtl="1">
                        <a:lnSpc>
                          <a:spcPct val="100000"/>
                        </a:lnSpc>
                        <a:spcBef>
                          <a:spcPts val="0"/>
                        </a:spcBef>
                        <a:spcAft>
                          <a:spcPts val="0"/>
                        </a:spcAft>
                        <a:buClr>
                          <a:srgbClr val="404040"/>
                        </a:buClr>
                        <a:buSzPts val="1200"/>
                        <a:buFont typeface="Sakkal Majalla"/>
                        <a:buNone/>
                      </a:pPr>
                      <a:endParaRPr sz="1800" u="none" strike="noStrike" cap="none" dirty="0">
                        <a:solidFill>
                          <a:schemeClr val="bg2">
                            <a:lumMod val="10000"/>
                          </a:schemeClr>
                        </a:solidFill>
                        <a:latin typeface="IBM Plex Sans" panose="020B0503050203000203" pitchFamily="34" charset="0"/>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950162020"/>
                  </a:ext>
                </a:extLst>
              </a:tr>
              <a:tr h="262689">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تدريب عملي + تقييم مستمر</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ضعف اكتساب المهارات</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05983456"/>
                  </a:ext>
                </a:extLst>
              </a:tr>
              <a:tr h="262689">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متابعة + تحسين بيئة العمل</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dirty="0"/>
                        <a:t>تجربة سلبية</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42781639"/>
                  </a:ext>
                </a:extLst>
              </a:tr>
            </a:tbl>
          </a:graphicData>
        </a:graphic>
      </p:graphicFrame>
    </p:spTree>
    <p:extLst>
      <p:ext uri="{BB962C8B-B14F-4D97-AF65-F5344CB8AC3E}">
        <p14:creationId xmlns:p14="http://schemas.microsoft.com/office/powerpoint/2010/main" val="3521027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384930" y="185417"/>
            <a:ext cx="11071743" cy="681357"/>
          </a:xfrm>
          <a:ln>
            <a:noFill/>
          </a:ln>
        </p:spPr>
        <p:txBody>
          <a:bodyPr/>
          <a:lstStyle/>
          <a:p>
            <a:r>
              <a:rPr lang="ar-SA" dirty="0">
                <a:latin typeface="Arial" panose="020B0604020202020204" pitchFamily="34" charset="0"/>
                <a:cs typeface="Arial" panose="020B0604020202020204" pitchFamily="34" charset="0"/>
              </a:rPr>
              <a:t>نظرية التغيير لإدارة الدعم </a:t>
            </a:r>
            <a:endParaRPr lang="en-US" dirty="0">
              <a:latin typeface="Arial" panose="020B0604020202020204" pitchFamily="34" charset="0"/>
              <a:cs typeface="Arial" panose="020B0604020202020204" pitchFamily="34" charset="0"/>
            </a:endParaRPr>
          </a:p>
        </p:txBody>
      </p:sp>
      <p:sp>
        <p:nvSpPr>
          <p:cNvPr id="18" name="مستطيل 17">
            <a:extLst>
              <a:ext uri="{FF2B5EF4-FFF2-40B4-BE49-F238E27FC236}">
                <a16:creationId xmlns:a16="http://schemas.microsoft.com/office/drawing/2014/main" id="{9320BD7C-F268-9F8E-A999-676306744CF0}"/>
              </a:ext>
            </a:extLst>
          </p:cNvPr>
          <p:cNvSpPr/>
          <p:nvPr/>
        </p:nvSpPr>
        <p:spPr>
          <a:xfrm>
            <a:off x="410133" y="146680"/>
            <a:ext cx="11315513" cy="68135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rPr>
              <a:t>خارطة النتيجة طويلة المدى 6.1</a:t>
            </a:r>
            <a:endParaRPr kumimoji="0" lang="ar-YE"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endParaRPr>
          </a:p>
        </p:txBody>
      </p:sp>
      <p:graphicFrame>
        <p:nvGraphicFramePr>
          <p:cNvPr id="3" name="جدول 2">
            <a:extLst>
              <a:ext uri="{FF2B5EF4-FFF2-40B4-BE49-F238E27FC236}">
                <a16:creationId xmlns:a16="http://schemas.microsoft.com/office/drawing/2014/main" id="{DA8050A5-4DC7-3C77-AD17-DA575FFD763D}"/>
              </a:ext>
            </a:extLst>
          </p:cNvPr>
          <p:cNvGraphicFramePr>
            <a:graphicFrameLocks noGrp="1"/>
          </p:cNvGraphicFramePr>
          <p:nvPr/>
        </p:nvGraphicFramePr>
        <p:xfrm>
          <a:off x="794859" y="3958023"/>
          <a:ext cx="10930785" cy="2225040"/>
        </p:xfrm>
        <a:graphic>
          <a:graphicData uri="http://schemas.openxmlformats.org/drawingml/2006/table">
            <a:tbl>
              <a:tblPr firstRow="1" bandRow="1"/>
              <a:tblGrid>
                <a:gridCol w="918143">
                  <a:extLst>
                    <a:ext uri="{9D8B030D-6E8A-4147-A177-3AD203B41FA5}">
                      <a16:colId xmlns:a16="http://schemas.microsoft.com/office/drawing/2014/main" val="3430439615"/>
                    </a:ext>
                  </a:extLst>
                </a:gridCol>
                <a:gridCol w="818584">
                  <a:extLst>
                    <a:ext uri="{9D8B030D-6E8A-4147-A177-3AD203B41FA5}">
                      <a16:colId xmlns:a16="http://schemas.microsoft.com/office/drawing/2014/main" val="1465469830"/>
                    </a:ext>
                  </a:extLst>
                </a:gridCol>
                <a:gridCol w="818584">
                  <a:extLst>
                    <a:ext uri="{9D8B030D-6E8A-4147-A177-3AD203B41FA5}">
                      <a16:colId xmlns:a16="http://schemas.microsoft.com/office/drawing/2014/main" val="3202173955"/>
                    </a:ext>
                  </a:extLst>
                </a:gridCol>
                <a:gridCol w="818584">
                  <a:extLst>
                    <a:ext uri="{9D8B030D-6E8A-4147-A177-3AD203B41FA5}">
                      <a16:colId xmlns:a16="http://schemas.microsoft.com/office/drawing/2014/main" val="3399804829"/>
                    </a:ext>
                  </a:extLst>
                </a:gridCol>
                <a:gridCol w="1042047">
                  <a:extLst>
                    <a:ext uri="{9D8B030D-6E8A-4147-A177-3AD203B41FA5}">
                      <a16:colId xmlns:a16="http://schemas.microsoft.com/office/drawing/2014/main" val="683178435"/>
                    </a:ext>
                  </a:extLst>
                </a:gridCol>
                <a:gridCol w="832200">
                  <a:extLst>
                    <a:ext uri="{9D8B030D-6E8A-4147-A177-3AD203B41FA5}">
                      <a16:colId xmlns:a16="http://schemas.microsoft.com/office/drawing/2014/main" val="2329544200"/>
                    </a:ext>
                  </a:extLst>
                </a:gridCol>
                <a:gridCol w="5137600">
                  <a:extLst>
                    <a:ext uri="{9D8B030D-6E8A-4147-A177-3AD203B41FA5}">
                      <a16:colId xmlns:a16="http://schemas.microsoft.com/office/drawing/2014/main" val="3824057711"/>
                    </a:ext>
                  </a:extLst>
                </a:gridCol>
                <a:gridCol w="545043">
                  <a:extLst>
                    <a:ext uri="{9D8B030D-6E8A-4147-A177-3AD203B41FA5}">
                      <a16:colId xmlns:a16="http://schemas.microsoft.com/office/drawing/2014/main" val="2445604948"/>
                    </a:ext>
                  </a:extLst>
                </a:gridCol>
              </a:tblGrid>
              <a:tr h="219272">
                <a:tc gridSpan="8">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ar-SA" sz="14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مؤشرات الأداء</a:t>
                      </a:r>
                      <a:endParaRPr lang="en-US" sz="14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latin typeface="Bahij TheSansArabic SemiBold" panose="02040503050201020203" pitchFamily="18" charset="-78"/>
                        <a:cs typeface="Bahij TheSansArabic SemiBold" panose="02040503050201020203" pitchFamily="18" charset="-78"/>
                      </a:endParaRPr>
                    </a:p>
                  </a:txBody>
                  <a:tcPr/>
                </a:tc>
                <a:tc hMerge="1">
                  <a:txBody>
                    <a:bodyPr/>
                    <a:lstStyle/>
                    <a:p>
                      <a:endParaRPr lang="en-US">
                        <a:latin typeface="Bahij TheSansArabic SemiBold" panose="02040503050201020203" pitchFamily="18" charset="-78"/>
                        <a:cs typeface="Bahij TheSansArabic SemiBold" panose="02040503050201020203" pitchFamily="18" charset="-78"/>
                      </a:endParaRPr>
                    </a:p>
                  </a:txBody>
                  <a:tcPr/>
                </a:tc>
                <a:tc hMerge="1">
                  <a:txBody>
                    <a:bodyPr/>
                    <a:lstStyle/>
                    <a:p>
                      <a:endParaRPr lang="en-US" dirty="0">
                        <a:latin typeface="Bahij TheSansArabic SemiBold" panose="02040503050201020203" pitchFamily="18" charset="-78"/>
                        <a:cs typeface="Bahij TheSansArabic SemiBold" panose="02040503050201020203" pitchFamily="18" charset="-78"/>
                      </a:endParaRPr>
                    </a:p>
                  </a:txBody>
                  <a:tcPr>
                    <a:lnL w="12700" cap="flat" cmpd="sng" algn="ctr">
                      <a:solidFill>
                        <a:srgbClr val="13100D"/>
                      </a:solidFill>
                      <a:prstDash val="solid"/>
                      <a:round/>
                      <a:headEnd type="none" w="med" len="med"/>
                      <a:tailEnd type="none" w="med" len="med"/>
                    </a:lnL>
                  </a:tcPr>
                </a:tc>
                <a:tc hMerge="1">
                  <a:txBody>
                    <a:bodyPr/>
                    <a:lstStyle/>
                    <a:p>
                      <a:pPr algn="ctr"/>
                      <a:endParaRPr lang="en-US" dirty="0">
                        <a:latin typeface="Bahij TheSansArabic SemiBold" panose="02040503050201020203" pitchFamily="18" charset="-78"/>
                        <a:cs typeface="Bahij TheSansArabic SemiBold" panose="02040503050201020203" pitchFamily="18" charset="-78"/>
                      </a:endParaRPr>
                    </a:p>
                  </a:txBody>
                  <a:tcPr anchor="ctr"/>
                </a:tc>
                <a:extLst>
                  <a:ext uri="{0D108BD9-81ED-4DB2-BD59-A6C34878D82A}">
                    <a16:rowId xmlns:a16="http://schemas.microsoft.com/office/drawing/2014/main" val="3442036755"/>
                  </a:ext>
                </a:extLst>
              </a:tr>
              <a:tr h="199338">
                <a:tc gridSpan="6">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المستهدف</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endParaRPr lang="en-US"/>
                    </a:p>
                  </a:txBody>
                  <a:tcPr/>
                </a:tc>
                <a:tc hMerge="1">
                  <a:txBody>
                    <a:bodyPr/>
                    <a:lstStyle/>
                    <a:p>
                      <a:pPr algn="ctr"/>
                      <a:r>
                        <a:rPr lang="ar-SA" sz="1400" dirty="0">
                          <a:latin typeface="Bahij TheSansArabic SemiBold" panose="02040503050201020203" pitchFamily="18" charset="-78"/>
                          <a:cs typeface="Bahij TheSansArabic SemiBold" panose="02040503050201020203" pitchFamily="18" charset="-78"/>
                        </a:rPr>
                        <a:t>المستهدف الاستراتيجي</a:t>
                      </a:r>
                      <a:endParaRPr lang="en-US" sz="1400" dirty="0">
                        <a:latin typeface="Bahij TheSansArabic SemiBold" panose="02040503050201020203" pitchFamily="18" charset="-78"/>
                        <a:cs typeface="Bahij TheSansArabic SemiBold" panose="02040503050201020203" pitchFamily="18"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tint val="40000"/>
                      </a:srgbClr>
                    </a:solidFill>
                  </a:tcPr>
                </a:tc>
                <a:tc hMerge="1">
                  <a:txBody>
                    <a:bodyPr/>
                    <a:lstStyle/>
                    <a:p>
                      <a:pPr algn="ctr"/>
                      <a:endParaRPr lang="en-US" sz="1400" dirty="0">
                        <a:latin typeface="Bahij TheSansArabic SemiBold" panose="02040503050201020203" pitchFamily="18" charset="-78"/>
                        <a:cs typeface="Bahij TheSansArabic SemiBold" panose="02040503050201020203" pitchFamily="18"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tint val="40000"/>
                      </a:srgbClr>
                    </a:solidFill>
                  </a:tcPr>
                </a:tc>
                <a:tc hMerge="1">
                  <a:txBody>
                    <a:bodyPr/>
                    <a:lstStyle/>
                    <a:p>
                      <a:pPr algn="ctr"/>
                      <a:endParaRPr lang="en-US" sz="1400" dirty="0">
                        <a:latin typeface="Bahij TheSansArabic SemiBold" panose="02040503050201020203" pitchFamily="18" charset="-78"/>
                        <a:cs typeface="Bahij TheSansArabic SemiBold" panose="02040503050201020203" pitchFamily="18"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tint val="40000"/>
                      </a:srgbClr>
                    </a:solidFill>
                  </a:tcPr>
                </a:tc>
                <a:tc rowSpan="2">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 المؤشر</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algn="ctr" defTabSz="914400" rtl="0" eaLnBrk="1" latinLnBrk="0" hangingPunct="1">
                        <a:lnSpc>
                          <a:spcPct val="100000"/>
                        </a:lnSpc>
                        <a:spcBef>
                          <a:spcPts val="0"/>
                        </a:spcBef>
                        <a:spcAft>
                          <a:spcPts val="0"/>
                        </a:spcAft>
                        <a:buClr>
                          <a:srgbClr val="000000"/>
                        </a:buClr>
                        <a:buFont typeface="Arial"/>
                      </a:pP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م</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357961229"/>
                  </a:ext>
                </a:extLst>
              </a:tr>
              <a:tr h="19933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الإجمالي</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0" lang="ar-SA" sz="1200" b="0" i="0" u="none" strike="noStrike" kern="1200" cap="none" spc="0" normalizeH="0" baseline="0" noProof="0" dirty="0">
                          <a:ln>
                            <a:noFill/>
                          </a:ln>
                          <a:solidFill>
                            <a:prstClr val="white"/>
                          </a:solidFill>
                          <a:effectLst/>
                          <a:uLnTx/>
                          <a:uFillTx/>
                          <a:latin typeface="Calibri"/>
                          <a:ea typeface="+mn-ea"/>
                          <a:cs typeface="Arial" panose="020B0604020202020204" pitchFamily="34" charset="0"/>
                          <a:sym typeface="Arial"/>
                        </a:rPr>
                        <a:t>2029</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white"/>
                          </a:solidFill>
                          <a:effectLst/>
                          <a:uLnTx/>
                          <a:uFillTx/>
                          <a:latin typeface="Calibri"/>
                          <a:ea typeface="+mn-ea"/>
                          <a:cs typeface="Arial" panose="020B0604020202020204" pitchFamily="34" charset="0"/>
                          <a:sym typeface="Arial"/>
                        </a:rPr>
                        <a:t>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2027</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2026</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2025</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600" dirty="0">
                          <a:latin typeface="Bahij TheSansArabic SemiBold" panose="02040503050201020203" pitchFamily="18" charset="-78"/>
                          <a:cs typeface="Bahij TheSansArabic SemiBold" panose="02040503050201020203" pitchFamily="18" charset="-78"/>
                        </a:rPr>
                        <a:t>المؤشر</a:t>
                      </a:r>
                      <a:endParaRPr lang="en-US" sz="1600" dirty="0">
                        <a:latin typeface="Bahij TheSansArabic SemiBold" panose="02040503050201020203" pitchFamily="18" charset="-78"/>
                        <a:cs typeface="Bahij TheSansArabic SemiBold" panose="02040503050201020203" pitchFamily="18" charset="-78"/>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BBB59">
                        <a:tint val="40000"/>
                      </a:srgbClr>
                    </a:solidFill>
                  </a:tcPr>
                </a:tc>
                <a:tc vMerge="1">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600" dirty="0">
                          <a:latin typeface="Bahij TheSansArabic SemiBold" panose="02040503050201020203" pitchFamily="18" charset="-78"/>
                          <a:cs typeface="Bahij TheSansArabic SemiBold" panose="02040503050201020203" pitchFamily="18" charset="-78"/>
                        </a:rPr>
                        <a:t>م</a:t>
                      </a:r>
                      <a:endParaRPr lang="en-US" sz="1600" dirty="0">
                        <a:latin typeface="Bahij TheSansArabic SemiBold" panose="02040503050201020203" pitchFamily="18" charset="-78"/>
                        <a:cs typeface="Bahij TheSansArabic SemiBold" panose="02040503050201020203" pitchFamily="18" charset="-78"/>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BBB59">
                        <a:tint val="40000"/>
                      </a:srgbClr>
                    </a:solidFill>
                  </a:tcPr>
                </a:tc>
                <a:extLst>
                  <a:ext uri="{0D108BD9-81ED-4DB2-BD59-A6C34878D82A}">
                    <a16:rowId xmlns:a16="http://schemas.microsoft.com/office/drawing/2014/main" val="909576039"/>
                  </a:ext>
                </a:extLst>
              </a:tr>
              <a:tr h="19933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60%</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معدل نمو الدخل</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1</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86824079"/>
                  </a:ext>
                </a:extLst>
              </a:tr>
              <a:tr h="19933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 45%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10%</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10%</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معدل القدرة الذاتية على تغطية النفقات التشغيلية</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2</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753952906"/>
                  </a:ext>
                </a:extLst>
              </a:tr>
              <a:tr h="199338">
                <a:tc>
                  <a:txBody>
                    <a:body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30 شهر</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حجم الاحتياطيات المالية</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3</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753668373"/>
                  </a:ext>
                </a:extLst>
              </a:tr>
              <a:tr h="199338">
                <a:tc>
                  <a:txBody>
                    <a:body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25%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معدل نمو الأصول الثابتة</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4</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479079589"/>
                  </a:ext>
                </a:extLst>
              </a:tr>
              <a:tr h="19933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60%</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حجم الأثر التنموي والاقتصادي المتحقق من خلال الجمعيات</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5</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240089037"/>
                  </a:ext>
                </a:extLst>
              </a:tr>
            </a:tbl>
          </a:graphicData>
        </a:graphic>
      </p:graphicFrame>
      <p:graphicFrame>
        <p:nvGraphicFramePr>
          <p:cNvPr id="4" name="جدول 3">
            <a:extLst>
              <a:ext uri="{FF2B5EF4-FFF2-40B4-BE49-F238E27FC236}">
                <a16:creationId xmlns:a16="http://schemas.microsoft.com/office/drawing/2014/main" id="{980D4279-F663-E7BE-7394-701C9BF72BAA}"/>
              </a:ext>
            </a:extLst>
          </p:cNvPr>
          <p:cNvGraphicFramePr>
            <a:graphicFrameLocks noGrp="1"/>
          </p:cNvGraphicFramePr>
          <p:nvPr/>
        </p:nvGraphicFramePr>
        <p:xfrm>
          <a:off x="806971" y="746006"/>
          <a:ext cx="10912619" cy="2787620"/>
        </p:xfrm>
        <a:graphic>
          <a:graphicData uri="http://schemas.openxmlformats.org/drawingml/2006/table">
            <a:tbl>
              <a:tblPr firstRow="1" bandRow="1"/>
              <a:tblGrid>
                <a:gridCol w="1600890">
                  <a:extLst>
                    <a:ext uri="{9D8B030D-6E8A-4147-A177-3AD203B41FA5}">
                      <a16:colId xmlns:a16="http://schemas.microsoft.com/office/drawing/2014/main" val="3010781221"/>
                    </a:ext>
                  </a:extLst>
                </a:gridCol>
                <a:gridCol w="1600890">
                  <a:extLst>
                    <a:ext uri="{9D8B030D-6E8A-4147-A177-3AD203B41FA5}">
                      <a16:colId xmlns:a16="http://schemas.microsoft.com/office/drawing/2014/main" val="4240909377"/>
                    </a:ext>
                  </a:extLst>
                </a:gridCol>
                <a:gridCol w="1600890">
                  <a:extLst>
                    <a:ext uri="{9D8B030D-6E8A-4147-A177-3AD203B41FA5}">
                      <a16:colId xmlns:a16="http://schemas.microsoft.com/office/drawing/2014/main" val="3928468232"/>
                    </a:ext>
                  </a:extLst>
                </a:gridCol>
                <a:gridCol w="1600890">
                  <a:extLst>
                    <a:ext uri="{9D8B030D-6E8A-4147-A177-3AD203B41FA5}">
                      <a16:colId xmlns:a16="http://schemas.microsoft.com/office/drawing/2014/main" val="2461665768"/>
                    </a:ext>
                  </a:extLst>
                </a:gridCol>
                <a:gridCol w="1555231">
                  <a:extLst>
                    <a:ext uri="{9D8B030D-6E8A-4147-A177-3AD203B41FA5}">
                      <a16:colId xmlns:a16="http://schemas.microsoft.com/office/drawing/2014/main" val="2012683775"/>
                    </a:ext>
                  </a:extLst>
                </a:gridCol>
                <a:gridCol w="1419994">
                  <a:extLst>
                    <a:ext uri="{9D8B030D-6E8A-4147-A177-3AD203B41FA5}">
                      <a16:colId xmlns:a16="http://schemas.microsoft.com/office/drawing/2014/main" val="943181072"/>
                    </a:ext>
                  </a:extLst>
                </a:gridCol>
                <a:gridCol w="1533834">
                  <a:extLst>
                    <a:ext uri="{9D8B030D-6E8A-4147-A177-3AD203B41FA5}">
                      <a16:colId xmlns:a16="http://schemas.microsoft.com/office/drawing/2014/main" val="4203308838"/>
                    </a:ext>
                  </a:extLst>
                </a:gridCol>
              </a:tblGrid>
              <a:tr h="269814">
                <a:tc gridSpan="7">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kern="1200" dirty="0">
                          <a:solidFill>
                            <a:schemeClr val="tx1"/>
                          </a:solidFill>
                          <a:effectLst/>
                          <a:latin typeface="Arial" panose="020B0604020202020204" pitchFamily="34" charset="0"/>
                          <a:cs typeface="Arial" panose="020B0604020202020204" pitchFamily="34" charset="0"/>
                        </a:rPr>
                        <a:t>بطاقة النتيجة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400" b="0" kern="1200" dirty="0">
                        <a:solidFill>
                          <a:schemeClr val="tx1"/>
                        </a:solidFill>
                        <a:effectLs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endParaRPr lang="en-US"/>
                    </a:p>
                  </a:txBody>
                  <a:tcPr/>
                </a:tc>
                <a:tc hMerge="1">
                  <a:txBody>
                    <a:bodyPr/>
                    <a:lstStyle/>
                    <a:p>
                      <a:endParaRPr lang="en-US"/>
                    </a:p>
                  </a:txBody>
                  <a:tcPr/>
                </a:tc>
                <a:tc hMerge="1">
                  <a:txBody>
                    <a:bodyPr/>
                    <a:lstStyle/>
                    <a:p>
                      <a:pPr algn="r" rtl="1"/>
                      <a:endParaRPr lang="en-US" sz="1600" dirty="0">
                        <a:latin typeface="Bahij TheSansArabic SemiBold" panose="02040503050201020203" pitchFamily="18" charset="-7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94020879"/>
                  </a:ext>
                </a:extLst>
              </a:tr>
              <a:tr h="512647">
                <a:tc gridSpan="6">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0" kern="1200" dirty="0">
                          <a:solidFill>
                            <a:schemeClr val="accent1"/>
                          </a:solidFill>
                          <a:effectLst/>
                          <a:latin typeface="Arial" panose="020B0604020202020204" pitchFamily="34" charset="0"/>
                          <a:cs typeface="Arial" panose="020B0604020202020204" pitchFamily="34" charset="0"/>
                        </a:rPr>
                        <a:t>جمعيات ممكنة ومستدامة مالياً قادرة على الإسهام في تعظيم الأثر التنموي والاقتصادي </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ar-SA" sz="1600" b="0" kern="1200" dirty="0">
                        <a:solidFill>
                          <a:schemeClr val="accent1"/>
                        </a:solidFill>
                        <a:effectLs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rtl="1"/>
                      <a:r>
                        <a:rPr lang="ar-SA" sz="1600" dirty="0">
                          <a:cs typeface="Arial" panose="020B0604020202020204" pitchFamily="34" charset="0"/>
                        </a:rPr>
                        <a:t>النتيجة طويلة المدى</a:t>
                      </a:r>
                      <a:endParaRPr lang="en-US" sz="1600" dirty="0">
                        <a:latin typeface="Bahij TheSansArabic SemiBold" panose="02040503050201020203" pitchFamily="18" charset="-78"/>
                        <a:cs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869444330"/>
                  </a:ext>
                </a:extLst>
              </a:tr>
              <a:tr h="1025293">
                <a:tc gridSpan="6">
                  <a:txBody>
                    <a:bodyPr/>
                    <a:lstStyle/>
                    <a:p>
                      <a:pPr marL="0" marR="0" lvl="0" indent="0" algn="justLow"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tx1"/>
                          </a:solidFill>
                          <a:effectLst/>
                          <a:latin typeface="Calibri"/>
                          <a:ea typeface="+mn-ea"/>
                          <a:cs typeface="Arial" panose="020B0604020202020204" pitchFamily="34" charset="0"/>
                          <a:sym typeface="Arial"/>
                        </a:rPr>
                        <a:t>تشير النتيجة إلى أهمية بناء جمعيات قوية ومستدامة مالياً حتى تمتلك القدرة على تنفيذ برامجها ومشاريعها بفعالية أكبر ولفترات طويلة، دون الاعتماد المستمر على التمويل الخارجي. الاستدامة المالية تمكن هذه الجمعيات من التخطيط للمستقبل بثقة، وبالتالي تعظيم أثرها في تحسين الظروف الاقتصادية والاجتماعية للمجتمعات التي تخدمها. من خلال هذه الاستدامة، تستطيع الجمعيات أن تسهم بشكل أكبر في النمو والتطور الاقتصادي وتحقيق الأثر الاجتماعي</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justLow" defTabSz="914400" rtl="1" eaLnBrk="1" fontAlgn="auto" latinLnBrk="0" hangingPunct="1">
                        <a:lnSpc>
                          <a:spcPct val="100000"/>
                        </a:lnSpc>
                        <a:spcBef>
                          <a:spcPts val="0"/>
                        </a:spcBef>
                        <a:spcAft>
                          <a:spcPts val="0"/>
                        </a:spcAft>
                        <a:buClrTx/>
                        <a:buSzTx/>
                        <a:buFontTx/>
                        <a:buNone/>
                        <a:tabLst/>
                        <a:defRPr/>
                      </a:pPr>
                      <a:endParaRPr lang="ar-SA" sz="1400" b="0" i="0" u="none" strike="noStrike" kern="1200" cap="none" dirty="0">
                        <a:solidFill>
                          <a:schemeClr val="tx1"/>
                        </a:solidFill>
                        <a:effectLst/>
                        <a:latin typeface="Calibri"/>
                        <a:ea typeface="+mn-e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hMerge="1">
                  <a:txBody>
                    <a:bodyPr/>
                    <a:lstStyle/>
                    <a:p>
                      <a:endParaRPr lang="en-US"/>
                    </a:p>
                  </a:txBody>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600" b="1" i="0" u="none" strike="noStrike" kern="1200" cap="none" dirty="0">
                          <a:solidFill>
                            <a:schemeClr val="lt1"/>
                          </a:solidFill>
                          <a:latin typeface="Calibri"/>
                          <a:ea typeface="+mn-ea"/>
                          <a:cs typeface="Arial" panose="020B0604020202020204" pitchFamily="34" charset="0"/>
                          <a:sym typeface="Arial"/>
                        </a:rPr>
                        <a:t>وصف النتيجة</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7629644"/>
                  </a:ext>
                </a:extLst>
              </a:tr>
              <a:tr h="26981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المجموع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600" b="1" i="0" u="none" strike="noStrike" kern="1200" cap="none" dirty="0">
                          <a:solidFill>
                            <a:schemeClr val="lt1"/>
                          </a:solidFill>
                          <a:latin typeface="Calibri"/>
                          <a:ea typeface="+mn-ea"/>
                          <a:cs typeface="Arial" panose="020B0604020202020204" pitchFamily="34" charset="0"/>
                          <a:sym typeface="Arial"/>
                        </a:rPr>
                        <a:t>العدد المستهدف من الجمعيات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285860299"/>
                  </a:ext>
                </a:extLst>
              </a:tr>
              <a:tr h="26981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chemeClr val="bg1"/>
                          </a:solidFill>
                          <a:effectLst/>
                          <a:uLnTx/>
                          <a:uFillTx/>
                          <a:latin typeface="Calibri"/>
                          <a:ea typeface="+mn-ea"/>
                          <a:cs typeface="Arial" panose="020B0604020202020204" pitchFamily="34" charset="0"/>
                          <a:sym typeface="Arial"/>
                        </a:rPr>
                        <a:t>750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150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150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150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150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tx1"/>
                          </a:solidFill>
                          <a:effectLst/>
                          <a:latin typeface="Calibri"/>
                          <a:ea typeface="+mn-ea"/>
                          <a:cs typeface="Arial" panose="020B0604020202020204" pitchFamily="34" charset="0"/>
                          <a:sym typeface="Arial"/>
                        </a:rPr>
                        <a:t>150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lang="en-US"/>
                    </a:p>
                  </a:txBody>
                  <a:tcPr/>
                </a:tc>
                <a:extLst>
                  <a:ext uri="{0D108BD9-81ED-4DB2-BD59-A6C34878D82A}">
                    <a16:rowId xmlns:a16="http://schemas.microsoft.com/office/drawing/2014/main" val="4038298299"/>
                  </a:ext>
                </a:extLst>
              </a:tr>
              <a:tr h="269814">
                <a:tc gridSpan="6">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1" i="0" u="none" strike="noStrike" kern="1200" cap="none" spc="0" normalizeH="0" baseline="0" noProof="0" dirty="0">
                          <a:ln>
                            <a:noFill/>
                          </a:ln>
                          <a:solidFill>
                            <a:schemeClr val="accent2"/>
                          </a:solidFill>
                          <a:effectLst/>
                          <a:uLnTx/>
                          <a:uFillTx/>
                          <a:latin typeface="Calibri"/>
                          <a:ea typeface="+mn-ea"/>
                          <a:cs typeface="Arial" panose="020B0604020202020204" pitchFamily="34" charset="0"/>
                          <a:sym typeface="Arial"/>
                        </a:rPr>
                        <a:t>250</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جمعية مستهدف ركيزة </a:t>
                      </a:r>
                      <a:r>
                        <a:rPr kumimoji="0" lang="ar-SA" sz="1400" b="0" i="0" u="none" strike="noStrike" kern="1200" cap="none" spc="0" normalizeH="0" baseline="0" noProof="0" dirty="0">
                          <a:ln>
                            <a:noFill/>
                          </a:ln>
                          <a:solidFill>
                            <a:srgbClr val="713C66"/>
                          </a:solidFill>
                          <a:effectLst/>
                          <a:uLnTx/>
                          <a:uFillTx/>
                          <a:latin typeface="Calibri"/>
                          <a:ea typeface="+mn-ea"/>
                          <a:cs typeface="Arial" panose="020B0604020202020204" pitchFamily="34" charset="0"/>
                          <a:sym typeface="Arial"/>
                        </a:rPr>
                        <a:t>إيجاد</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 </a:t>
                      </a:r>
                      <a:r>
                        <a:rPr kumimoji="0" lang="ar-SA" sz="1200" b="1" i="0" u="none" strike="noStrike" kern="1200" cap="none" spc="0" normalizeH="0" baseline="0" noProof="0" dirty="0">
                          <a:ln>
                            <a:noFill/>
                          </a:ln>
                          <a:solidFill>
                            <a:schemeClr val="accent2"/>
                          </a:solidFill>
                          <a:effectLst/>
                          <a:uLnTx/>
                          <a:uFillTx/>
                          <a:latin typeface="Calibri"/>
                          <a:ea typeface="+mn-ea"/>
                          <a:cs typeface="Arial" panose="020B0604020202020204" pitchFamily="34" charset="0"/>
                          <a:sym typeface="Arial"/>
                        </a:rPr>
                        <a:t>250</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جمعية مستهدف ركيزة </a:t>
                      </a:r>
                      <a:r>
                        <a:rPr kumimoji="0" lang="ar-SA" sz="1400" b="0" i="0" u="none" strike="noStrike" kern="1200" cap="none" spc="0" normalizeH="0" baseline="0" noProof="0" dirty="0">
                          <a:ln>
                            <a:noFill/>
                          </a:ln>
                          <a:solidFill>
                            <a:srgbClr val="713C66"/>
                          </a:solidFill>
                          <a:effectLst/>
                          <a:uLnTx/>
                          <a:uFillTx/>
                          <a:latin typeface="Calibri"/>
                          <a:ea typeface="+mn-ea"/>
                          <a:cs typeface="Arial" panose="020B0604020202020204" pitchFamily="34" charset="0"/>
                          <a:sym typeface="Arial"/>
                        </a:rPr>
                        <a:t>تطوير</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 </a:t>
                      </a:r>
                      <a:r>
                        <a:rPr kumimoji="0" lang="ar-SA" sz="1200" b="1" i="0" u="none" strike="noStrike" kern="1200" cap="none" spc="0" normalizeH="0" baseline="0" noProof="0" dirty="0">
                          <a:ln>
                            <a:noFill/>
                          </a:ln>
                          <a:solidFill>
                            <a:schemeClr val="accent2"/>
                          </a:solidFill>
                          <a:effectLst/>
                          <a:uLnTx/>
                          <a:uFillTx/>
                          <a:latin typeface="Calibri"/>
                          <a:ea typeface="+mn-ea"/>
                          <a:cs typeface="Arial" panose="020B0604020202020204" pitchFamily="34" charset="0"/>
                          <a:sym typeface="Arial"/>
                        </a:rPr>
                        <a:t>250</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جمعية مستهدف ركيزة </a:t>
                      </a:r>
                      <a:r>
                        <a:rPr kumimoji="0" lang="ar-SA" sz="1400" b="0" i="0" u="none" strike="noStrike" kern="1200" cap="none" spc="0" normalizeH="0" baseline="0" noProof="0" dirty="0">
                          <a:ln>
                            <a:noFill/>
                          </a:ln>
                          <a:solidFill>
                            <a:srgbClr val="713C66"/>
                          </a:solidFill>
                          <a:effectLst/>
                          <a:uLnTx/>
                          <a:uFillTx/>
                          <a:latin typeface="Calibri"/>
                          <a:ea typeface="+mn-ea"/>
                          <a:cs typeface="Arial" panose="020B0604020202020204" pitchFamily="34" charset="0"/>
                          <a:sym typeface="Arial"/>
                        </a:rPr>
                        <a:t>كفاءة</a:t>
                      </a:r>
                      <a:endParaRPr kumimoji="0" lang="ar-SA" sz="1200" b="0" i="0" u="none" strike="noStrike" kern="1200" cap="none" spc="0" normalizeH="0" baseline="0" noProof="0" dirty="0">
                        <a:ln>
                          <a:noFill/>
                        </a:ln>
                        <a:solidFill>
                          <a:srgbClr val="713C66"/>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200" b="0" i="0" u="none" strike="noStrike" kern="1200" cap="none" spc="0" normalizeH="0" baseline="0" noProof="0" dirty="0">
                        <a:ln>
                          <a:noFill/>
                        </a:ln>
                        <a:solidFill>
                          <a:prstClr val="black"/>
                        </a:solidFill>
                        <a:effectLst/>
                        <a:uLnTx/>
                        <a:uFillTx/>
                        <a:latin typeface="Calibri"/>
                        <a:ea typeface="+mn-ea"/>
                        <a:cs typeface="Readex Pro Medium"/>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200" b="0" i="0" u="none" strike="noStrike" kern="1200" cap="none" spc="0" normalizeH="0" baseline="0" noProof="0" dirty="0">
                        <a:ln>
                          <a:noFill/>
                        </a:ln>
                        <a:solidFill>
                          <a:prstClr val="black"/>
                        </a:solidFill>
                        <a:effectLst/>
                        <a:uLnTx/>
                        <a:uFillTx/>
                        <a:latin typeface="Calibri"/>
                        <a:ea typeface="+mn-ea"/>
                        <a:cs typeface="Readex Pro Medium"/>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200" b="0" i="0" u="none" strike="noStrike" kern="1200" cap="none" spc="0" normalizeH="0" baseline="0" noProof="0" dirty="0">
                        <a:ln>
                          <a:noFill/>
                        </a:ln>
                        <a:solidFill>
                          <a:prstClr val="black"/>
                        </a:solidFill>
                        <a:effectLst/>
                        <a:uLnTx/>
                        <a:uFillTx/>
                        <a:latin typeface="Calibri"/>
                        <a:ea typeface="+mn-ea"/>
                        <a:cs typeface="Readex Pro Medium"/>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200" b="0" i="0" u="none" strike="noStrike" kern="1200" cap="none" dirty="0">
                        <a:solidFill>
                          <a:schemeClr val="tx1"/>
                        </a:solidFill>
                        <a:effectLst/>
                        <a:latin typeface="Calibri"/>
                        <a:ea typeface="+mn-e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600" b="1" i="0" u="none" strike="noStrike" kern="1200" cap="none" dirty="0">
                          <a:solidFill>
                            <a:schemeClr val="lt1"/>
                          </a:solidFill>
                          <a:latin typeface="Calibri"/>
                          <a:ea typeface="+mn-ea"/>
                          <a:cs typeface="Arial" panose="020B0604020202020204" pitchFamily="34" charset="0"/>
                          <a:sym typeface="Arial"/>
                        </a:rPr>
                        <a:t>التصنيف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137062353"/>
                  </a:ext>
                </a:extLst>
              </a:tr>
            </a:tbl>
          </a:graphicData>
        </a:graphic>
      </p:graphicFrame>
      <p:sp>
        <p:nvSpPr>
          <p:cNvPr id="5" name="مربع نص 4">
            <a:extLst>
              <a:ext uri="{FF2B5EF4-FFF2-40B4-BE49-F238E27FC236}">
                <a16:creationId xmlns:a16="http://schemas.microsoft.com/office/drawing/2014/main" id="{F21B0B82-78DD-33EA-8E1D-AEFC604C1B20}"/>
              </a:ext>
            </a:extLst>
          </p:cNvPr>
          <p:cNvSpPr txBox="1"/>
          <p:nvPr/>
        </p:nvSpPr>
        <p:spPr>
          <a:xfrm>
            <a:off x="794859" y="6303251"/>
            <a:ext cx="10924731" cy="415498"/>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المؤشرات توضح حجم الإسهام الذي يسهم فيه الصندوق في النتيجة بعيدة المدى  لأن النتيجة بعيدة المدى تحقيقها دوما ليست مسئولية جهة واحدة بل يساهم فيها عدد من الجهات الأخرى غير الصندوق ممن لهم علاقة وصلة بالاستدامة المالية للجمعيات وتعظيم أثرها</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63023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384930" y="185417"/>
            <a:ext cx="11071743" cy="681357"/>
          </a:xfrm>
          <a:ln>
            <a:noFill/>
          </a:ln>
        </p:spPr>
        <p:txBody>
          <a:bodyPr/>
          <a:lstStyle/>
          <a:p>
            <a:r>
              <a:rPr lang="ar-SA" dirty="0">
                <a:latin typeface="Arial" panose="020B0604020202020204" pitchFamily="34" charset="0"/>
                <a:cs typeface="Arial" panose="020B0604020202020204" pitchFamily="34" charset="0"/>
              </a:rPr>
              <a:t>نظرية التغيير لإدارة الدعم </a:t>
            </a:r>
            <a:endParaRPr lang="en-US" dirty="0">
              <a:latin typeface="Arial" panose="020B0604020202020204" pitchFamily="34" charset="0"/>
              <a:cs typeface="Arial" panose="020B0604020202020204" pitchFamily="34" charset="0"/>
            </a:endParaRPr>
          </a:p>
        </p:txBody>
      </p:sp>
      <p:sp>
        <p:nvSpPr>
          <p:cNvPr id="18" name="مستطيل 17">
            <a:extLst>
              <a:ext uri="{FF2B5EF4-FFF2-40B4-BE49-F238E27FC236}">
                <a16:creationId xmlns:a16="http://schemas.microsoft.com/office/drawing/2014/main" id="{9320BD7C-F268-9F8E-A999-676306744CF0}"/>
              </a:ext>
            </a:extLst>
          </p:cNvPr>
          <p:cNvSpPr/>
          <p:nvPr/>
        </p:nvSpPr>
        <p:spPr>
          <a:xfrm>
            <a:off x="410133" y="146680"/>
            <a:ext cx="11315513" cy="68135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YE"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rPr>
              <a:t>خارطة النتيجة طويلة المدى</a:t>
            </a:r>
            <a:r>
              <a:rPr kumimoji="0" lang="ar-SA"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rPr>
              <a:t> 6.2</a:t>
            </a:r>
            <a:endParaRPr kumimoji="0" lang="ar-YE"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endParaRPr>
          </a:p>
        </p:txBody>
      </p:sp>
      <p:graphicFrame>
        <p:nvGraphicFramePr>
          <p:cNvPr id="3" name="جدول 2">
            <a:extLst>
              <a:ext uri="{FF2B5EF4-FFF2-40B4-BE49-F238E27FC236}">
                <a16:creationId xmlns:a16="http://schemas.microsoft.com/office/drawing/2014/main" id="{82CD6B15-B3BB-0767-B515-6A729AE31B8D}"/>
              </a:ext>
            </a:extLst>
          </p:cNvPr>
          <p:cNvGraphicFramePr>
            <a:graphicFrameLocks noGrp="1"/>
          </p:cNvGraphicFramePr>
          <p:nvPr/>
        </p:nvGraphicFramePr>
        <p:xfrm>
          <a:off x="518241" y="1014297"/>
          <a:ext cx="11155518" cy="5380660"/>
        </p:xfrm>
        <a:graphic>
          <a:graphicData uri="http://schemas.openxmlformats.org/drawingml/2006/table">
            <a:tbl>
              <a:tblPr firstRow="1" bandRow="1"/>
              <a:tblGrid>
                <a:gridCol w="1494156">
                  <a:extLst>
                    <a:ext uri="{9D8B030D-6E8A-4147-A177-3AD203B41FA5}">
                      <a16:colId xmlns:a16="http://schemas.microsoft.com/office/drawing/2014/main" val="512292408"/>
                    </a:ext>
                  </a:extLst>
                </a:gridCol>
                <a:gridCol w="1044821">
                  <a:extLst>
                    <a:ext uri="{9D8B030D-6E8A-4147-A177-3AD203B41FA5}">
                      <a16:colId xmlns:a16="http://schemas.microsoft.com/office/drawing/2014/main" val="2293065402"/>
                    </a:ext>
                  </a:extLst>
                </a:gridCol>
                <a:gridCol w="1044821">
                  <a:extLst>
                    <a:ext uri="{9D8B030D-6E8A-4147-A177-3AD203B41FA5}">
                      <a16:colId xmlns:a16="http://schemas.microsoft.com/office/drawing/2014/main" val="270779452"/>
                    </a:ext>
                  </a:extLst>
                </a:gridCol>
                <a:gridCol w="1044821">
                  <a:extLst>
                    <a:ext uri="{9D8B030D-6E8A-4147-A177-3AD203B41FA5}">
                      <a16:colId xmlns:a16="http://schemas.microsoft.com/office/drawing/2014/main" val="2698723692"/>
                    </a:ext>
                  </a:extLst>
                </a:gridCol>
                <a:gridCol w="503500">
                  <a:extLst>
                    <a:ext uri="{9D8B030D-6E8A-4147-A177-3AD203B41FA5}">
                      <a16:colId xmlns:a16="http://schemas.microsoft.com/office/drawing/2014/main" val="110399297"/>
                    </a:ext>
                  </a:extLst>
                </a:gridCol>
                <a:gridCol w="773605">
                  <a:extLst>
                    <a:ext uri="{9D8B030D-6E8A-4147-A177-3AD203B41FA5}">
                      <a16:colId xmlns:a16="http://schemas.microsoft.com/office/drawing/2014/main" val="3674269483"/>
                    </a:ext>
                  </a:extLst>
                </a:gridCol>
                <a:gridCol w="767324">
                  <a:extLst>
                    <a:ext uri="{9D8B030D-6E8A-4147-A177-3AD203B41FA5}">
                      <a16:colId xmlns:a16="http://schemas.microsoft.com/office/drawing/2014/main" val="861975014"/>
                    </a:ext>
                  </a:extLst>
                </a:gridCol>
                <a:gridCol w="372396">
                  <a:extLst>
                    <a:ext uri="{9D8B030D-6E8A-4147-A177-3AD203B41FA5}">
                      <a16:colId xmlns:a16="http://schemas.microsoft.com/office/drawing/2014/main" val="1911452282"/>
                    </a:ext>
                  </a:extLst>
                </a:gridCol>
                <a:gridCol w="1247908">
                  <a:extLst>
                    <a:ext uri="{9D8B030D-6E8A-4147-A177-3AD203B41FA5}">
                      <a16:colId xmlns:a16="http://schemas.microsoft.com/office/drawing/2014/main" val="883872576"/>
                    </a:ext>
                  </a:extLst>
                </a:gridCol>
                <a:gridCol w="285819">
                  <a:extLst>
                    <a:ext uri="{9D8B030D-6E8A-4147-A177-3AD203B41FA5}">
                      <a16:colId xmlns:a16="http://schemas.microsoft.com/office/drawing/2014/main" val="2726076770"/>
                    </a:ext>
                  </a:extLst>
                </a:gridCol>
                <a:gridCol w="555409">
                  <a:extLst>
                    <a:ext uri="{9D8B030D-6E8A-4147-A177-3AD203B41FA5}">
                      <a16:colId xmlns:a16="http://schemas.microsoft.com/office/drawing/2014/main" val="509054927"/>
                    </a:ext>
                  </a:extLst>
                </a:gridCol>
                <a:gridCol w="526782">
                  <a:extLst>
                    <a:ext uri="{9D8B030D-6E8A-4147-A177-3AD203B41FA5}">
                      <a16:colId xmlns:a16="http://schemas.microsoft.com/office/drawing/2014/main" val="281503675"/>
                    </a:ext>
                  </a:extLst>
                </a:gridCol>
                <a:gridCol w="612319">
                  <a:extLst>
                    <a:ext uri="{9D8B030D-6E8A-4147-A177-3AD203B41FA5}">
                      <a16:colId xmlns:a16="http://schemas.microsoft.com/office/drawing/2014/main" val="3554536608"/>
                    </a:ext>
                  </a:extLst>
                </a:gridCol>
                <a:gridCol w="881837">
                  <a:extLst>
                    <a:ext uri="{9D8B030D-6E8A-4147-A177-3AD203B41FA5}">
                      <a16:colId xmlns:a16="http://schemas.microsoft.com/office/drawing/2014/main" val="2778202100"/>
                    </a:ext>
                  </a:extLst>
                </a:gridCol>
              </a:tblGrid>
              <a:tr h="207521">
                <a:tc gridSpan="14">
                  <a:txBody>
                    <a:bodyPr/>
                    <a:lstStyle/>
                    <a:p>
                      <a:pPr marL="0" marR="0" lvl="0" indent="0" algn="ctr" defTabSz="914400" rtl="1" eaLnBrk="1" fontAlgn="auto" latinLnBrk="0" hangingPunct="1">
                        <a:lnSpc>
                          <a:spcPct val="115000"/>
                        </a:lnSpc>
                        <a:spcBef>
                          <a:spcPts val="0"/>
                        </a:spcBef>
                        <a:spcAft>
                          <a:spcPts val="0"/>
                        </a:spcAft>
                        <a:buClr>
                          <a:srgbClr val="000000"/>
                        </a:buClr>
                        <a:buSzTx/>
                        <a:buFont typeface="+mj-lt"/>
                        <a:buNone/>
                        <a:tabLst/>
                        <a:defRPr/>
                      </a:pPr>
                      <a:r>
                        <a:rPr lang="ar-SA" sz="1200" b="0" kern="1200" dirty="0">
                          <a:solidFill>
                            <a:schemeClr val="tx1"/>
                          </a:solidFill>
                          <a:effectLst/>
                          <a:latin typeface="Frutiger LT Arabic 45 Light"/>
                          <a:ea typeface="+mn-ea"/>
                          <a:cs typeface="Arial" panose="020B0604020202020204" pitchFamily="34" charset="0"/>
                        </a:rPr>
                        <a:t>بطاقة المؤشر</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pPr algn="ctr"/>
                      <a:endParaRPr lang="en-US" b="0" dirty="0">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pPr algn="ctr" rtl="1" fontAlgn="b"/>
                      <a:endParaRPr lang="ar-SA" sz="1400" b="0" kern="1200" dirty="0">
                        <a:solidFill>
                          <a:schemeClr val="bg1"/>
                        </a:solidFill>
                        <a:effectLst/>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endParaRPr lang="ar-SA" sz="1400" b="0" kern="1200" dirty="0">
                        <a:solidFill>
                          <a:schemeClr val="bg1"/>
                        </a:solidFill>
                        <a:effectLst/>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729625226"/>
                  </a:ext>
                </a:extLst>
              </a:tr>
              <a:tr h="327100">
                <a:tc gridSpan="10">
                  <a:txBody>
                    <a:bodyPr/>
                    <a:lstStyle>
                      <a:lvl1pPr marL="0" algn="r" defTabSz="914400" rtl="1" eaLnBrk="1" latinLnBrk="0" hangingPunct="1">
                        <a:defRPr sz="1800" b="1" kern="1200">
                          <a:solidFill>
                            <a:schemeClr val="tx1"/>
                          </a:solidFill>
                          <a:latin typeface="Arial" panose="020B0604020202020204"/>
                        </a:defRPr>
                      </a:lvl1pPr>
                      <a:lvl2pPr marL="457200" algn="r" defTabSz="914400" rtl="1" eaLnBrk="1" latinLnBrk="0" hangingPunct="1">
                        <a:defRPr sz="1800" b="1" kern="1200">
                          <a:solidFill>
                            <a:schemeClr val="tx1"/>
                          </a:solidFill>
                          <a:latin typeface="Arial" panose="020B0604020202020204"/>
                        </a:defRPr>
                      </a:lvl2pPr>
                      <a:lvl3pPr marL="914400" algn="r" defTabSz="914400" rtl="1" eaLnBrk="1" latinLnBrk="0" hangingPunct="1">
                        <a:defRPr sz="1800" b="1" kern="1200">
                          <a:solidFill>
                            <a:schemeClr val="tx1"/>
                          </a:solidFill>
                          <a:latin typeface="Arial" panose="020B0604020202020204"/>
                        </a:defRPr>
                      </a:lvl3pPr>
                      <a:lvl4pPr marL="1371600" algn="r" defTabSz="914400" rtl="1" eaLnBrk="1" latinLnBrk="0" hangingPunct="1">
                        <a:defRPr sz="1800" b="1" kern="1200">
                          <a:solidFill>
                            <a:schemeClr val="tx1"/>
                          </a:solidFill>
                          <a:latin typeface="Arial" panose="020B0604020202020204"/>
                        </a:defRPr>
                      </a:lvl4pPr>
                      <a:lvl5pPr marL="1828800" algn="r" defTabSz="914400" rtl="1" eaLnBrk="1" latinLnBrk="0" hangingPunct="1">
                        <a:defRPr sz="1800" b="1" kern="1200">
                          <a:solidFill>
                            <a:schemeClr val="tx1"/>
                          </a:solidFill>
                          <a:latin typeface="Arial" panose="020B0604020202020204"/>
                        </a:defRPr>
                      </a:lvl5pPr>
                      <a:lvl6pPr marL="2286000" algn="r" defTabSz="914400" rtl="1" eaLnBrk="1" latinLnBrk="0" hangingPunct="1">
                        <a:defRPr sz="1800" b="1" kern="1200">
                          <a:solidFill>
                            <a:schemeClr val="tx1"/>
                          </a:solidFill>
                          <a:latin typeface="Arial" panose="020B0604020202020204"/>
                        </a:defRPr>
                      </a:lvl6pPr>
                      <a:lvl7pPr marL="2743200" algn="r" defTabSz="914400" rtl="1" eaLnBrk="1" latinLnBrk="0" hangingPunct="1">
                        <a:defRPr sz="1800" b="1" kern="1200">
                          <a:solidFill>
                            <a:schemeClr val="tx1"/>
                          </a:solidFill>
                          <a:latin typeface="Arial" panose="020B0604020202020204"/>
                        </a:defRPr>
                      </a:lvl7pPr>
                      <a:lvl8pPr marL="3200400" algn="r" defTabSz="914400" rtl="1" eaLnBrk="1" latinLnBrk="0" hangingPunct="1">
                        <a:defRPr sz="1800" b="1" kern="1200">
                          <a:solidFill>
                            <a:schemeClr val="tx1"/>
                          </a:solidFill>
                          <a:latin typeface="Arial" panose="020B0604020202020204"/>
                        </a:defRPr>
                      </a:lvl8pPr>
                      <a:lvl9pPr marL="3657600" algn="r" defTabSz="914400" rtl="1" eaLnBrk="1" latinLnBrk="0" hangingPunct="1">
                        <a:defRPr sz="1800" b="1" kern="1200">
                          <a:solidFill>
                            <a:schemeClr val="tx1"/>
                          </a:solidFill>
                          <a:latin typeface="Arial" panose="020B0604020202020204"/>
                        </a:defRPr>
                      </a:lvl9pPr>
                    </a:lstStyle>
                    <a:p>
                      <a:pPr algn="justLow" rtl="1"/>
                      <a:r>
                        <a:rPr lang="ar-SA" sz="1100" b="0" dirty="0">
                          <a:solidFill>
                            <a:schemeClr val="tx1"/>
                          </a:solidFill>
                          <a:cs typeface="Arial" panose="020B0604020202020204" pitchFamily="34" charset="0"/>
                        </a:rPr>
                        <a:t>معدل نمو الدخل</a:t>
                      </a:r>
                    </a:p>
                  </a:txBody>
                  <a:tcPr marT="0" marB="0" anchor="ct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marL="0" marR="0" indent="0" algn="r" rtl="1">
                        <a:lnSpc>
                          <a:spcPct val="115000"/>
                        </a:lnSpc>
                        <a:spcBef>
                          <a:spcPts val="0"/>
                        </a:spcBef>
                        <a:spcAft>
                          <a:spcPts val="0"/>
                        </a:spcAft>
                        <a:buFont typeface="+mj-lt"/>
                        <a:buNone/>
                      </a:pPr>
                      <a:endParaRPr lang="en-US" sz="1400" b="0" kern="1200" dirty="0">
                        <a:solidFill>
                          <a:schemeClr val="tx1"/>
                        </a:solidFill>
                        <a:effectLst/>
                        <a:latin typeface="Frutiger LT Arabic 45 Light"/>
                        <a:ea typeface="+mn-ea"/>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no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pPr marL="0" marR="0" indent="0" algn="r" rtl="1">
                        <a:lnSpc>
                          <a:spcPct val="115000"/>
                        </a:lnSpc>
                        <a:spcBef>
                          <a:spcPts val="0"/>
                        </a:spcBef>
                        <a:spcAft>
                          <a:spcPts val="0"/>
                        </a:spcAft>
                        <a:buFont typeface="+mj-lt"/>
                        <a:buNone/>
                      </a:pPr>
                      <a:r>
                        <a:rPr lang="ar-SA" sz="1400" b="0" i="0" u="none" strike="noStrike" kern="1200" cap="none" noProof="0" dirty="0">
                          <a:solidFill>
                            <a:schemeClr val="tx1"/>
                          </a:solidFill>
                          <a:effectLst/>
                          <a:latin typeface="Calibri"/>
                          <a:ea typeface="+mn-ea"/>
                          <a:cs typeface="Ping AR + LT" panose="00000500000000000000"/>
                          <a:sym typeface="Arial"/>
                        </a:rPr>
                        <a:t>نسبة اكتمال جاهزية أدوات ومنهجيات تطوير البيئة التنظيمية لمنظومة التطوع الوقفي</a:t>
                      </a:r>
                      <a:endParaRPr lang="en-US" sz="1400" b="0" kern="1200" dirty="0">
                        <a:solidFill>
                          <a:schemeClr val="tx1"/>
                        </a:solidFill>
                        <a:effectLst/>
                        <a:latin typeface="Frutiger LT Arabic 45 Light"/>
                        <a:ea typeface="+mn-ea"/>
                        <a:cs typeface="Ping AR + LT" panose="00000500000000000000"/>
                      </a:endParaRPr>
                    </a:p>
                  </a:txBody>
                  <a:tcPr marT="91440" marB="91440" anchor="ctr">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pPr marL="0" marR="0" indent="0" algn="r" rtl="1">
                        <a:lnSpc>
                          <a:spcPct val="115000"/>
                        </a:lnSpc>
                        <a:spcBef>
                          <a:spcPts val="0"/>
                        </a:spcBef>
                        <a:spcAft>
                          <a:spcPts val="0"/>
                        </a:spcAft>
                        <a:buFont typeface="+mj-lt"/>
                        <a:buNone/>
                      </a:pPr>
                      <a:r>
                        <a:rPr lang="ar-SA" sz="1400" b="1" dirty="0">
                          <a:solidFill>
                            <a:schemeClr val="bg1"/>
                          </a:solidFill>
                          <a:effectLst/>
                          <a:cs typeface="Ping AR + LT" panose="00000500000000000000"/>
                        </a:rPr>
                        <a:t>المؤشر</a:t>
                      </a:r>
                      <a:endParaRPr lang="en-US" sz="1400" b="0" kern="1200" dirty="0">
                        <a:solidFill>
                          <a:schemeClr val="tx1"/>
                        </a:solidFill>
                        <a:effectLst/>
                        <a:latin typeface="Frutiger LT Arabic 45 Light"/>
                        <a:ea typeface="+mn-ea"/>
                        <a:cs typeface="Ping AR + LT" panose="0000050000000000000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solidFill>
                      <a:srgbClr val="006E62"/>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gridSpan="2">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sz="1200" b="0" dirty="0">
                          <a:solidFill>
                            <a:schemeClr val="bg1"/>
                          </a:solidFill>
                          <a:effectLst/>
                          <a:cs typeface="Arial" panose="020B0604020202020204" pitchFamily="34" charset="0"/>
                        </a:rPr>
                        <a:t>المؤشر</a:t>
                      </a:r>
                      <a:endParaRPr lang="en-US" sz="1600" b="0" dirty="0">
                        <a:cs typeface="Arial" panose="020B0604020202020204" pitchFamily="34" charset="0"/>
                      </a:endParaRPr>
                    </a:p>
                  </a:txBody>
                  <a:tcPr marT="0" marB="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a:txBody>
                    <a:bodyPr/>
                    <a:lstStyle>
                      <a:lvl1pPr marL="0" algn="r" defTabSz="914400" rtl="1" eaLnBrk="1" latinLnBrk="0" hangingPunct="1">
                        <a:defRPr sz="1800" b="1" kern="1200">
                          <a:solidFill>
                            <a:schemeClr val="tx1"/>
                          </a:solidFill>
                          <a:latin typeface="Arial" panose="020B0604020202020204"/>
                        </a:defRPr>
                      </a:lvl1pPr>
                      <a:lvl2pPr marL="457200" algn="r" defTabSz="914400" rtl="1" eaLnBrk="1" latinLnBrk="0" hangingPunct="1">
                        <a:defRPr sz="1800" b="1" kern="1200">
                          <a:solidFill>
                            <a:schemeClr val="tx1"/>
                          </a:solidFill>
                          <a:latin typeface="Arial" panose="020B0604020202020204"/>
                        </a:defRPr>
                      </a:lvl2pPr>
                      <a:lvl3pPr marL="914400" algn="r" defTabSz="914400" rtl="1" eaLnBrk="1" latinLnBrk="0" hangingPunct="1">
                        <a:defRPr sz="1800" b="1" kern="1200">
                          <a:solidFill>
                            <a:schemeClr val="tx1"/>
                          </a:solidFill>
                          <a:latin typeface="Arial" panose="020B0604020202020204"/>
                        </a:defRPr>
                      </a:lvl3pPr>
                      <a:lvl4pPr marL="1371600" algn="r" defTabSz="914400" rtl="1" eaLnBrk="1" latinLnBrk="0" hangingPunct="1">
                        <a:defRPr sz="1800" b="1" kern="1200">
                          <a:solidFill>
                            <a:schemeClr val="tx1"/>
                          </a:solidFill>
                          <a:latin typeface="Arial" panose="020B0604020202020204"/>
                        </a:defRPr>
                      </a:lvl4pPr>
                      <a:lvl5pPr marL="1828800" algn="r" defTabSz="914400" rtl="1" eaLnBrk="1" latinLnBrk="0" hangingPunct="1">
                        <a:defRPr sz="1800" b="1" kern="1200">
                          <a:solidFill>
                            <a:schemeClr val="tx1"/>
                          </a:solidFill>
                          <a:latin typeface="Arial" panose="020B0604020202020204"/>
                        </a:defRPr>
                      </a:lvl5pPr>
                      <a:lvl6pPr marL="2286000" algn="r" defTabSz="914400" rtl="1" eaLnBrk="1" latinLnBrk="0" hangingPunct="1">
                        <a:defRPr sz="1800" b="1" kern="1200">
                          <a:solidFill>
                            <a:schemeClr val="tx1"/>
                          </a:solidFill>
                          <a:latin typeface="Arial" panose="020B0604020202020204"/>
                        </a:defRPr>
                      </a:lvl6pPr>
                      <a:lvl7pPr marL="2743200" algn="r" defTabSz="914400" rtl="1" eaLnBrk="1" latinLnBrk="0" hangingPunct="1">
                        <a:defRPr sz="1800" b="1" kern="1200">
                          <a:solidFill>
                            <a:schemeClr val="tx1"/>
                          </a:solidFill>
                          <a:latin typeface="Arial" panose="020B0604020202020204"/>
                        </a:defRPr>
                      </a:lvl7pPr>
                      <a:lvl8pPr marL="3200400" algn="r" defTabSz="914400" rtl="1" eaLnBrk="1" latinLnBrk="0" hangingPunct="1">
                        <a:defRPr sz="1800" b="1" kern="1200">
                          <a:solidFill>
                            <a:schemeClr val="tx1"/>
                          </a:solidFill>
                          <a:latin typeface="Arial" panose="020B0604020202020204"/>
                        </a:defRPr>
                      </a:lvl8pPr>
                      <a:lvl9pPr marL="3657600" algn="r" defTabSz="914400" rtl="1" eaLnBrk="1" latinLnBrk="0" hangingPunct="1">
                        <a:defRPr sz="1800" b="1" kern="1200">
                          <a:solidFill>
                            <a:schemeClr val="tx1"/>
                          </a:solidFill>
                          <a:latin typeface="Arial" panose="020B0604020202020204"/>
                        </a:defRPr>
                      </a:lvl9pPr>
                    </a:lstStyle>
                    <a:p>
                      <a:pPr algn="ctr" rtl="0" fontAlgn="b"/>
                      <a:r>
                        <a:rPr lang="ar-SA" sz="1200" b="0" kern="1200" dirty="0">
                          <a:solidFill>
                            <a:schemeClr val="tx1"/>
                          </a:solidFill>
                          <a:effectLst/>
                          <a:latin typeface="Arial" panose="020B0604020202020204" pitchFamily="34" charset="0"/>
                          <a:ea typeface="+mn-ea"/>
                          <a:cs typeface="Arial" panose="020B0604020202020204" pitchFamily="34" charset="0"/>
                        </a:rPr>
                        <a:t> ط 1</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r>
                        <a:rPr lang="ar-SA" sz="1200" b="0" kern="1200" dirty="0">
                          <a:solidFill>
                            <a:schemeClr val="bg1"/>
                          </a:solidFill>
                          <a:effectLst/>
                          <a:cs typeface="Arial" panose="020B0604020202020204" pitchFamily="34" charset="0"/>
                        </a:rPr>
                        <a:t>رمز المؤشر</a:t>
                      </a:r>
                      <a:endParaRPr lang="ar-SA" sz="1200" b="0" kern="1200" dirty="0">
                        <a:solidFill>
                          <a:schemeClr val="bg1"/>
                        </a:solidFill>
                        <a:effectLst/>
                        <a:latin typeface="Arial" panose="020B0604020202020204" pitchFamily="34" charset="0"/>
                        <a:ea typeface="+mn-ea"/>
                        <a:cs typeface="Arial" panose="020B0604020202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864119912"/>
                  </a:ext>
                </a:extLst>
              </a:tr>
              <a:tr h="303735">
                <a:tc gridSpan="1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0" marR="0" lvl="0" indent="0" algn="r" defTabSz="914400" rtl="1" eaLnBrk="1" fontAlgn="auto" latinLnBrk="0" hangingPunct="1">
                        <a:lnSpc>
                          <a:spcPct val="115000"/>
                        </a:lnSpc>
                        <a:spcBef>
                          <a:spcPts val="0"/>
                        </a:spcBef>
                        <a:spcAft>
                          <a:spcPts val="0"/>
                        </a:spcAft>
                        <a:buClrTx/>
                        <a:buSzTx/>
                        <a:buFont typeface="+mj-lt"/>
                        <a:buNone/>
                        <a:tabLst/>
                        <a:defRPr/>
                      </a:pPr>
                      <a:r>
                        <a:rPr lang="ar-SA" sz="1200" b="0" kern="1200" dirty="0">
                          <a:solidFill>
                            <a:schemeClr val="tx1"/>
                          </a:solidFill>
                          <a:effectLst/>
                          <a:latin typeface="Frutiger LT Arabic 45 Light"/>
                          <a:ea typeface="+mn-ea"/>
                          <a:cs typeface="Arial" panose="020B0604020202020204" pitchFamily="34" charset="0"/>
                        </a:rPr>
                        <a:t>جمعيات ممكنة ومستدامة مالياً قادرة على الإسهام في تعظيم الأثر التنموي والاقتصادي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marL="0" marR="0" lvl="0" indent="0" algn="r" defTabSz="914400" rtl="1" eaLnBrk="1" fontAlgn="auto" latinLnBrk="0" hangingPunct="1">
                        <a:lnSpc>
                          <a:spcPct val="115000"/>
                        </a:lnSpc>
                        <a:spcBef>
                          <a:spcPts val="0"/>
                        </a:spcBef>
                        <a:spcAft>
                          <a:spcPts val="0"/>
                        </a:spcAft>
                        <a:buClrTx/>
                        <a:buSzTx/>
                        <a:buFont typeface="+mj-lt"/>
                        <a:buNone/>
                        <a:tabLst/>
                        <a:defRPr/>
                      </a:pPr>
                      <a:endParaRPr lang="ar-SA" sz="1400" b="0" kern="1200" dirty="0">
                        <a:solidFill>
                          <a:schemeClr val="tx1"/>
                        </a:solidFill>
                        <a:effectLst/>
                        <a:latin typeface="Frutiger LT Arabic 45 Light"/>
                        <a:ea typeface="+mn-ea"/>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200" b="0" dirty="0">
                          <a:solidFill>
                            <a:schemeClr val="bg1"/>
                          </a:solidFill>
                          <a:effectLst/>
                          <a:cs typeface="Arial" panose="020B0604020202020204" pitchFamily="34" charset="0"/>
                        </a:rPr>
                        <a:t>النتيجة</a:t>
                      </a:r>
                      <a:endParaRPr lang="ar-SA" sz="12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tcPr>
                </a:tc>
                <a:extLst>
                  <a:ext uri="{0D108BD9-81ED-4DB2-BD59-A6C34878D82A}">
                    <a16:rowId xmlns:a16="http://schemas.microsoft.com/office/drawing/2014/main" val="3693666656"/>
                  </a:ext>
                </a:extLst>
              </a:tr>
              <a:tr h="303735">
                <a:tc gridSpan="1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0" algn="r" defTabSz="914400" rtl="1" eaLnBrk="1" fontAlgn="b" latinLnBrk="0" hangingPunct="1"/>
                      <a:r>
                        <a:rPr lang="ar-SA" sz="1100" b="0" kern="1200" noProof="0" dirty="0">
                          <a:solidFill>
                            <a:schemeClr val="tx1"/>
                          </a:solidFill>
                          <a:effectLst/>
                          <a:latin typeface="Frutiger LT Arabic 45 Light"/>
                          <a:ea typeface="+mn-ea"/>
                          <a:cs typeface="Arial" panose="020B0604020202020204" pitchFamily="34" charset="0"/>
                        </a:rPr>
                        <a:t>يقيس نسبة زيادة أو نقص الدخل للجمعيات خلال فترة معينة.</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marL="0" algn="r" defTabSz="914400" rtl="1" eaLnBrk="1" fontAlgn="b" latinLnBrk="0" hangingPunct="1"/>
                      <a:endParaRPr lang="ar-SA" sz="1400" b="0" kern="1200" noProof="0" dirty="0">
                        <a:solidFill>
                          <a:schemeClr val="tx1"/>
                        </a:solidFill>
                        <a:effectLst/>
                        <a:latin typeface="Frutiger LT Arabic 45 Light"/>
                        <a:ea typeface="+mn-ea"/>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200" b="0" dirty="0">
                          <a:solidFill>
                            <a:schemeClr val="bg1"/>
                          </a:solidFill>
                          <a:effectLst/>
                          <a:cs typeface="Arial" panose="020B0604020202020204" pitchFamily="34" charset="0"/>
                        </a:rPr>
                        <a:t>وصف المؤشر</a:t>
                      </a:r>
                      <a:endParaRPr lang="ar-SA" sz="12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1571167819"/>
                  </a:ext>
                </a:extLst>
              </a:tr>
              <a:tr h="0">
                <a:tc gridSpan="1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r" rtl="1" fontAlgn="b"/>
                      <a:endParaRPr lang="ar-SA" sz="400" b="0" kern="1200" dirty="0">
                        <a:solidFill>
                          <a:schemeClr val="tx1"/>
                        </a:solidFill>
                        <a:effectLst/>
                        <a:latin typeface="Frutiger LT Arabic 45 Light"/>
                        <a:ea typeface="+mn-ea"/>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accent2">
                          <a:lumMod val="40000"/>
                          <a:lumOff val="60000"/>
                        </a:schemeClr>
                      </a:solidFill>
                      <a:prstDash val="solid"/>
                      <a:round/>
                      <a:headEnd type="none" w="med" len="med"/>
                      <a:tailEnd type="none" w="med" len="med"/>
                    </a:lnT>
                  </a:tcPr>
                </a:tc>
                <a:tc hMerge="1">
                  <a:txBody>
                    <a:bodyPr/>
                    <a:lstStyle/>
                    <a:p>
                      <a:endParaRPr lang="en-US" dirty="0"/>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L w="12700" cap="flat" cmpd="sng" algn="ctr">
                      <a:solidFill>
                        <a:srgbClr val="006E62"/>
                      </a:solidFill>
                      <a:prstDash val="solid"/>
                      <a:round/>
                      <a:headEnd type="none" w="med" len="med"/>
                      <a:tailEnd type="none" w="med" len="med"/>
                    </a:lnL>
                  </a:tcPr>
                </a:tc>
                <a:tc hMerge="1">
                  <a:txBody>
                    <a:bodyPr/>
                    <a:lstStyle/>
                    <a:p>
                      <a:pPr algn="ctr" rtl="1" fontAlgn="b"/>
                      <a:endParaRPr lang="ar-SA" sz="1400" b="1" dirty="0">
                        <a:solidFill>
                          <a:schemeClr val="bg1"/>
                        </a:solidFill>
                        <a:effectLst/>
                        <a:latin typeface="+mj-lt"/>
                        <a:cs typeface="Ping AR + LT" panose="00000500000000000000"/>
                      </a:endParaRPr>
                    </a:p>
                  </a:txBody>
                  <a:tcPr marL="12889" marR="12889" marT="8592" marB="8592" anchor="b">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2561635432"/>
                  </a:ext>
                </a:extLst>
              </a:tr>
              <a:tr h="280371">
                <a:tc>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latin typeface="+mj-lt"/>
                          <a:cs typeface="Arial" panose="020B0604020202020204" pitchFamily="34" charset="0"/>
                        </a:rPr>
                        <a:t>الإجمالي</a:t>
                      </a:r>
                    </a:p>
                  </a:txBody>
                  <a:tcPr marT="91440" marB="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1" fontAlgn="b"/>
                      <a:r>
                        <a:rPr lang="ar-SA" sz="1100" b="0" dirty="0">
                          <a:solidFill>
                            <a:schemeClr val="bg1"/>
                          </a:solidFill>
                          <a:effectLst/>
                          <a:latin typeface="+mj-lt"/>
                          <a:cs typeface="Arial" panose="020B0604020202020204" pitchFamily="34" charset="0"/>
                        </a:rPr>
                        <a:t>2028</a:t>
                      </a:r>
                    </a:p>
                  </a:txBody>
                  <a:tcPr marT="91440" marB="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1" fontAlgn="b"/>
                      <a:r>
                        <a:rPr lang="ar-SA" sz="1100" b="0" dirty="0">
                          <a:solidFill>
                            <a:schemeClr val="bg1"/>
                          </a:solidFill>
                          <a:effectLst/>
                          <a:latin typeface="+mj-lt"/>
                          <a:cs typeface="Arial" panose="020B0604020202020204" pitchFamily="34" charset="0"/>
                        </a:rPr>
                        <a:t>2027</a:t>
                      </a:r>
                    </a:p>
                  </a:txBody>
                  <a:tcPr marT="91440" marB="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2027</a:t>
                      </a:r>
                      <a:endParaRPr lang="ar-SA" sz="1100" b="0" dirty="0">
                        <a:solidFill>
                          <a:schemeClr val="bg1"/>
                        </a:solidFill>
                        <a:effectLst/>
                        <a:latin typeface="+mj-lt"/>
                        <a:cs typeface="Arial" panose="020B0604020202020204" pitchFamily="34" charset="0"/>
                      </a:endParaRPr>
                    </a:p>
                  </a:txBody>
                  <a:tcPr marT="91440" marB="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1" fontAlgn="b"/>
                      <a:endParaRPr lang="ar-SA" sz="1200" b="1" dirty="0">
                        <a:solidFill>
                          <a:schemeClr val="bg1"/>
                        </a:solidFill>
                        <a:effectLst/>
                        <a:latin typeface="+mj-lt"/>
                        <a:cs typeface="Ping AR + LT" panose="00000500000000000000"/>
                      </a:endParaRPr>
                    </a:p>
                  </a:txBody>
                  <a:tcPr marT="91440" marB="91440" anchor="b">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B w="12700" cap="flat" cmpd="sng" algn="ctr">
                      <a:solidFill>
                        <a:srgbClr val="006E62"/>
                      </a:solidFill>
                      <a:prstDash val="solid"/>
                      <a:round/>
                      <a:headEnd type="none" w="med" len="med"/>
                      <a:tailEnd type="none" w="med" len="med"/>
                    </a:lnB>
                    <a:solidFill>
                      <a:srgbClr val="006E62"/>
                    </a:solidFil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2026</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1" fontAlgn="b"/>
                      <a:endParaRPr lang="ar-SA" sz="1200" b="1" dirty="0">
                        <a:solidFill>
                          <a:schemeClr val="bg1"/>
                        </a:solidFill>
                        <a:effectLst/>
                        <a:latin typeface="+mj-lt"/>
                        <a:cs typeface="Ping AR + LT" panose="00000500000000000000"/>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B w="12700" cap="flat" cmpd="sng" algn="ctr">
                      <a:solidFill>
                        <a:srgbClr val="006E62"/>
                      </a:solidFill>
                      <a:prstDash val="solid"/>
                      <a:round/>
                      <a:headEnd type="none" w="med" len="med"/>
                      <a:tailEnd type="none" w="med" len="med"/>
                    </a:lnB>
                    <a:solidFill>
                      <a:srgbClr val="006E62"/>
                    </a:solidFil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2025</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3">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خط الأساس</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1" fontAlgn="b"/>
                      <a:endParaRPr lang="ar-SA" sz="1200" b="1" dirty="0">
                        <a:solidFill>
                          <a:schemeClr val="bg1"/>
                        </a:solidFill>
                        <a:effectLst/>
                        <a:latin typeface="+mj-lt"/>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solidFill>
                      <a:srgbClr val="006E62"/>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rowSpan="2" gridSpan="2">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600" b="0" dirty="0">
                          <a:solidFill>
                            <a:schemeClr val="tx1"/>
                          </a:solidFill>
                          <a:latin typeface="Ping AR + LT Medium" panose="00000600000000000000" pitchFamily="50" charset="-78"/>
                          <a:ea typeface="Ping AR + LT Medium" panose="00000600000000000000" pitchFamily="50" charset="-78"/>
                          <a:cs typeface="Arial" panose="020B0604020202020204" pitchFamily="34" charset="0"/>
                        </a:rPr>
                        <a:t>5 سنوات </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rowSpan="2"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373279400"/>
                  </a:ext>
                </a:extLst>
              </a:tr>
              <a:tr h="30373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en-US" sz="1200" b="1" i="1" u="none" strike="noStrike" kern="1200" cap="none" noProof="0" dirty="0">
                          <a:solidFill>
                            <a:schemeClr val="tx1"/>
                          </a:solidFill>
                          <a:effectLst/>
                          <a:latin typeface="Calibri"/>
                          <a:ea typeface="+mn-ea"/>
                          <a:cs typeface="Arial" panose="020B0604020202020204" pitchFamily="34" charset="0"/>
                          <a:sym typeface="Arial"/>
                        </a:rPr>
                        <a:t>60%</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200" b="1" i="0" u="none" strike="noStrike" kern="1200" cap="none" noProof="0" dirty="0">
                          <a:solidFill>
                            <a:schemeClr val="tx1"/>
                          </a:solidFill>
                          <a:effectLst/>
                          <a:latin typeface="Calibri"/>
                          <a:ea typeface="+mn-ea"/>
                          <a:cs typeface="Arial" panose="020B0604020202020204" pitchFamily="34" charset="0"/>
                          <a:sym typeface="Arial"/>
                        </a:rPr>
                        <a:t>15</a:t>
                      </a:r>
                      <a:r>
                        <a:rPr lang="en-US" sz="1200" b="1" i="0" u="none" strike="noStrike" kern="1200" cap="none" noProof="0"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200" b="1" i="0" u="none" strike="noStrike" kern="1200" cap="none" noProof="0" dirty="0">
                          <a:solidFill>
                            <a:schemeClr val="tx1"/>
                          </a:solidFill>
                          <a:effectLst/>
                          <a:latin typeface="Calibri"/>
                          <a:ea typeface="+mn-ea"/>
                          <a:cs typeface="Arial" panose="020B0604020202020204" pitchFamily="34" charset="0"/>
                          <a:sym typeface="Arial"/>
                        </a:rPr>
                        <a:t>15</a:t>
                      </a:r>
                      <a:r>
                        <a:rPr lang="en-US" sz="1200" b="1" i="0" u="none" strike="noStrike" kern="1200" cap="none" noProof="0"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200" b="1" i="0" u="none" strike="noStrike" kern="1200" cap="none" noProof="0" dirty="0">
                          <a:solidFill>
                            <a:schemeClr val="tx1"/>
                          </a:solidFill>
                          <a:effectLst/>
                          <a:latin typeface="Calibri"/>
                          <a:ea typeface="+mn-ea"/>
                          <a:cs typeface="Arial" panose="020B0604020202020204" pitchFamily="34" charset="0"/>
                          <a:sym typeface="Arial"/>
                        </a:rPr>
                        <a:t>15</a:t>
                      </a:r>
                      <a:r>
                        <a:rPr lang="en-US" sz="1200" b="1" i="0" u="none" strike="noStrike" kern="1200" cap="none" noProof="0"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400" b="0" i="0" u="none" strike="noStrike" kern="1200" cap="none" noProof="0" dirty="0">
                        <a:solidFill>
                          <a:schemeClr val="tx1"/>
                        </a:solidFill>
                        <a:effectLst/>
                        <a:latin typeface="Calibri"/>
                        <a:ea typeface="+mn-ea"/>
                        <a:cs typeface="Ping AR + LT Light" panose="00000400000000000000" pitchFamily="50" charset="-78"/>
                        <a:sym typeface="Arial"/>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tc gridSpan="2">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i="0" u="none" strike="noStrike" kern="1200" cap="none" noProof="0" dirty="0">
                          <a:solidFill>
                            <a:schemeClr val="tx1"/>
                          </a:solidFill>
                          <a:effectLst/>
                          <a:latin typeface="Calibri"/>
                          <a:ea typeface="+mn-ea"/>
                          <a:cs typeface="Arial" panose="020B0604020202020204" pitchFamily="34" charset="0"/>
                          <a:sym typeface="Arial"/>
                        </a:rPr>
                        <a:t>10</a:t>
                      </a:r>
                      <a:r>
                        <a:rPr lang="en-US" sz="1200" b="1" i="0" u="none" strike="noStrike" kern="1200" cap="none" noProof="0"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400" b="0" i="0" u="none" strike="noStrike" kern="1200" cap="none" noProof="0" dirty="0">
                        <a:solidFill>
                          <a:schemeClr val="tx1"/>
                        </a:solidFill>
                        <a:effectLst/>
                        <a:latin typeface="Calibri"/>
                        <a:ea typeface="+mn-ea"/>
                        <a:cs typeface="Ping AR + LT Light" panose="00000400000000000000" pitchFamily="50" charset="-78"/>
                        <a:sym typeface="Arial"/>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FCF9F2"/>
                    </a:solidFill>
                  </a:tcPr>
                </a:tc>
                <a:tc gridSpan="2">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1" i="0" u="none" strike="noStrike" kern="1200" cap="none" dirty="0">
                          <a:solidFill>
                            <a:schemeClr val="tx1"/>
                          </a:solidFill>
                          <a:effectLst/>
                          <a:latin typeface="Calibri"/>
                          <a:ea typeface="+mn-ea"/>
                          <a:cs typeface="Arial" panose="020B0604020202020204" pitchFamily="34" charset="0"/>
                          <a:sym typeface="Arial"/>
                        </a:rPr>
                        <a:t>5</a:t>
                      </a:r>
                      <a:r>
                        <a:rPr lang="en-US" sz="1200" b="1" i="0" u="none" strike="noStrike" kern="1200" cap="none"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rgbClr val="006E62"/>
                      </a:solidFill>
                      <a:prstDash val="solid"/>
                      <a:round/>
                      <a:headEnd type="none" w="med" len="med"/>
                      <a:tailEnd type="none" w="med" len="med"/>
                    </a:lnL>
                  </a:tcPr>
                </a:tc>
                <a:tc gridSpan="3">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a:r>
                        <a:rPr lang="ar-SA" sz="1200" b="0" dirty="0">
                          <a:solidFill>
                            <a:schemeClr val="tx1"/>
                          </a:solidFill>
                          <a:latin typeface="Bahij TheSansArabic SemiBold" panose="02040503050201020203" pitchFamily="18" charset="-78"/>
                          <a:cs typeface="Arial" panose="020B0604020202020204" pitchFamily="34" charset="0"/>
                        </a:rPr>
                        <a:t>00</a:t>
                      </a:r>
                      <a:endParaRPr lang="en-US" sz="1200" b="0" dirty="0">
                        <a:solidFill>
                          <a:schemeClr val="tx1"/>
                        </a:solidFill>
                        <a:latin typeface="Bahij TheSansArabic SemiBold" panose="02040503050201020203" pitchFamily="18" charset="-78"/>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400" dirty="0">
                        <a:solidFill>
                          <a:schemeClr val="tx1"/>
                        </a:solidFill>
                        <a:latin typeface="Bahij TheSansArabic SemiBold" panose="02040503050201020203" pitchFamily="18" charset="-78"/>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rgbClr val="FCF9F2"/>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vMerge="1">
                  <a:txBody>
                    <a:bodyPr/>
                    <a:lstStyle/>
                    <a:p>
                      <a:pPr algn="r" rtl="1"/>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tc hMerge="1" vMerge="1">
                  <a:txBody>
                    <a:bodyPr/>
                    <a:lstStyle/>
                    <a:p>
                      <a:endParaRPr lang="en-US" dirty="0"/>
                    </a:p>
                  </a:txBody>
                  <a:tcPr/>
                </a:tc>
                <a:extLst>
                  <a:ext uri="{0D108BD9-81ED-4DB2-BD59-A6C34878D82A}">
                    <a16:rowId xmlns:a16="http://schemas.microsoft.com/office/drawing/2014/main" val="4181429053"/>
                  </a:ext>
                </a:extLst>
              </a:tr>
              <a:tr h="467285">
                <a:tc gridSpan="4">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200" b="0" i="0" u="none" strike="noStrike" cap="none" dirty="0">
                          <a:solidFill>
                            <a:schemeClr val="bg1"/>
                          </a:solidFill>
                          <a:latin typeface="Ping AR + LT Medium" panose="00000600000000000000" pitchFamily="50" charset="-78"/>
                          <a:ea typeface="Ping AR + LT Medium" panose="00000600000000000000" pitchFamily="50" charset="-78"/>
                          <a:cs typeface="Arial" panose="020B0604020202020204" pitchFamily="34" charset="0"/>
                          <a:sym typeface="Arial"/>
                        </a:rPr>
                        <a:t>محددات دقة البيانات وصحتها</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endParaRPr lang="en-US"/>
                    </a:p>
                  </a:txBody>
                  <a:tcPr/>
                </a:tc>
                <a:tc hMerge="1">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endParaRPr dirty="0"/>
                    </a:p>
                  </a:txBody>
                  <a:tcPr marT="91440" marB="91440" anchor="b">
                    <a:lnL w="12700" cap="flat" cmpd="sng" algn="ctr">
                      <a:solidFill>
                        <a:srgbClr val="006E62"/>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gridSpan="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r>
                        <a:rPr lang="ar-SA" sz="1200" b="0" i="0" u="none" strike="noStrike" cap="none" dirty="0">
                          <a:solidFill>
                            <a:schemeClr val="bg1"/>
                          </a:solidFill>
                          <a:latin typeface="Ping AR + LT Medium" panose="00000600000000000000" pitchFamily="50" charset="-78"/>
                          <a:ea typeface="Ping AR + LT Medium" panose="00000600000000000000" pitchFamily="50" charset="-78"/>
                          <a:cs typeface="Arial" panose="020B0604020202020204" pitchFamily="34" charset="0"/>
                          <a:sym typeface="Arial"/>
                        </a:rPr>
                        <a:t>مصدر البيانات</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endParaRPr dirty="0"/>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hMerge="1">
                  <a:txBody>
                    <a:bodyPr/>
                    <a:lstStyle/>
                    <a:p>
                      <a:pPr algn="ctr" rtl="1" fontAlgn="b"/>
                      <a:endParaRPr lang="ar-SA" sz="1200" b="1" dirty="0">
                        <a:solidFill>
                          <a:schemeClr val="bg1"/>
                        </a:solidFill>
                        <a:effectLst/>
                        <a:cs typeface="Ping AR + LT" panose="00000500000000000000"/>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hMerge="1">
                  <a:txBody>
                    <a:bodyPr/>
                    <a:lstStyle/>
                    <a:p>
                      <a:endParaRPr lang="en-US"/>
                    </a:p>
                  </a:txBody>
                  <a:tcPr>
                    <a:lnT w="12700" cap="flat" cmpd="sng" algn="ctr">
                      <a:solidFill>
                        <a:schemeClr val="tx1"/>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gridSpan="3">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200" b="0" i="0" u="none" strike="noStrike" cap="none" dirty="0">
                          <a:solidFill>
                            <a:schemeClr val="bg1"/>
                          </a:solidFill>
                          <a:latin typeface="Ping AR + LT Medium" panose="00000600000000000000" pitchFamily="50" charset="-78"/>
                          <a:ea typeface="Ping AR + LT Medium" panose="00000600000000000000" pitchFamily="50" charset="-78"/>
                          <a:cs typeface="Arial" panose="020B0604020202020204" pitchFamily="34" charset="0"/>
                          <a:sym typeface="Arial"/>
                        </a:rPr>
                        <a:t>وقت الحصول على البيانات</a:t>
                      </a:r>
                      <a:endParaRPr lang="ar-SA" sz="1600" dirty="0">
                        <a:solidFill>
                          <a:schemeClr val="bg1"/>
                        </a:solidFill>
                        <a:latin typeface="Ping AR + LT Medium" panose="00000600000000000000" pitchFamily="50" charset="-78"/>
                        <a:ea typeface="Ping AR + LT Medium" panose="00000600000000000000" pitchFamily="50" charset="-78"/>
                        <a:cs typeface="Ping AR + LT Medium" panose="00000600000000000000" pitchFamily="50" charset="-78"/>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r" rtl="1"/>
                      <a:endParaRPr lang="en-US" dirty="0"/>
                    </a:p>
                  </a:txBody>
                  <a:tcPr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hMerge="1">
                  <a:txBody>
                    <a:bodyPr/>
                    <a:lstStyle/>
                    <a:p>
                      <a:endParaRPr lang="en-US"/>
                    </a:p>
                  </a:txBody>
                  <a:tcPr/>
                </a:tc>
                <a:tc gridSpan="3">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ar-SA" sz="1200" b="0" i="0" u="none" strike="noStrike" cap="none" dirty="0">
                          <a:solidFill>
                            <a:schemeClr val="bg1"/>
                          </a:solidFill>
                          <a:latin typeface="Ping AR + LT Medium" panose="00000600000000000000" pitchFamily="50" charset="-78"/>
                          <a:ea typeface="Ping AR + LT Medium" panose="00000600000000000000" pitchFamily="50" charset="-78"/>
                          <a:cs typeface="Arial" panose="020B0604020202020204" pitchFamily="34" charset="0"/>
                          <a:sym typeface="Arial"/>
                        </a:rPr>
                        <a:t>البيانات المطلوبة</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r" rtl="1"/>
                      <a:endParaRPr lang="en-US" dirty="0"/>
                    </a:p>
                  </a:txBody>
                  <a:tcPr anchor="ctr">
                    <a:lnL w="12700" cap="flat" cmpd="sng" algn="ctr">
                      <a:solidFill>
                        <a:schemeClr val="accent2">
                          <a:lumMod val="40000"/>
                          <a:lumOff val="60000"/>
                        </a:schemeClr>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776786462"/>
                  </a:ext>
                </a:extLst>
              </a:tr>
              <a:tr h="1285034">
                <a:tc gridSpan="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171450" indent="-171450" algn="justLow" rtl="1">
                        <a:buFont typeface="Arial" panose="020B0604020202020204" pitchFamily="34" charset="0"/>
                        <a:buChar char="•"/>
                      </a:pPr>
                      <a:br>
                        <a:rPr lang="ar-SA" sz="1100" b="1" dirty="0">
                          <a:effectLst/>
                          <a:cs typeface="Arial" panose="020B0604020202020204" pitchFamily="34" charset="0"/>
                        </a:rPr>
                      </a:br>
                      <a:r>
                        <a:rPr lang="ar-SA" sz="1100" b="0" dirty="0">
                          <a:solidFill>
                            <a:schemeClr val="accent1"/>
                          </a:solidFill>
                          <a:effectLst/>
                        </a:rPr>
                        <a:t>التدقيق المالي</a:t>
                      </a:r>
                      <a:r>
                        <a:rPr lang="ar-SA" sz="1100" dirty="0"/>
                        <a:t>: التأكد من صحة البيانات المالية من خلال مراجعات دورية.</a:t>
                      </a:r>
                    </a:p>
                    <a:p>
                      <a:pPr marL="171450" indent="-171450" algn="justLow" rtl="1">
                        <a:buFont typeface="Arial" panose="020B0604020202020204" pitchFamily="34" charset="0"/>
                        <a:buChar char="•"/>
                      </a:pPr>
                      <a:r>
                        <a:rPr lang="ar-SA" sz="1100" b="0" dirty="0">
                          <a:solidFill>
                            <a:schemeClr val="accent1"/>
                          </a:solidFill>
                          <a:effectLst/>
                        </a:rPr>
                        <a:t>التزامن في التقارير</a:t>
                      </a:r>
                      <a:r>
                        <a:rPr lang="ar-SA" sz="1100" dirty="0"/>
                        <a:t>: التأكد من أن التقارير المالية تغطي نفس الفترات الزمنية للمقارنة.</a:t>
                      </a:r>
                      <a:endParaRPr lang="ar-SA" sz="1050" b="0" dirty="0">
                        <a:latin typeface="Ping AR + LT Medium" panose="00000600000000000000" pitchFamily="50" charset="-78"/>
                        <a:ea typeface="Ping AR + LT Medium" panose="00000600000000000000" pitchFamily="50" charset="-78"/>
                        <a:cs typeface="Arial" panose="020B0604020202020204" pitchFamily="34" charset="0"/>
                      </a:endParaRPr>
                    </a:p>
                  </a:txBody>
                  <a:tcPr marL="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a:p>
                  </a:txBody>
                  <a:tcPr marL="0" marR="0" marT="91440" marB="91440" anchor="ctr">
                    <a:lnL w="12700" cap="flat" cmpd="sng" algn="ctr">
                      <a:solidFill>
                        <a:srgbClr val="006E62"/>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noFill/>
                  </a:tcPr>
                </a:tc>
                <a:tc gridSpan="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SA" sz="1200" b="0" i="0" u="none" strike="noStrike" kern="1200" cap="none" spc="0" normalizeH="0" baseline="0" noProof="0" dirty="0">
                          <a:ln>
                            <a:noFill/>
                          </a:ln>
                          <a:solidFill>
                            <a:schemeClr val="accent1"/>
                          </a:solidFill>
                          <a:effectLst/>
                          <a:uLnTx/>
                          <a:uFillTx/>
                          <a:latin typeface="Ping AR + LT Medium" panose="00000600000000000000" pitchFamily="50" charset="-78"/>
                          <a:ea typeface="Ping AR + LT Medium" panose="00000600000000000000" pitchFamily="50" charset="-78"/>
                          <a:cs typeface="Arial" panose="020B0604020202020204" pitchFamily="34" charset="0"/>
                        </a:rPr>
                        <a:t>السجلات المالية للجمعيات</a:t>
                      </a:r>
                      <a:r>
                        <a:rPr kumimoji="0" lang="ar-SA" sz="1200" b="0" i="0" u="none" strike="noStrike" kern="1200" cap="none" spc="0" normalizeH="0" baseline="0" noProof="0" dirty="0">
                          <a:ln>
                            <a:noFill/>
                          </a:ln>
                          <a:solidFill>
                            <a:prstClr val="black"/>
                          </a:solidFill>
                          <a:effectLst/>
                          <a:uLnTx/>
                          <a:uFillTx/>
                          <a:latin typeface="Ping AR + LT Medium" panose="00000600000000000000" pitchFamily="50" charset="-78"/>
                          <a:ea typeface="Ping AR + LT Medium" panose="00000600000000000000" pitchFamily="50" charset="-78"/>
                          <a:cs typeface="Arial" panose="020B0604020202020204" pitchFamily="34" charset="0"/>
                        </a:rPr>
                        <a:t>: تقارير مالية دورية تصدرها الجمعيات تظهر تفصيل دخلها.</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SA" sz="1200" b="0" i="0" u="none" strike="noStrike" kern="1200" cap="none" spc="0" normalizeH="0" baseline="0" noProof="0" dirty="0">
                          <a:ln>
                            <a:noFill/>
                          </a:ln>
                          <a:solidFill>
                            <a:schemeClr val="accent1"/>
                          </a:solidFill>
                          <a:effectLst/>
                          <a:uLnTx/>
                          <a:uFillTx/>
                          <a:latin typeface="Ping AR + LT Medium" panose="00000600000000000000" pitchFamily="50" charset="-78"/>
                          <a:ea typeface="Ping AR + LT Medium" panose="00000600000000000000" pitchFamily="50" charset="-78"/>
                          <a:cs typeface="Arial" panose="020B0604020202020204" pitchFamily="34" charset="0"/>
                        </a:rPr>
                        <a:t>التقارير المالية السنوية</a:t>
                      </a:r>
                      <a:r>
                        <a:rPr kumimoji="0" lang="ar-SA" sz="1200" b="0" i="0" u="none" strike="noStrike" kern="1200" cap="none" spc="0" normalizeH="0" baseline="0" noProof="0" dirty="0">
                          <a:ln>
                            <a:noFill/>
                          </a:ln>
                          <a:solidFill>
                            <a:prstClr val="black"/>
                          </a:solidFill>
                          <a:effectLst/>
                          <a:uLnTx/>
                          <a:uFillTx/>
                          <a:latin typeface="Ping AR + LT Medium" panose="00000600000000000000" pitchFamily="50" charset="-78"/>
                          <a:ea typeface="Ping AR + LT Medium" panose="00000600000000000000" pitchFamily="50" charset="-78"/>
                          <a:cs typeface="Arial" panose="020B0604020202020204" pitchFamily="34" charset="0"/>
                        </a:rPr>
                        <a:t>: تقارير تفصل الدخل السنوي للجمعيات.</a:t>
                      </a:r>
                    </a:p>
                  </a:txBody>
                  <a:tcPr marL="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T="91440" marB="91440" anchor="ctr">
                    <a:lnL w="12700" cap="flat" cmpd="sng" algn="ctr">
                      <a:solidFill>
                        <a:schemeClr val="tx1"/>
                      </a:solidFill>
                      <a:prstDash val="solid"/>
                      <a:round/>
                      <a:headEnd type="none" w="med" len="med"/>
                      <a:tailEnd type="none" w="med" len="med"/>
                    </a:lnL>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noFill/>
                  </a:tcPr>
                </a:tc>
                <a:tc hMerge="1">
                  <a:txBody>
                    <a:bodyPr/>
                    <a:lstStyle/>
                    <a:p>
                      <a:pPr marL="0" indent="0" algn="ctr" rtl="1">
                        <a:buFont typeface="Arial" panose="020B0604020202020204" pitchFamily="34" charset="0"/>
                        <a:buNone/>
                      </a:pPr>
                      <a:endParaRPr lang="ar-SA" sz="1200" b="0" dirty="0">
                        <a:latin typeface="Ping AR + LT Medium" panose="00000600000000000000" pitchFamily="50" charset="-78"/>
                        <a:ea typeface="Ping AR + LT Medium" panose="00000600000000000000" pitchFamily="50" charset="-78"/>
                        <a:cs typeface="Ping AR + LT Medium" panose="00000600000000000000" pitchFamily="50" charset="-78"/>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FCF9F2"/>
                    </a:solidFill>
                  </a:tcPr>
                </a:tc>
                <a:tc hMerge="1">
                  <a:txBody>
                    <a:bodyPr/>
                    <a:lstStyle/>
                    <a:p>
                      <a:endParaRPr dirty="0"/>
                    </a:p>
                  </a:txBody>
                  <a:tcPr marT="91440" marB="91440" anchor="ctr">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noFill/>
                  </a:tcPr>
                </a:tc>
                <a:tc gridSpan="3">
                  <a:txBody>
                    <a:bodyPr/>
                    <a:lstStyle/>
                    <a:p>
                      <a:pPr algn="ctr"/>
                      <a:r>
                        <a:rPr lang="ar-SA" sz="1600" dirty="0">
                          <a:latin typeface="Arial" panose="020B0604020202020204" pitchFamily="34" charset="0"/>
                          <a:cs typeface="Arial" panose="020B0604020202020204" pitchFamily="34" charset="0"/>
                        </a:rPr>
                        <a:t>سنوياً</a:t>
                      </a:r>
                      <a:endParaRPr lang="en-US" sz="1600" dirty="0"/>
                    </a:p>
                  </a:txBody>
                  <a:tcPr marL="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noFill/>
                  </a:tcPr>
                </a:tc>
                <a:tc hMerge="1">
                  <a:txBody>
                    <a:bodyPr/>
                    <a:lstStyle/>
                    <a:p>
                      <a:endParaRPr lang="en-US"/>
                    </a:p>
                  </a:txBody>
                  <a:tcPr/>
                </a:tc>
                <a:tc gridSpan="3">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171450" indent="-171450" algn="justLow" rtl="1">
                        <a:buFont typeface="Arial" panose="020B0604020202020204" pitchFamily="34" charset="0"/>
                        <a:buChar char="•"/>
                      </a:pPr>
                      <a:r>
                        <a:rPr lang="ar-SA" sz="1100" b="0" dirty="0">
                          <a:solidFill>
                            <a:schemeClr val="accent1"/>
                          </a:solidFill>
                          <a:effectLst/>
                          <a:cs typeface="Arial" panose="020B0604020202020204" pitchFamily="34" charset="0"/>
                        </a:rPr>
                        <a:t>الدخل في بداية الفترة</a:t>
                      </a:r>
                      <a:r>
                        <a:rPr lang="ar-SA" sz="1100" dirty="0"/>
                        <a:t>: مجموع الدخل الذي حققته الجمعيات في بداية الفترة المحددة.</a:t>
                      </a:r>
                    </a:p>
                    <a:p>
                      <a:pPr marL="171450" indent="-171450" algn="justLow" rtl="1">
                        <a:buFont typeface="Arial" panose="020B0604020202020204" pitchFamily="34" charset="0"/>
                        <a:buChar char="•"/>
                      </a:pPr>
                      <a:r>
                        <a:rPr lang="ar-SA" sz="1100" b="0" dirty="0">
                          <a:solidFill>
                            <a:schemeClr val="accent1"/>
                          </a:solidFill>
                          <a:effectLst/>
                        </a:rPr>
                        <a:t>الدخل في نهاية الفترة</a:t>
                      </a:r>
                      <a:r>
                        <a:rPr lang="ar-SA" sz="1100" dirty="0"/>
                        <a:t>: مجموع الدخل الذي حققته الجمعيات في نهاية الفترة المحددة.</a:t>
                      </a:r>
                      <a:endParaRPr lang="ar-SA" sz="1050" b="0" dirty="0">
                        <a:solidFill>
                          <a:schemeClr val="tx1"/>
                        </a:solidFill>
                        <a:latin typeface="Ping AR + LT Medium" panose="00000600000000000000" pitchFamily="50" charset="-78"/>
                        <a:ea typeface="Ping AR + LT Medium" panose="00000600000000000000" pitchFamily="50" charset="-78"/>
                        <a:cs typeface="Arial" panose="020B0604020202020204" pitchFamily="34" charset="0"/>
                      </a:endParaRPr>
                    </a:p>
                  </a:txBody>
                  <a:tcPr marL="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rtl="1"/>
                      <a:endParaRPr lang="en-US" dirty="0"/>
                    </a:p>
                  </a:txBody>
                  <a:tcPr anchor="ctr">
                    <a:lnL w="12700" cap="flat" cmpd="sng" algn="ctr">
                      <a:solidFill>
                        <a:schemeClr val="accent2">
                          <a:lumMod val="40000"/>
                          <a:lumOff val="60000"/>
                        </a:schemeClr>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2446728338"/>
                  </a:ext>
                </a:extLst>
              </a:tr>
              <a:tr h="596624">
                <a:tc gridSpan="6">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171450" indent="-171450" algn="justLow" rtl="1" fontAlgn="b">
                        <a:buFont typeface="Arial" panose="020B0604020202020204" pitchFamily="34" charset="0"/>
                        <a:buChar char="•"/>
                      </a:pPr>
                      <a:r>
                        <a:rPr lang="ar-SA" sz="1000" b="0" i="0" u="none" strike="noStrike" kern="1200" cap="none" dirty="0">
                          <a:solidFill>
                            <a:schemeClr val="accent1"/>
                          </a:solidFill>
                          <a:effectLst/>
                          <a:latin typeface="Arial" panose="020B0604020202020204"/>
                          <a:ea typeface="+mn-ea"/>
                          <a:cs typeface="Arial" panose="020B0604020202020204" pitchFamily="34" charset="0"/>
                          <a:sym typeface="Arial"/>
                        </a:rPr>
                        <a:t>إيجابية</a:t>
                      </a:r>
                      <a:r>
                        <a:rPr lang="ar-SA" sz="1000" b="0" i="0" u="none" strike="noStrike" kern="1200" cap="none" dirty="0">
                          <a:solidFill>
                            <a:schemeClr val="tx1"/>
                          </a:solidFill>
                          <a:effectLst/>
                          <a:latin typeface="Arial" panose="020B0604020202020204"/>
                          <a:ea typeface="+mn-ea"/>
                          <a:cs typeface="Arial" panose="020B0604020202020204" pitchFamily="34" charset="0"/>
                          <a:sym typeface="Arial"/>
                        </a:rPr>
                        <a:t>: زيادة معدل نمو الدخل يعد مؤشراً إيجابياً يدل على قدرة الجمعيات على تحقيق النمو المالي والاستقرار، مما يعزز قدرتها على تنفيذ مشاريعها وتوسيع نطاق أنشطتها.</a:t>
                      </a:r>
                    </a:p>
                    <a:p>
                      <a:pPr marL="171450" indent="-171450" algn="justLow" rtl="1" fontAlgn="b">
                        <a:buFont typeface="Arial" panose="020B0604020202020204" pitchFamily="34" charset="0"/>
                        <a:buChar char="•"/>
                      </a:pPr>
                      <a:r>
                        <a:rPr lang="ar-SA" sz="1000" b="0" i="0" u="none" strike="noStrike" kern="1200" cap="none" dirty="0">
                          <a:solidFill>
                            <a:schemeClr val="accent1"/>
                          </a:solidFill>
                          <a:effectLst/>
                          <a:latin typeface="Arial" panose="020B0604020202020204"/>
                          <a:ea typeface="+mn-ea"/>
                          <a:cs typeface="Arial" panose="020B0604020202020204" pitchFamily="34" charset="0"/>
                          <a:sym typeface="Arial"/>
                        </a:rPr>
                        <a:t>سلبية</a:t>
                      </a:r>
                      <a:r>
                        <a:rPr lang="ar-SA" sz="1000" b="0" i="0" u="none" strike="noStrike" kern="1200" cap="none" dirty="0">
                          <a:solidFill>
                            <a:schemeClr val="tx1"/>
                          </a:solidFill>
                          <a:effectLst/>
                          <a:latin typeface="Arial" panose="020B0604020202020204"/>
                          <a:ea typeface="+mn-ea"/>
                          <a:cs typeface="Arial" panose="020B0604020202020204" pitchFamily="34" charset="0"/>
                          <a:sym typeface="Arial"/>
                        </a:rPr>
                        <a:t>: انخفاض في معدل نمو الدخل قد يشير إلى تحديات مالية تواجهها الجمعيات، مما يتطلب مراجعة الاستراتيجيات والبحث عن مصادر تمويل بديلة.</a:t>
                      </a:r>
                    </a:p>
                  </a:txBody>
                  <a:tcPr marT="914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gridSpan="2">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100" b="0" dirty="0">
                          <a:solidFill>
                            <a:schemeClr val="bg1"/>
                          </a:solidFill>
                          <a:effectLst/>
                          <a:cs typeface="Arial" panose="020B0604020202020204" pitchFamily="34" charset="0"/>
                        </a:rPr>
                        <a:t>القطبية</a:t>
                      </a:r>
                      <a:endParaRPr lang="en-US" sz="1600" b="0" dirty="0">
                        <a:cs typeface="Arial" panose="020B0604020202020204" pitchFamily="34" charset="0"/>
                      </a:endParaRPr>
                    </a:p>
                  </a:txBody>
                  <a:tcPr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gridSpan="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r" defTabSz="914400" rtl="1" eaLnBrk="1" fontAlgn="b" latinLnBrk="0" hangingPunct="1">
                        <a:lnSpc>
                          <a:spcPct val="100000"/>
                        </a:lnSpc>
                        <a:spcBef>
                          <a:spcPts val="0"/>
                        </a:spcBef>
                        <a:spcAft>
                          <a:spcPts val="0"/>
                        </a:spcAft>
                        <a:buClr>
                          <a:srgbClr val="000000"/>
                        </a:buClr>
                        <a:buSzTx/>
                        <a:buFont typeface="Arial"/>
                        <a:buNone/>
                        <a:tabLst/>
                        <a:defRPr/>
                      </a:pPr>
                      <a:r>
                        <a:rPr lang="ar-SA"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سنوي</a:t>
                      </a:r>
                    </a:p>
                  </a:txBody>
                  <a:tcPr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algn="r" rtl="1" fontAlgn="b"/>
                      <a:endParaRPr lang="ar-SA" sz="1200" b="0" dirty="0">
                        <a:solidFill>
                          <a:schemeClr val="tx1"/>
                        </a:solidFill>
                        <a:effectLst/>
                        <a:latin typeface="+mj-lt"/>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rgbClr val="FCF9F2"/>
                    </a:solidFill>
                  </a:tcPr>
                </a:tc>
                <a:tc hMerge="1">
                  <a:txBody>
                    <a:bodyPr/>
                    <a:lstStyle/>
                    <a:p>
                      <a:endParaRPr lang="en-US"/>
                    </a:p>
                  </a:txBody>
                  <a:tcPr>
                    <a:lnL w="12700" cap="flat" cmpd="sng" algn="ctr">
                      <a:solidFill>
                        <a:srgbClr val="006E62"/>
                      </a:solidFill>
                      <a:prstDash val="solid"/>
                      <a:round/>
                      <a:headEnd type="none" w="med" len="med"/>
                      <a:tailEnd type="none" w="med" len="med"/>
                    </a:lnL>
                    <a:lnT w="12700" cap="flat" cmpd="sng" algn="ctr">
                      <a:solidFill>
                        <a:srgbClr val="006E62"/>
                      </a:solidFill>
                      <a:prstDash val="solid"/>
                      <a:round/>
                      <a:headEnd type="none" w="med" len="med"/>
                      <a:tailEnd type="none" w="med" len="med"/>
                    </a:lnT>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دورية القياس</a:t>
                      </a:r>
                      <a:endParaRPr lang="ar-SA" sz="1100" b="0" dirty="0">
                        <a:solidFill>
                          <a:schemeClr val="bg1"/>
                        </a:solidFill>
                        <a:effectLst/>
                        <a:latin typeface="+mj-lt"/>
                        <a:cs typeface="Arial" panose="020B0604020202020204" pitchFamily="34" charset="0"/>
                      </a:endParaRPr>
                    </a:p>
                  </a:txBody>
                  <a:tcPr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3564121472"/>
                  </a:ext>
                </a:extLst>
              </a:tr>
              <a:tr h="280371">
                <a:tc gridSpan="1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0" indent="0" algn="r" rtl="1" fontAlgn="b">
                        <a:buNone/>
                      </a:pPr>
                      <a:r>
                        <a:rPr lang="ar-SA" sz="1100" b="0" i="0" u="none" strike="noStrike" kern="1200" cap="none" dirty="0">
                          <a:solidFill>
                            <a:schemeClr val="tx1"/>
                          </a:solidFill>
                          <a:effectLst/>
                          <a:latin typeface="Arial" panose="020B0604020202020204"/>
                          <a:ea typeface="+mn-ea"/>
                          <a:cs typeface="Arial" panose="020B0604020202020204" pitchFamily="34" charset="0"/>
                          <a:sym typeface="Arial"/>
                        </a:rPr>
                        <a:t>الدخل في نهاية الفترة </a:t>
                      </a:r>
                      <a:r>
                        <a:rPr lang="ar-SA" sz="1100" b="0" i="0" u="none" strike="noStrike" kern="1200" cap="none" dirty="0">
                          <a:solidFill>
                            <a:schemeClr val="accent1"/>
                          </a:solidFill>
                          <a:effectLst/>
                          <a:latin typeface="Arial" panose="020B0604020202020204"/>
                          <a:ea typeface="+mn-ea"/>
                          <a:cs typeface="Arial" panose="020B0604020202020204" pitchFamily="34" charset="0"/>
                          <a:sym typeface="Arial"/>
                        </a:rPr>
                        <a:t>&amp;</a:t>
                      </a:r>
                      <a:r>
                        <a:rPr lang="ar-SA" sz="1100" b="0" i="0" u="none" strike="noStrike" kern="1200" cap="none" dirty="0">
                          <a:solidFill>
                            <a:schemeClr val="tx1"/>
                          </a:solidFill>
                          <a:effectLst/>
                          <a:latin typeface="Arial" panose="020B0604020202020204"/>
                          <a:ea typeface="+mn-ea"/>
                          <a:cs typeface="Arial" panose="020B0604020202020204" pitchFamily="34" charset="0"/>
                          <a:sym typeface="Arial"/>
                        </a:rPr>
                        <a:t> الدخل في بداية الفترة</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T w="12700" cap="flat" cmpd="sng" algn="ctr">
                      <a:solidFill>
                        <a:srgbClr val="006E62"/>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marL="0" indent="0" algn="r" rtl="1" fontAlgn="b">
                        <a:buNone/>
                      </a:pPr>
                      <a:endParaRPr lang="en-US" sz="1200" b="0" dirty="0">
                        <a:solidFill>
                          <a:schemeClr val="tx1"/>
                        </a:solidFill>
                        <a:effectLst/>
                        <a:latin typeface="+mj-lt"/>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rgbClr val="FCF9F2"/>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مكونات المعادلة</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307788154"/>
                  </a:ext>
                </a:extLst>
              </a:tr>
              <a:tr h="280371">
                <a:tc gridSpan="1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100" b="0" i="0" u="none" strike="noStrike" kern="1200" cap="none" dirty="0">
                          <a:solidFill>
                            <a:schemeClr val="tx1"/>
                          </a:solidFill>
                          <a:effectLst/>
                          <a:latin typeface="Arial" panose="020B0604020202020204"/>
                          <a:ea typeface="+mn-ea"/>
                          <a:cs typeface="Arial" panose="020B0604020202020204" pitchFamily="34" charset="0"/>
                          <a:sym typeface="Arial"/>
                        </a:rPr>
                        <a:t>الدخل في نهاية الفترة – الدخل في بداية الفترة ÷ الدخل في بداية الفترة × 100=  معدل نمو الدخل</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marL="0" marR="0" lvl="0" indent="0" algn="r" defTabSz="914400" rtl="1" eaLnBrk="1" fontAlgn="b" latinLnBrk="0" hangingPunct="1">
                        <a:lnSpc>
                          <a:spcPct val="100000"/>
                        </a:lnSpc>
                        <a:spcBef>
                          <a:spcPts val="0"/>
                        </a:spcBef>
                        <a:spcAft>
                          <a:spcPts val="0"/>
                        </a:spcAft>
                        <a:buClrTx/>
                        <a:buSzTx/>
                        <a:buFontTx/>
                        <a:buNone/>
                        <a:tabLst/>
                        <a:defRPr/>
                      </a:pPr>
                      <a:endParaRPr lang="ar-SA" sz="1200" b="0" i="0" u="none" strike="noStrike" kern="1200" cap="none" dirty="0">
                        <a:solidFill>
                          <a:schemeClr val="tx1"/>
                        </a:solidFill>
                        <a:effectLst/>
                        <a:latin typeface="Arial" panose="020B0604020202020204"/>
                        <a:ea typeface="+mn-ea"/>
                        <a:cs typeface="Ping AR + LT" panose="00000500000000000000"/>
                        <a:sym typeface="Arial"/>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rgbClr val="FCF9F2"/>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حساب المعادلة</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2750514928"/>
                  </a:ext>
                </a:extLst>
              </a:tr>
            </a:tbl>
          </a:graphicData>
        </a:graphic>
      </p:graphicFrame>
    </p:spTree>
    <p:extLst>
      <p:ext uri="{BB962C8B-B14F-4D97-AF65-F5344CB8AC3E}">
        <p14:creationId xmlns:p14="http://schemas.microsoft.com/office/powerpoint/2010/main" val="2112561398"/>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4_نسق الصندوق 01">
  <a:themeElements>
    <a:clrScheme name="ASF">
      <a:dk1>
        <a:sysClr val="windowText" lastClr="000000"/>
      </a:dk1>
      <a:lt1>
        <a:sysClr val="window" lastClr="FFFFFF"/>
      </a:lt1>
      <a:dk2>
        <a:srgbClr val="44546A"/>
      </a:dk2>
      <a:lt2>
        <a:srgbClr val="E7E6E6"/>
      </a:lt2>
      <a:accent1>
        <a:srgbClr val="713C6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SF">
      <a:majorFont>
        <a:latin typeface="Readex Pro SemiBold"/>
        <a:ea typeface=""/>
        <a:cs typeface="Readex Pro SemiBold"/>
      </a:majorFont>
      <a:minorFont>
        <a:latin typeface="Readex Pro Medium"/>
        <a:ea typeface=""/>
        <a:cs typeface="Readex Pro Medium"/>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نسق الصندوق 01" id="{498A9768-ECEB-4D9B-AB03-19ABAA80F708}" vid="{057EC195-131B-42CD-A9D3-3BC51F51FAD9}"/>
    </a:ext>
  </a:extLst>
</a:theme>
</file>

<file path=ppt/theme/theme3.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D25D66503ACC74E9ACCF61A02BBA683" ma:contentTypeVersion="5" ma:contentTypeDescription="Create a new document." ma:contentTypeScope="" ma:versionID="9dac7b95dcf57ffc4a1568b3411cf012">
  <xsd:schema xmlns:xsd="http://www.w3.org/2001/XMLSchema" xmlns:xs="http://www.w3.org/2001/XMLSchema" xmlns:p="http://schemas.microsoft.com/office/2006/metadata/properties" xmlns:ns3="60ac0015-3a45-424a-a9eb-fdada17f5e1a" targetNamespace="http://schemas.microsoft.com/office/2006/metadata/properties" ma:root="true" ma:fieldsID="b29e56a0aeb0208a3f2fb246aa1494e1" ns3:_="">
    <xsd:import namespace="60ac0015-3a45-424a-a9eb-fdada17f5e1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ac0015-3a45-424a-a9eb-fdada17f5e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BDB46F-40CA-4FF1-B94C-D56E4A61E708}">
  <ds:schemaRefs>
    <ds:schemaRef ds:uri="http://schemas.microsoft.com/sharepoint/v3/contenttype/forms"/>
  </ds:schemaRefs>
</ds:datastoreItem>
</file>

<file path=customXml/itemProps2.xml><?xml version="1.0" encoding="utf-8"?>
<ds:datastoreItem xmlns:ds="http://schemas.openxmlformats.org/officeDocument/2006/customXml" ds:itemID="{74259444-D403-4EB6-A5CA-6ACB95FEB25E}">
  <ds:schemaRefs>
    <ds:schemaRef ds:uri="http://purl.org/dc/elements/1.1/"/>
    <ds:schemaRef ds:uri="http://www.w3.org/XML/1998/namespace"/>
    <ds:schemaRef ds:uri="http://purl.org/dc/term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60ac0015-3a45-424a-a9eb-fdada17f5e1a"/>
    <ds:schemaRef ds:uri="http://schemas.microsoft.com/office/2006/metadata/properties"/>
  </ds:schemaRefs>
</ds:datastoreItem>
</file>

<file path=customXml/itemProps3.xml><?xml version="1.0" encoding="utf-8"?>
<ds:datastoreItem xmlns:ds="http://schemas.openxmlformats.org/officeDocument/2006/customXml" ds:itemID="{8CE039A0-9F4D-46F6-9693-7E0EE92376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ac0015-3a45-424a-a9eb-fdada17f5e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7153</TotalTime>
  <Words>1346</Words>
  <Application>Microsoft Office PowerPoint</Application>
  <PresentationFormat>شاشة عريضة</PresentationFormat>
  <Paragraphs>404</Paragraphs>
  <Slides>11</Slides>
  <Notes>4</Notes>
  <HiddenSlides>0</HiddenSlides>
  <MMClips>0</MMClips>
  <ScaleCrop>false</ScaleCrop>
  <HeadingPairs>
    <vt:vector size="6" baseType="variant">
      <vt:variant>
        <vt:lpstr>الخطوط المستخدمة</vt:lpstr>
      </vt:variant>
      <vt:variant>
        <vt:i4>17</vt:i4>
      </vt:variant>
      <vt:variant>
        <vt:lpstr>نسق</vt:lpstr>
      </vt:variant>
      <vt:variant>
        <vt:i4>2</vt:i4>
      </vt:variant>
      <vt:variant>
        <vt:lpstr>عناوين الشرائح</vt:lpstr>
      </vt:variant>
      <vt:variant>
        <vt:i4>11</vt:i4>
      </vt:variant>
    </vt:vector>
  </HeadingPairs>
  <TitlesOfParts>
    <vt:vector size="30" baseType="lpstr">
      <vt:lpstr>Aptos Display</vt:lpstr>
      <vt:lpstr>Arial</vt:lpstr>
      <vt:lpstr>Bahij TheSansArabic Bold</vt:lpstr>
      <vt:lpstr>Bahij TheSansArabic ExtraLight</vt:lpstr>
      <vt:lpstr>Bahij TheSansArabic SemiBold</vt:lpstr>
      <vt:lpstr>Calibri</vt:lpstr>
      <vt:lpstr>Courier New</vt:lpstr>
      <vt:lpstr>Frutiger LT Arabic 45 Light</vt:lpstr>
      <vt:lpstr>Neo Sans Arabic Bold</vt:lpstr>
      <vt:lpstr>Neo Sans Arabic Medium</vt:lpstr>
      <vt:lpstr>Ping AR + LT</vt:lpstr>
      <vt:lpstr>Ping AR + LT Medium</vt:lpstr>
      <vt:lpstr>Sakkal Majalla</vt:lpstr>
      <vt:lpstr>Tajawal</vt:lpstr>
      <vt:lpstr>Tajawal ExtraBold</vt:lpstr>
      <vt:lpstr>Tajawal Medium</vt:lpstr>
      <vt:lpstr>Wingdings</vt:lpstr>
      <vt:lpstr>نسق Office</vt:lpstr>
      <vt:lpstr>4_نسق الصندوق 01</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نظرية التغيير لإدارة الدعم </vt:lpstr>
      <vt:lpstr>نظرية التغيير لإدارة الدعم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مريم اسامه عبدالله الصوفي العرفج</dc:creator>
  <cp:lastModifiedBy>Office</cp:lastModifiedBy>
  <cp:revision>125</cp:revision>
  <dcterms:created xsi:type="dcterms:W3CDTF">2024-07-15T05:36:55Z</dcterms:created>
  <dcterms:modified xsi:type="dcterms:W3CDTF">2026-04-14T07:23:18Z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0x0101002D25D66503ACC74E9ACCF61A02BBA683</vt:lpwstr>
  </property>
</Properties>
</file>